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70" r:id="rId3"/>
    <p:sldId id="258" r:id="rId4"/>
    <p:sldId id="259" r:id="rId5"/>
    <p:sldId id="271" r:id="rId6"/>
    <p:sldId id="261" r:id="rId7"/>
    <p:sldId id="262" r:id="rId8"/>
    <p:sldId id="263" r:id="rId9"/>
    <p:sldId id="265" r:id="rId10"/>
    <p:sldId id="264" r:id="rId11"/>
    <p:sldId id="266" r:id="rId12"/>
    <p:sldId id="272" r:id="rId13"/>
    <p:sldId id="268" r:id="rId14"/>
    <p:sldId id="269" r:id="rId1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0"/>
    <p:restoredTop sz="97020"/>
  </p:normalViewPr>
  <p:slideViewPr>
    <p:cSldViewPr snapToGrid="0">
      <p:cViewPr>
        <p:scale>
          <a:sx n="153" d="100"/>
          <a:sy n="153" d="100"/>
        </p:scale>
        <p:origin x="14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 turn a written roleplay scenario into a runnable, interactable Vision Pro scene; a generation pipeline + an evaluation of where it works and breaks.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 three constraints. Apple's no-code-gen rule is why we use a fixed primitive vocabulary.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LLMR inspiration but wrong tool (code-gen blocked on Apple); Holodeck wrong regime. Forces our three design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scenarios are data-derived, not arbitrary. Two signals: deixis density + narrated stage directions. Sets up the card-vs-plan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This slide replaces the abstract pipeline graphic with one real exported example from the final eval data: cafe_paying_check.</a:t>
            </a:r>
          </a:p>
          <a:p>
            <a:endParaRPr/>
          </a:p>
          <a:p>
            <a:r>
              <a:t>Left side is the written ScenarioCard. It contains natural roleplay demands: request the check, place your card on the tray, tap the reader, take receipt and change.</a:t>
            </a:r>
          </a:p>
          <a:p>
            <a:endParaRPr/>
          </a:p>
          <a:p>
            <a:r>
              <a:t>Right side is the generated typed plan. The objects are the concrete scene inventory: cafe_counter, bill_tray, payment_card, card_reader, receipt, and change. The tasks are executable primitive interactions over those exact object ids.</a:t>
            </a:r>
          </a:p>
          <a:p>
            <a:endParaRPr/>
          </a:p>
          <a:p>
            <a:r>
              <a:t>The key translation examples:</a:t>
            </a:r>
          </a:p>
          <a:p>
            <a:r>
              <a:t>- “request the check” became indicate(bill_tray). This is a compromise but reasonable: the learner points/indicates the bill tray.</a:t>
            </a:r>
          </a:p>
          <a:p>
            <a:r>
              <a:t>- “place your card on the tray” became place(payment_card, bill_tray), which is a faithful mapping.</a:t>
            </a:r>
          </a:p>
          <a:p>
            <a:r>
              <a:t>- “tap the card reader to pay” became tap(card_reader), also faithful.</a:t>
            </a:r>
          </a:p>
          <a:p>
            <a:r>
              <a:t>- “take your receipt and change” became drag(receipt), which is an imperfect compromise because it does not really model receiving both receipt and change. This is exactly why the evaluation has task fidelity ratings.</a:t>
            </a:r>
          </a:p>
          <a:p>
            <a:endParaRPr/>
          </a:p>
          <a:p>
            <a:r>
              <a:t>Validation happens after this typed plan is produced. It checks structural runnability: every object id is unique, every task id is unique, every task references objects that actually exist, and every expectedInteraction is one of the supported primitives. Validation does not judge whether the roleplay is faithful or visually good. That is what the manual evaluation is for.</a:t>
            </a:r>
          </a:p>
          <a:p>
            <a:endParaRPr/>
          </a:p>
          <a:p>
            <a:r>
              <a:t>Presenter line: “The central translation problem is turning natural roleplay language into a typed object-and-task plan. We can then score how much of the original roleplay survived that translation.”</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Realization half: async remote reconstruction, mesh to USDZ, proxy fallback. Objects exist; placing them coherently is the next hard part.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the main technical challenge slide. The point is that the LLM was reasonably good at naming objects and interactions, but weak at geometry. Raw generated positions caused objects to float, overlap, sit on the floor, or scatter around the room.</a:t>
            </a:r>
          </a:p>
          <a:p>
            <a:endParaRPr dirty="0"/>
          </a:p>
          <a:p>
            <a:r>
              <a:rPr dirty="0"/>
              <a:t>The example on the slide is the concrete failure: in a convenience-store plan, the basket could be at y=1.0, the terminal could be at an arbitrary coordinate, and the menu could overlap another object. Those are legal numbers, but not a coherent reach-scale scene.</a:t>
            </a:r>
          </a:p>
          <a:p>
            <a:endParaRPr dirty="0"/>
          </a:p>
          <a:p>
            <a:r>
              <a:rPr dirty="0"/>
              <a:t>The key phrase: “layout was not just aesthetics; it determined whether the interaction could be performed.” If a card reader is on the couch, the payment task technically exists but no longer feels like the roleplay.</a:t>
            </a:r>
          </a:p>
          <a:p>
            <a:endParaRPr dirty="0"/>
          </a:p>
          <a:p>
            <a:r>
              <a:rPr dirty="0"/>
              <a:t>The Holodeck connection: Holodeck uses semantic constraints instead of trusting raw coordinates. Our version is much simpler and reach-scale: infer support surfaces and object relations from the generated task structure, then deterministically place objects into a small stage in front of the learner.</a:t>
            </a:r>
          </a:p>
          <a:p>
            <a:endParaRPr dirty="0"/>
          </a:p>
          <a:p>
            <a:r>
              <a:rPr dirty="0"/>
              <a:t>Presenter line: “The main systems problem became converting a semantic plan into a spatially coherent stage.”</a:t>
            </a:r>
            <a:r>
              <a:rPr lang="en-US" sz="1200" dirty="0">
                <a:solidFill>
                  <a:srgbClr val="1F2937"/>
                </a:solidFill>
                <a:latin typeface="Calibri"/>
                <a:ea typeface="Calibri"/>
                <a:cs typeface="Calibri"/>
              </a:rPr>
              <a:t> In the future, we would add complexity and then re-run an experiment like this, to account for the gaps in what we wanted to happen in a scene. If we parameterize it properly maybe we could even learn this. Could we somehow use code gen to evolve the code base to include more and more primitives and functions that support more and more </a:t>
            </a:r>
            <a:r>
              <a:rPr lang="en-US" sz="1200" dirty="0" err="1">
                <a:solidFill>
                  <a:srgbClr val="1F2937"/>
                </a:solidFill>
                <a:latin typeface="Calibri"/>
                <a:ea typeface="Calibri"/>
                <a:cs typeface="Calibri"/>
              </a:rPr>
              <a:t>interactiosn</a:t>
            </a:r>
            <a:r>
              <a:rPr lang="en-US" sz="1200" dirty="0">
                <a:solidFill>
                  <a:srgbClr val="1F2937"/>
                </a:solidFill>
                <a:latin typeface="Calibri"/>
                <a:ea typeface="Calibri"/>
                <a:cs typeface="Calibri"/>
              </a:rPr>
              <a:t> that it represents in it’s code? Then eventually if we run it for a while it would learn a crazy breadth of interactions and functions and support a lot of different scenes and interactions. It would have to observe the outputs rendered and evaluate them on what needs to improve, then update it’s code along these parameters and then observe the output again. Much like app generators.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layout solver as a deterministic cleanup pass after generation.</a:t>
            </a:r>
          </a:p>
          <a:p>
            <a:endParaRPr/>
          </a:p>
          <a:p>
            <a:r>
              <a:t>Step 1: find or insert a support surface. If the scene does not contain a counter/table/surface, the solver inserts a fallback interaction_surface. It normalizes the surface to a canonical reachable position in front of the learner.</a:t>
            </a:r>
          </a:p>
          <a:p>
            <a:endParaRPr/>
          </a:p>
          <a:p>
            <a:r>
              <a:t>Step 2: classify roles. Objects are tagged as surface, sourceObject, targetContainer, payment, uprightContext, personMarker, or contextObject. That role decides how the object should be placed. Small manipulable props go on the surface. Containers/trays/baskets become targets. NPC markers stand behind the surface. Menu boards and maps stand behind/on the surface. Payment devices go toward the back/right.</a:t>
            </a:r>
          </a:p>
          <a:p>
            <a:endParaRPr/>
          </a:p>
          <a:p>
            <a:r>
              <a:t>Step 3: infer relations from the task queue. If the task is place(payment_card, bill_tray), the solver infers that both objects belong on the surface and the tray should be near/right of the card. If the task taps a payment device, it gets terminal-like placement. This is our reach-scale analogue of a Holodeck layout plan: relations from semantics, not just coordinates.</a:t>
            </a:r>
          </a:p>
          <a:p>
            <a:endParaRPr/>
          </a:p>
          <a:p>
            <a:r>
              <a:t>Step 4: snap and repair. Non-person objects get y = surfaceTopY + objectHeight/2, so their bottoms rest on the surface. Then the solver clamps them within the surface bounds and nudges objects to repair overlap.</a:t>
            </a:r>
          </a:p>
          <a:p>
            <a:endParaRPr/>
          </a:p>
          <a:p>
            <a:r>
              <a:t>Step 5: attach asset/layout metadata. Each object gets an asset card: layout role, asset kind, supportSurfaceId, target size, and resting policy like bottomOnSupport. This metadata tells rendering/SAM3D how to treat the object.</a:t>
            </a:r>
          </a:p>
          <a:p>
            <a:endParaRPr/>
          </a:p>
          <a:p>
            <a:r>
              <a:t>Important nuance if asked: the implemented shipped solver uses roles, task-derived relations, canonical surface placement, snapping, and overlap repair. SAM3D reconstruction pose/scale was part of the broader layout investigation, but the reliable live pass is this deterministic stage-surface solver.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output — stack closes end-to-end; honest about crude assets/layout.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This slide primes the results section. The key is that we are not giving one vague score for a scene. We score three different artifacts in the pipeline.</a:t>
            </a:r>
          </a:p>
          <a:p>
            <a:endParaRPr/>
          </a:p>
          <a:p>
            <a:r>
              <a:t>First: plan alignment. This is scenario card to typed plan. We look at whether the generated objects cover what the scenario asked for, and whether each generated task faithfully maps the written interaction to a supported primitive. Task fidelity ratings are faithful, compromise, missed, and invalid. Validation is also part of this level, but validation only checks structure: unique ids, no dangling object references, and supported primitive kinds.</a:t>
            </a:r>
          </a:p>
          <a:p>
            <a:endParaRPr/>
          </a:p>
          <a:p>
            <a:r>
              <a:t>Second: scene realization. This is typed plan to visual/spatial scene. We score object realization, spatial plausibility, and context sufficiency. Object realization means recognizable objects. Spatial plausibility means objects are grounded, reachable, and not overlapping in a weird way. Context sufficiency asks whether the scene has enough surrounding context to read as the intended setting.</a:t>
            </a:r>
          </a:p>
          <a:p>
            <a:endParaRPr/>
          </a:p>
          <a:p>
            <a:r>
              <a:t>Third: runtime support. This is the realized scene to actual roleplay execution. We score affordance instrumentation and task completion. Affordance instrumentation asks whether the needed interaction is wired: tap, place, drag, indicate, gesture. Task completion asks whether the learner could actually complete or partially complete the task in the scene. We also measure timing: LLM planning from app logs and SAM3D realization from output file timestamps.</a:t>
            </a:r>
          </a:p>
          <a:p>
            <a:endParaRPr/>
          </a:p>
          <a:p>
            <a:r>
              <a:t>This structure is important because it lets us attribute failure. If the task is missing from the plan, that is a planning/vocabulary issue. If it exists but the object is unrecognizable or floating, that is realization/layout. If it looks okay but cannot be interacted with, that is affordance/runtime.</a:t>
            </a:r>
          </a:p>
          <a:p>
            <a:endParaRPr/>
          </a:p>
          <a:p>
            <a:r>
              <a:t>Presenter line: “The evaluation is designed to localize failures, not just say the scene was good or bad.”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This slide visualizes the full plan-level evaluation.</a:t>
            </a:r>
          </a:p>
          <a:p>
            <a:endParaRPr/>
          </a:p>
          <a:p>
            <a:r>
              <a:t>Left chart: generated task fidelity by scenario. This is the card-to-task part of plan alignment. Faithful means the primitive captures the desired interaction; compromise means it preserves the main intent but loses detail; invalid means the primitive mapping is wrong; missed means the demanded interaction did not appear.</a:t>
            </a:r>
          </a:p>
          <a:p>
            <a:endParaRPr/>
          </a:p>
          <a:p>
            <a:r>
              <a:t>Right top graph: generated object ratings. Across the final eval set, 42 generated objects were rated expected, 4 acceptable, and 0 hallucinated. This answers the object side of plan alignment: did the generator create the right scene inventory?</a:t>
            </a:r>
          </a:p>
          <a:p>
            <a:endParaRPr/>
          </a:p>
          <a:p>
            <a:r>
              <a:t>Right middle graph: validation gate. All 9 exported scenarios produced validated typed plans. This means the runtime could load the plan structurally: unique ids, no dangling object references, and supported primitive kinds. It does not mean the plan was semantically perfect or visually good.</a:t>
            </a:r>
          </a:p>
          <a:p>
            <a:endParaRPr/>
          </a:p>
          <a:p>
            <a:r>
              <a:t>Bottom stats summarize the task side: 36/43 generated tasks faithful; 40/43 faithful or acceptable compromises; 3 invalid mappings. This supports the main result: written card to typed plan mostly works. Later slides show where the plan starts to break: realized-scene quality, affordance wiring, and SAM3D latency.</a:t>
            </a:r>
          </a:p>
          <a:p>
            <a:endParaRPr/>
          </a:p>
          <a:p>
            <a:r>
              <a:t>Presenter line: “At the plan level, both objects and tasks were mostly right. The bigger gap appears after the plan has to become a grounded, interactable scene.”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focuses only on timing. The key systems result is that SAM3D realization dominates latency. Each bar is one scene; each colored segment is one object, labeled with object name and reconstructed realization time. The total height is the sum of per-object times for that scene. Timings are reconstructed from SAM3D output files using reference.png timestamp to .usda timestamp, so they exclude model preload, app-side polling, and some queueing overhead. The order-of-magnitude result is still clear: seconds for planning, minutes for reconstruction/export. This is why caching, proxy fallback, and selective realization are necessary.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synthesis. What worked: the typed-plan architecture worked. Scenario cards usually became valid primitive plans, and the LLM was not the main bottleneck. What broke: making those plans into playable spatial roleplay scenes remained hard. Visual realization was slow and inconsistent. Layout improved with the solver, but surface grounding and affordance wiring still caused partial task completion. What needs innovation: better reach-scale layout, richer gestures, explicit locomotion/exchange abstractions, and cached or reusable reconstructed assets. Closing line: We built an end-to-end pipeline and used the eval to localize the gap between generated plans and playable spatial roleplay.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D8C2D9BD-37B9-421E-B745-73E32A5C57DA}"/>
              </a:ext>
            </a:extLst>
          </p:cNvPr>
          <p:cNvSpPr>
            <a:spLocks noGrp="1"/>
          </p:cNvSpPr>
          <p:nvPr/>
        </p:nvSpPr>
        <p:spPr>
          <a:xfrm>
            <a:off x="731520" y="2971800"/>
            <a:ext cx="9601200" cy="914400"/>
          </a:xfrm>
          <a:prstGeom prst="rect">
            <a:avLst/>
          </a:prstGeom>
          <a:noFill/>
        </p:spPr>
        <p:txBody>
          <a:bodyPr wrap="square" lIns="0" tIns="0" rIns="0" bIns="0" anchor="ctr"/>
          <a:lstStyle/>
          <a:p>
            <a:pPr marL="0" indent="0">
              <a:buNone/>
            </a:pPr>
            <a:r>
              <a:rPr sz="5000" dirty="0">
                <a:solidFill>
                  <a:srgbClr val="CADCFC"/>
                </a:solidFill>
                <a:latin typeface="Calibri"/>
                <a:ea typeface="Calibri"/>
                <a:cs typeface="Calibri"/>
              </a:rPr>
              <a:t>Generating interact</a:t>
            </a:r>
            <a:r>
              <a:rPr lang="en-US" sz="5000" dirty="0">
                <a:solidFill>
                  <a:srgbClr val="CADCFC"/>
                </a:solidFill>
                <a:latin typeface="Calibri"/>
                <a:ea typeface="Calibri"/>
                <a:cs typeface="Calibri"/>
              </a:rPr>
              <a:t>ive</a:t>
            </a:r>
            <a:r>
              <a:rPr sz="5000" dirty="0">
                <a:solidFill>
                  <a:srgbClr val="CADCFC"/>
                </a:solidFill>
                <a:latin typeface="Calibri"/>
                <a:ea typeface="Calibri"/>
                <a:cs typeface="Calibri"/>
              </a:rPr>
              <a:t> spatial roleplay scenes for Vision Pro from scene descriptions</a:t>
            </a:r>
          </a:p>
        </p:txBody>
      </p:sp>
      <p:sp>
        <p:nvSpPr>
          <p:cNvPr id="4" name="Text 2">
            <a:extLst>
              <a:ext uri="{FF2B5EF4-FFF2-40B4-BE49-F238E27FC236}">
                <a16:creationId xmlns:a16="http://schemas.microsoft.com/office/drawing/2014/main" id="{BB97CCA5-F72A-495D-90BF-536CA4272BA8}"/>
              </a:ext>
            </a:extLst>
          </p:cNvPr>
          <p:cNvSpPr>
            <a:spLocks noGrp="1"/>
          </p:cNvSpPr>
          <p:nvPr/>
        </p:nvSpPr>
        <p:spPr>
          <a:xfrm>
            <a:off x="731520" y="5120640"/>
            <a:ext cx="8229600" cy="914400"/>
          </a:xfrm>
          <a:prstGeom prst="rect">
            <a:avLst/>
          </a:prstGeom>
          <a:noFill/>
        </p:spPr>
        <p:txBody>
          <a:bodyPr wrap="square" lIns="0" tIns="0" rIns="0" bIns="0" anchor="ctr"/>
          <a:lstStyle/>
          <a:p>
            <a:pPr marL="0" indent="0">
              <a:buNone/>
            </a:pPr>
            <a:r>
              <a:rPr sz="1400" dirty="0">
                <a:solidFill>
                  <a:srgbClr val="CADCFC"/>
                </a:solidFill>
                <a:latin typeface="Calibri"/>
                <a:ea typeface="Calibri"/>
                <a:cs typeface="Calibri"/>
              </a:rPr>
              <a:t>CS348K — Visual Computing Systems</a:t>
            </a:r>
          </a:p>
        </p:txBody>
      </p:sp>
    </p:spTree>
    <p:extLst>
      <p:ext uri="{BB962C8B-B14F-4D97-AF65-F5344CB8AC3E}">
        <p14:creationId xmlns:p14="http://schemas.microsoft.com/office/powerpoint/2010/main" val="62379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354C66D-218B-422E-A4F4-EC4A4A0D6A3A}"/>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71D01F70-68CE-4F01-BDA7-C8ED446AE10C}"/>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1</a:t>
            </a:r>
          </a:p>
        </p:txBody>
      </p:sp>
      <p:sp>
        <p:nvSpPr>
          <p:cNvPr id="4" name="Text 2">
            <a:extLst>
              <a:ext uri="{FF2B5EF4-FFF2-40B4-BE49-F238E27FC236}">
                <a16:creationId xmlns:a16="http://schemas.microsoft.com/office/drawing/2014/main" id="{EEAB29E5-FD6E-409E-B68E-BDEF5D17AA15}"/>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sz="2700" b="1">
                <a:solidFill>
                  <a:srgbClr val="1F2937"/>
                </a:solidFill>
                <a:latin typeface="Georgia"/>
                <a:ea typeface="Georgia"/>
                <a:cs typeface="Georgia"/>
              </a:rPr>
              <a:t>What we set out to build</a:t>
            </a:r>
          </a:p>
        </p:txBody>
      </p:sp>
      <p:sp>
        <p:nvSpPr>
          <p:cNvPr id="6" name="Text 4">
            <a:extLst>
              <a:ext uri="{FF2B5EF4-FFF2-40B4-BE49-F238E27FC236}">
                <a16:creationId xmlns:a16="http://schemas.microsoft.com/office/drawing/2014/main" id="{68A7DF3F-DF7E-47AE-A613-A1339B760F53}"/>
              </a:ext>
            </a:extLst>
          </p:cNvPr>
          <p:cNvSpPr>
            <a:spLocks noGrp="1"/>
          </p:cNvSpPr>
          <p:nvPr/>
        </p:nvSpPr>
        <p:spPr>
          <a:xfrm>
            <a:off x="693420" y="1335916"/>
            <a:ext cx="5318760" cy="1463040"/>
          </a:xfrm>
          <a:prstGeom prst="rect">
            <a:avLst/>
          </a:prstGeom>
          <a:noFill/>
        </p:spPr>
        <p:txBody>
          <a:bodyPr wrap="square" anchor="t"/>
          <a:lstStyle/>
          <a:p>
            <a:pPr marL="0" indent="0">
              <a:lnSpc>
                <a:spcPct val="112000"/>
              </a:lnSpc>
              <a:buNone/>
            </a:pPr>
            <a:r>
              <a:rPr sz="1500" b="1" dirty="0">
                <a:solidFill>
                  <a:srgbClr val="065A82"/>
                </a:solidFill>
                <a:latin typeface="Calibri"/>
                <a:ea typeface="Calibri"/>
                <a:cs typeface="Calibri"/>
              </a:rPr>
              <a:t>Goal: </a:t>
            </a:r>
            <a:r>
              <a:rPr lang="en-US" sz="1500" dirty="0">
                <a:solidFill>
                  <a:srgbClr val="1F2937"/>
                </a:solidFill>
                <a:latin typeface="Calibri"/>
                <a:ea typeface="Calibri"/>
                <a:cs typeface="Calibri"/>
              </a:rPr>
              <a:t>Bring em</a:t>
            </a:r>
            <a:r>
              <a:rPr sz="1500" dirty="0">
                <a:solidFill>
                  <a:srgbClr val="1F2937"/>
                </a:solidFill>
                <a:latin typeface="Calibri"/>
                <a:ea typeface="Calibri"/>
                <a:cs typeface="Calibri"/>
              </a:rPr>
              <a:t>bodi</a:t>
            </a:r>
            <a:r>
              <a:rPr lang="en-US" sz="1500" dirty="0">
                <a:solidFill>
                  <a:srgbClr val="1F2937"/>
                </a:solidFill>
                <a:latin typeface="Calibri"/>
                <a:ea typeface="Calibri"/>
                <a:cs typeface="Calibri"/>
              </a:rPr>
              <a:t>ment to roleplay</a:t>
            </a:r>
            <a:r>
              <a:rPr sz="1500" dirty="0">
                <a:solidFill>
                  <a:srgbClr val="1F2937"/>
                </a:solidFill>
                <a:latin typeface="Calibri"/>
                <a:ea typeface="Calibri"/>
                <a:cs typeface="Calibri"/>
              </a:rPr>
              <a:t> — given a scene description, automatically generate a runnable, interactable Vision Pro scene that supports the </a:t>
            </a:r>
            <a:r>
              <a:rPr lang="en-US" sz="1500" dirty="0">
                <a:solidFill>
                  <a:srgbClr val="1F2937"/>
                </a:solidFill>
                <a:latin typeface="Calibri"/>
                <a:ea typeface="Calibri"/>
                <a:cs typeface="Calibri"/>
              </a:rPr>
              <a:t>embodied interactions relevant to </a:t>
            </a:r>
            <a:r>
              <a:rPr sz="1500" dirty="0">
                <a:solidFill>
                  <a:srgbClr val="1F2937"/>
                </a:solidFill>
                <a:latin typeface="Calibri"/>
                <a:ea typeface="Calibri"/>
                <a:cs typeface="Calibri"/>
              </a:rPr>
              <a:t>intended practice</a:t>
            </a:r>
            <a:r>
              <a:rPr lang="en-US" sz="1500" dirty="0">
                <a:solidFill>
                  <a:srgbClr val="1F2937"/>
                </a:solidFill>
                <a:latin typeface="Calibri"/>
                <a:ea typeface="Calibri"/>
                <a:cs typeface="Calibri"/>
              </a:rPr>
              <a:t> scenarios</a:t>
            </a:r>
            <a:r>
              <a:rPr sz="1500" dirty="0">
                <a:solidFill>
                  <a:srgbClr val="1F2937"/>
                </a:solidFill>
                <a:latin typeface="Calibri"/>
                <a:ea typeface="Calibri"/>
                <a:cs typeface="Calibri"/>
              </a:rPr>
              <a:t>.</a:t>
            </a:r>
          </a:p>
        </p:txBody>
      </p:sp>
      <p:sp>
        <p:nvSpPr>
          <p:cNvPr id="7" name="Shape 5">
            <a:extLst>
              <a:ext uri="{FF2B5EF4-FFF2-40B4-BE49-F238E27FC236}">
                <a16:creationId xmlns:a16="http://schemas.microsoft.com/office/drawing/2014/main" id="{D3114462-27BC-43BC-9C58-B32ABE0979EE}"/>
              </a:ext>
            </a:extLst>
          </p:cNvPr>
          <p:cNvSpPr>
            <a:spLocks noGrp="1"/>
          </p:cNvSpPr>
          <p:nvPr/>
        </p:nvSpPr>
        <p:spPr>
          <a:xfrm>
            <a:off x="6126480" y="1325880"/>
            <a:ext cx="5486400" cy="1371600"/>
          </a:xfrm>
          <a:prstGeom prst="roundRect">
            <a:avLst>
              <a:gd name="adj" fmla="val 5333"/>
            </a:avLst>
          </a:prstGeom>
          <a:solidFill>
            <a:srgbClr val="F1F5F9"/>
          </a:solidFill>
          <a:ln w="12700">
            <a:solidFill>
              <a:srgbClr val="D7DEE8"/>
            </a:solidFill>
            <a:prstDash val="solid"/>
          </a:ln>
        </p:spPr>
        <p:txBody>
          <a:bodyPr/>
          <a:lstStyle/>
          <a:p>
            <a:endParaRPr lang="en-US"/>
          </a:p>
        </p:txBody>
      </p:sp>
      <p:sp>
        <p:nvSpPr>
          <p:cNvPr id="8" name="Text 6">
            <a:extLst>
              <a:ext uri="{FF2B5EF4-FFF2-40B4-BE49-F238E27FC236}">
                <a16:creationId xmlns:a16="http://schemas.microsoft.com/office/drawing/2014/main" id="{9CCFD107-35DB-4446-82C6-B5742950D422}"/>
              </a:ext>
            </a:extLst>
          </p:cNvPr>
          <p:cNvSpPr>
            <a:spLocks noGrp="1"/>
          </p:cNvSpPr>
          <p:nvPr/>
        </p:nvSpPr>
        <p:spPr>
          <a:xfrm>
            <a:off x="6355080" y="1435608"/>
            <a:ext cx="5029200" cy="310896"/>
          </a:xfrm>
          <a:prstGeom prst="rect">
            <a:avLst/>
          </a:prstGeom>
          <a:noFill/>
        </p:spPr>
        <p:txBody>
          <a:bodyPr wrap="square" lIns="0" tIns="0" rIns="0" bIns="0" anchor="ctr"/>
          <a:lstStyle/>
          <a:p>
            <a:pPr marL="0" indent="0">
              <a:buNone/>
            </a:pPr>
            <a:r>
              <a:rPr sz="1400" b="1">
                <a:solidFill>
                  <a:srgbClr val="1C7293"/>
                </a:solidFill>
                <a:latin typeface="Calibri"/>
                <a:ea typeface="Calibri"/>
                <a:cs typeface="Calibri"/>
              </a:rPr>
              <a:t>Constraint 1 · Runs on Apple Vision Pro</a:t>
            </a:r>
          </a:p>
        </p:txBody>
      </p:sp>
      <p:sp>
        <p:nvSpPr>
          <p:cNvPr id="9" name="Text 7">
            <a:extLst>
              <a:ext uri="{FF2B5EF4-FFF2-40B4-BE49-F238E27FC236}">
                <a16:creationId xmlns:a16="http://schemas.microsoft.com/office/drawing/2014/main" id="{FD5B51A9-CAE4-4C9E-B873-ED1FAA2062FC}"/>
              </a:ext>
            </a:extLst>
          </p:cNvPr>
          <p:cNvSpPr>
            <a:spLocks noGrp="1"/>
          </p:cNvSpPr>
          <p:nvPr/>
        </p:nvSpPr>
        <p:spPr>
          <a:xfrm>
            <a:off x="6355080" y="1764792"/>
            <a:ext cx="5029200" cy="868680"/>
          </a:xfrm>
          <a:prstGeom prst="rect">
            <a:avLst/>
          </a:prstGeom>
          <a:noFill/>
        </p:spPr>
        <p:txBody>
          <a:bodyPr wrap="square" lIns="0" tIns="0" rIns="0" bIns="0" anchor="t"/>
          <a:lstStyle/>
          <a:p>
            <a:pPr marL="0" indent="0">
              <a:lnSpc>
                <a:spcPct val="105000"/>
              </a:lnSpc>
              <a:buNone/>
            </a:pPr>
            <a:r>
              <a:rPr sz="1250">
                <a:solidFill>
                  <a:srgbClr val="1F2937"/>
                </a:solidFill>
                <a:latin typeface="Calibri"/>
                <a:ea typeface="Calibri"/>
                <a:cs typeface="Calibri"/>
              </a:rPr>
              <a:t>Integrates with our research prototype — but Apple blocks runtime code generation, so we must build interactivity from existing interaction primitives.</a:t>
            </a:r>
          </a:p>
        </p:txBody>
      </p:sp>
      <p:sp>
        <p:nvSpPr>
          <p:cNvPr id="10" name="Shape 8">
            <a:extLst>
              <a:ext uri="{FF2B5EF4-FFF2-40B4-BE49-F238E27FC236}">
                <a16:creationId xmlns:a16="http://schemas.microsoft.com/office/drawing/2014/main" id="{9C4ECEC9-E1C5-4F4B-B377-8DD002CE7A16}"/>
              </a:ext>
            </a:extLst>
          </p:cNvPr>
          <p:cNvSpPr>
            <a:spLocks noGrp="1"/>
          </p:cNvSpPr>
          <p:nvPr/>
        </p:nvSpPr>
        <p:spPr>
          <a:xfrm>
            <a:off x="6126480" y="2852928"/>
            <a:ext cx="5486400" cy="1371600"/>
          </a:xfrm>
          <a:prstGeom prst="roundRect">
            <a:avLst>
              <a:gd name="adj" fmla="val 5333"/>
            </a:avLst>
          </a:prstGeom>
          <a:solidFill>
            <a:srgbClr val="F1F5F9"/>
          </a:solidFill>
          <a:ln w="12700">
            <a:solidFill>
              <a:srgbClr val="D7DEE8"/>
            </a:solidFill>
            <a:prstDash val="solid"/>
          </a:ln>
        </p:spPr>
        <p:txBody>
          <a:bodyPr/>
          <a:lstStyle/>
          <a:p>
            <a:endParaRPr lang="en-US"/>
          </a:p>
        </p:txBody>
      </p:sp>
      <p:sp>
        <p:nvSpPr>
          <p:cNvPr id="11" name="Text 9">
            <a:extLst>
              <a:ext uri="{FF2B5EF4-FFF2-40B4-BE49-F238E27FC236}">
                <a16:creationId xmlns:a16="http://schemas.microsoft.com/office/drawing/2014/main" id="{6989D0B0-D146-49CC-961C-62ABB398C997}"/>
              </a:ext>
            </a:extLst>
          </p:cNvPr>
          <p:cNvSpPr>
            <a:spLocks noGrp="1"/>
          </p:cNvSpPr>
          <p:nvPr/>
        </p:nvSpPr>
        <p:spPr>
          <a:xfrm>
            <a:off x="6355080" y="2962656"/>
            <a:ext cx="5029200" cy="310896"/>
          </a:xfrm>
          <a:prstGeom prst="rect">
            <a:avLst/>
          </a:prstGeom>
          <a:noFill/>
        </p:spPr>
        <p:txBody>
          <a:bodyPr wrap="square" lIns="0" tIns="0" rIns="0" bIns="0" anchor="ctr"/>
          <a:lstStyle/>
          <a:p>
            <a:pPr marL="0" indent="0">
              <a:buNone/>
            </a:pPr>
            <a:r>
              <a:rPr sz="1400" b="1">
                <a:solidFill>
                  <a:srgbClr val="1C7293"/>
                </a:solidFill>
                <a:latin typeface="Calibri"/>
                <a:ea typeface="Calibri"/>
                <a:cs typeface="Calibri"/>
              </a:rPr>
              <a:t>Constraint 2 · Generates in minutes</a:t>
            </a:r>
          </a:p>
        </p:txBody>
      </p:sp>
      <p:sp>
        <p:nvSpPr>
          <p:cNvPr id="12" name="Text 10">
            <a:extLst>
              <a:ext uri="{FF2B5EF4-FFF2-40B4-BE49-F238E27FC236}">
                <a16:creationId xmlns:a16="http://schemas.microsoft.com/office/drawing/2014/main" id="{9B9E3C6B-B1CB-4DA4-9B86-2EA3676E6705}"/>
              </a:ext>
            </a:extLst>
          </p:cNvPr>
          <p:cNvSpPr>
            <a:spLocks noGrp="1"/>
          </p:cNvSpPr>
          <p:nvPr/>
        </p:nvSpPr>
        <p:spPr>
          <a:xfrm>
            <a:off x="6355080" y="3291840"/>
            <a:ext cx="5029200" cy="868680"/>
          </a:xfrm>
          <a:prstGeom prst="rect">
            <a:avLst/>
          </a:prstGeom>
          <a:noFill/>
        </p:spPr>
        <p:txBody>
          <a:bodyPr wrap="square" lIns="0" tIns="0" rIns="0" bIns="0" anchor="t"/>
          <a:lstStyle/>
          <a:p>
            <a:pPr marL="0" indent="0">
              <a:lnSpc>
                <a:spcPct val="105000"/>
              </a:lnSpc>
              <a:buNone/>
            </a:pPr>
            <a:r>
              <a:rPr sz="1250">
                <a:solidFill>
                  <a:srgbClr val="1F2937"/>
                </a:solidFill>
                <a:latin typeface="Calibri"/>
                <a:ea typeface="Calibri"/>
                <a:cs typeface="Calibri"/>
              </a:rPr>
              <a:t>No hand-authoring, no long offline 3D pipelines. A scene may take a few minutes; we keep learners busy with end-of-scene activities.</a:t>
            </a:r>
          </a:p>
        </p:txBody>
      </p:sp>
      <p:sp>
        <p:nvSpPr>
          <p:cNvPr id="13" name="Shape 11">
            <a:extLst>
              <a:ext uri="{FF2B5EF4-FFF2-40B4-BE49-F238E27FC236}">
                <a16:creationId xmlns:a16="http://schemas.microsoft.com/office/drawing/2014/main" id="{7E0EC751-27BE-423B-B0BE-9FF36054D731}"/>
              </a:ext>
            </a:extLst>
          </p:cNvPr>
          <p:cNvSpPr>
            <a:spLocks noGrp="1"/>
          </p:cNvSpPr>
          <p:nvPr/>
        </p:nvSpPr>
        <p:spPr>
          <a:xfrm>
            <a:off x="6126480" y="4379976"/>
            <a:ext cx="5486400" cy="1371600"/>
          </a:xfrm>
          <a:prstGeom prst="roundRect">
            <a:avLst>
              <a:gd name="adj" fmla="val 5333"/>
            </a:avLst>
          </a:prstGeom>
          <a:solidFill>
            <a:srgbClr val="F1F5F9"/>
          </a:solidFill>
          <a:ln w="12700">
            <a:solidFill>
              <a:srgbClr val="D7DEE8"/>
            </a:solidFill>
            <a:prstDash val="solid"/>
          </a:ln>
        </p:spPr>
        <p:txBody>
          <a:bodyPr/>
          <a:lstStyle/>
          <a:p>
            <a:endParaRPr lang="en-US"/>
          </a:p>
        </p:txBody>
      </p:sp>
      <p:sp>
        <p:nvSpPr>
          <p:cNvPr id="14" name="Text 12">
            <a:extLst>
              <a:ext uri="{FF2B5EF4-FFF2-40B4-BE49-F238E27FC236}">
                <a16:creationId xmlns:a16="http://schemas.microsoft.com/office/drawing/2014/main" id="{7A0B0588-22FD-4935-93C0-DE49EE97B1B2}"/>
              </a:ext>
            </a:extLst>
          </p:cNvPr>
          <p:cNvSpPr>
            <a:spLocks noGrp="1"/>
          </p:cNvSpPr>
          <p:nvPr/>
        </p:nvSpPr>
        <p:spPr>
          <a:xfrm>
            <a:off x="6355080" y="4489704"/>
            <a:ext cx="5029200" cy="310896"/>
          </a:xfrm>
          <a:prstGeom prst="rect">
            <a:avLst/>
          </a:prstGeom>
          <a:noFill/>
        </p:spPr>
        <p:txBody>
          <a:bodyPr wrap="square" lIns="0" tIns="0" rIns="0" bIns="0" anchor="ctr"/>
          <a:lstStyle/>
          <a:p>
            <a:pPr marL="0" indent="0">
              <a:buNone/>
            </a:pPr>
            <a:r>
              <a:rPr sz="1400" b="1">
                <a:solidFill>
                  <a:srgbClr val="1C7293"/>
                </a:solidFill>
                <a:latin typeface="Calibri"/>
                <a:ea typeface="Calibri"/>
                <a:cs typeface="Calibri"/>
              </a:rPr>
              <a:t>Constraint 3 · Generation, not retrieval</a:t>
            </a:r>
          </a:p>
        </p:txBody>
      </p:sp>
      <p:sp>
        <p:nvSpPr>
          <p:cNvPr id="15" name="Text 13">
            <a:extLst>
              <a:ext uri="{FF2B5EF4-FFF2-40B4-BE49-F238E27FC236}">
                <a16:creationId xmlns:a16="http://schemas.microsoft.com/office/drawing/2014/main" id="{15D43193-C95A-43FF-9DC4-11A973928AC3}"/>
              </a:ext>
            </a:extLst>
          </p:cNvPr>
          <p:cNvSpPr>
            <a:spLocks noGrp="1"/>
          </p:cNvSpPr>
          <p:nvPr/>
        </p:nvSpPr>
        <p:spPr>
          <a:xfrm>
            <a:off x="6355080" y="4818888"/>
            <a:ext cx="5029200" cy="868680"/>
          </a:xfrm>
          <a:prstGeom prst="rect">
            <a:avLst/>
          </a:prstGeom>
          <a:noFill/>
        </p:spPr>
        <p:txBody>
          <a:bodyPr wrap="square" lIns="0" tIns="0" rIns="0" bIns="0" anchor="t"/>
          <a:lstStyle/>
          <a:p>
            <a:pPr marL="0" indent="0">
              <a:lnSpc>
                <a:spcPct val="105000"/>
              </a:lnSpc>
              <a:buNone/>
            </a:pPr>
            <a:r>
              <a:rPr sz="1250">
                <a:solidFill>
                  <a:srgbClr val="1F2937"/>
                </a:solidFill>
                <a:latin typeface="Calibri"/>
                <a:ea typeface="Calibri"/>
                <a:cs typeface="Calibri"/>
              </a:rPr>
              <a:t>We want any scene a learner can imagine — generation is more likely to cover that space than retrieval from a fixed library.</a:t>
            </a:r>
          </a:p>
        </p:txBody>
      </p:sp>
      <p:pic>
        <p:nvPicPr>
          <p:cNvPr id="17" name="Picture 16">
            <a:extLst>
              <a:ext uri="{FF2B5EF4-FFF2-40B4-BE49-F238E27FC236}">
                <a16:creationId xmlns:a16="http://schemas.microsoft.com/office/drawing/2014/main" id="{0B50E54E-992F-3379-ABF6-4FC0DD75143B}"/>
              </a:ext>
            </a:extLst>
          </p:cNvPr>
          <p:cNvPicPr>
            <a:picLocks noChangeAspect="1"/>
          </p:cNvPicPr>
          <p:nvPr/>
        </p:nvPicPr>
        <p:blipFill>
          <a:blip r:embed="rId3"/>
          <a:stretch>
            <a:fillRect/>
          </a:stretch>
        </p:blipFill>
        <p:spPr>
          <a:xfrm>
            <a:off x="693420" y="2798956"/>
            <a:ext cx="5153756" cy="3013524"/>
          </a:xfrm>
          <a:prstGeom prst="rect">
            <a:avLst/>
          </a:prstGeom>
        </p:spPr>
      </p:pic>
    </p:spTree>
    <p:extLst>
      <p:ext uri="{BB962C8B-B14F-4D97-AF65-F5344CB8AC3E}">
        <p14:creationId xmlns:p14="http://schemas.microsoft.com/office/powerpoint/2010/main" val="2557591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2F1FBB9-618E-4947-B33A-0B4721FBB566}"/>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CCA0FFF7-5175-4EAF-A4B1-0CBE604E1F68}"/>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2</a:t>
            </a:r>
          </a:p>
        </p:txBody>
      </p:sp>
      <p:sp>
        <p:nvSpPr>
          <p:cNvPr id="4" name="Text 2">
            <a:extLst>
              <a:ext uri="{FF2B5EF4-FFF2-40B4-BE49-F238E27FC236}">
                <a16:creationId xmlns:a16="http://schemas.microsoft.com/office/drawing/2014/main" id="{719BF10B-A0E2-4CFD-8BD5-6A46DBC72644}"/>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sz="2700" b="1">
                <a:solidFill>
                  <a:srgbClr val="1F2937"/>
                </a:solidFill>
                <a:latin typeface="Georgia"/>
                <a:ea typeface="Georgia"/>
                <a:cs typeface="Georgia"/>
              </a:rPr>
              <a:t>Why existing approaches don't fit</a:t>
            </a:r>
          </a:p>
        </p:txBody>
      </p:sp>
      <p:sp>
        <p:nvSpPr>
          <p:cNvPr id="5" name="Shape 3">
            <a:extLst>
              <a:ext uri="{FF2B5EF4-FFF2-40B4-BE49-F238E27FC236}">
                <a16:creationId xmlns:a16="http://schemas.microsoft.com/office/drawing/2014/main" id="{E9EA54B4-9D73-4266-B616-77EC69A1D555}"/>
              </a:ext>
            </a:extLst>
          </p:cNvPr>
          <p:cNvSpPr>
            <a:spLocks noGrp="1"/>
          </p:cNvSpPr>
          <p:nvPr/>
        </p:nvSpPr>
        <p:spPr>
          <a:xfrm>
            <a:off x="548640" y="1371600"/>
            <a:ext cx="5440680" cy="2468880"/>
          </a:xfrm>
          <a:prstGeom prst="roundRect">
            <a:avLst>
              <a:gd name="adj" fmla="val 2963"/>
            </a:avLst>
          </a:prstGeom>
          <a:solidFill>
            <a:srgbClr val="F1F5F9"/>
          </a:solidFill>
          <a:ln w="12700">
            <a:solidFill>
              <a:srgbClr val="D7DEE8"/>
            </a:solidFill>
            <a:prstDash val="solid"/>
          </a:ln>
        </p:spPr>
        <p:txBody>
          <a:bodyPr/>
          <a:lstStyle/>
          <a:p>
            <a:endParaRPr lang="en-US"/>
          </a:p>
        </p:txBody>
      </p:sp>
      <p:sp>
        <p:nvSpPr>
          <p:cNvPr id="6" name="Text 4">
            <a:extLst>
              <a:ext uri="{FF2B5EF4-FFF2-40B4-BE49-F238E27FC236}">
                <a16:creationId xmlns:a16="http://schemas.microsoft.com/office/drawing/2014/main" id="{BE9858C8-9D69-4841-A01B-0E6526E8320E}"/>
              </a:ext>
            </a:extLst>
          </p:cNvPr>
          <p:cNvSpPr>
            <a:spLocks noGrp="1"/>
          </p:cNvSpPr>
          <p:nvPr/>
        </p:nvSpPr>
        <p:spPr>
          <a:xfrm>
            <a:off x="822960" y="1554480"/>
            <a:ext cx="4937760" cy="457200"/>
          </a:xfrm>
          <a:prstGeom prst="rect">
            <a:avLst/>
          </a:prstGeom>
          <a:noFill/>
        </p:spPr>
        <p:txBody>
          <a:bodyPr wrap="square" lIns="0" tIns="0" rIns="0" bIns="0" anchor="ctr"/>
          <a:lstStyle/>
          <a:p>
            <a:pPr marL="0" indent="0">
              <a:buNone/>
            </a:pPr>
            <a:r>
              <a:rPr sz="1700" b="1">
                <a:solidFill>
                  <a:srgbClr val="065A82"/>
                </a:solidFill>
                <a:latin typeface="Calibri"/>
                <a:ea typeface="Calibri"/>
                <a:cs typeface="Calibri"/>
              </a:rPr>
              <a:t>LLMR (Microsoft, CHI 2024)</a:t>
            </a:r>
          </a:p>
        </p:txBody>
      </p:sp>
      <p:sp>
        <p:nvSpPr>
          <p:cNvPr id="7" name="Text 5">
            <a:extLst>
              <a:ext uri="{FF2B5EF4-FFF2-40B4-BE49-F238E27FC236}">
                <a16:creationId xmlns:a16="http://schemas.microsoft.com/office/drawing/2014/main" id="{01879234-178E-4BC6-A893-F00E01A6C7EA}"/>
              </a:ext>
            </a:extLst>
          </p:cNvPr>
          <p:cNvSpPr>
            <a:spLocks noGrp="1"/>
          </p:cNvSpPr>
          <p:nvPr/>
        </p:nvSpPr>
        <p:spPr>
          <a:xfrm>
            <a:off x="822960" y="2057400"/>
            <a:ext cx="4937760" cy="1645920"/>
          </a:xfrm>
          <a:prstGeom prst="rect">
            <a:avLst/>
          </a:prstGeom>
          <a:noFill/>
        </p:spPr>
        <p:txBody>
          <a:bodyPr wrap="square" lIns="0" tIns="0" rIns="0" bIns="0" anchor="t"/>
          <a:lstStyle/>
          <a:p>
            <a:pPr marL="0" indent="0">
              <a:lnSpc>
                <a:spcPct val="110000"/>
              </a:lnSpc>
              <a:buNone/>
            </a:pPr>
            <a:r>
              <a:rPr sz="1400" dirty="0">
                <a:solidFill>
                  <a:srgbClr val="1F2937"/>
                </a:solidFill>
                <a:latin typeface="Calibri"/>
                <a:ea typeface="Calibri"/>
                <a:cs typeface="Calibri"/>
              </a:rPr>
              <a:t>Our inspiration: speak interactive worlds into existence. But it generates C# code run in Unity via a self-debugging loop — too heavy to guarantee runnable in minutes, and it can't run in the Apple environment because of code-generation restrictions.</a:t>
            </a:r>
          </a:p>
        </p:txBody>
      </p:sp>
      <p:sp>
        <p:nvSpPr>
          <p:cNvPr id="8" name="Shape 6">
            <a:extLst>
              <a:ext uri="{FF2B5EF4-FFF2-40B4-BE49-F238E27FC236}">
                <a16:creationId xmlns:a16="http://schemas.microsoft.com/office/drawing/2014/main" id="{13283BD1-A3FB-46FF-BD7B-F9C725449E17}"/>
              </a:ext>
            </a:extLst>
          </p:cNvPr>
          <p:cNvSpPr>
            <a:spLocks noGrp="1"/>
          </p:cNvSpPr>
          <p:nvPr/>
        </p:nvSpPr>
        <p:spPr>
          <a:xfrm>
            <a:off x="6172200" y="1371600"/>
            <a:ext cx="5440680" cy="2468880"/>
          </a:xfrm>
          <a:prstGeom prst="roundRect">
            <a:avLst>
              <a:gd name="adj" fmla="val 2963"/>
            </a:avLst>
          </a:prstGeom>
          <a:solidFill>
            <a:srgbClr val="F1F5F9"/>
          </a:solidFill>
          <a:ln w="12700">
            <a:solidFill>
              <a:srgbClr val="D7DEE8"/>
            </a:solidFill>
            <a:prstDash val="solid"/>
          </a:ln>
        </p:spPr>
        <p:txBody>
          <a:bodyPr/>
          <a:lstStyle/>
          <a:p>
            <a:endParaRPr lang="en-US"/>
          </a:p>
        </p:txBody>
      </p:sp>
      <p:sp>
        <p:nvSpPr>
          <p:cNvPr id="9" name="Text 7">
            <a:extLst>
              <a:ext uri="{FF2B5EF4-FFF2-40B4-BE49-F238E27FC236}">
                <a16:creationId xmlns:a16="http://schemas.microsoft.com/office/drawing/2014/main" id="{AB0D1107-83D3-458B-8202-11D2FCA37725}"/>
              </a:ext>
            </a:extLst>
          </p:cNvPr>
          <p:cNvSpPr>
            <a:spLocks noGrp="1"/>
          </p:cNvSpPr>
          <p:nvPr/>
        </p:nvSpPr>
        <p:spPr>
          <a:xfrm>
            <a:off x="6446520" y="1554480"/>
            <a:ext cx="4937760" cy="457200"/>
          </a:xfrm>
          <a:prstGeom prst="rect">
            <a:avLst/>
          </a:prstGeom>
          <a:noFill/>
        </p:spPr>
        <p:txBody>
          <a:bodyPr wrap="square" lIns="0" tIns="0" rIns="0" bIns="0" anchor="ctr"/>
          <a:lstStyle/>
          <a:p>
            <a:pPr marL="0" indent="0">
              <a:buNone/>
            </a:pPr>
            <a:r>
              <a:rPr sz="1700" b="1">
                <a:solidFill>
                  <a:srgbClr val="1C7293"/>
                </a:solidFill>
                <a:latin typeface="Calibri"/>
                <a:ea typeface="Calibri"/>
                <a:cs typeface="Calibri"/>
              </a:rPr>
              <a:t>Holodeck (CVPR 2024)</a:t>
            </a:r>
          </a:p>
        </p:txBody>
      </p:sp>
      <p:sp>
        <p:nvSpPr>
          <p:cNvPr id="10" name="Text 8">
            <a:extLst>
              <a:ext uri="{FF2B5EF4-FFF2-40B4-BE49-F238E27FC236}">
                <a16:creationId xmlns:a16="http://schemas.microsoft.com/office/drawing/2014/main" id="{DF51D628-1B7F-4C67-B9BB-E402388BB6BA}"/>
              </a:ext>
            </a:extLst>
          </p:cNvPr>
          <p:cNvSpPr>
            <a:spLocks noGrp="1"/>
          </p:cNvSpPr>
          <p:nvPr/>
        </p:nvSpPr>
        <p:spPr>
          <a:xfrm>
            <a:off x="6446520" y="2057400"/>
            <a:ext cx="4937760" cy="1645920"/>
          </a:xfrm>
          <a:prstGeom prst="rect">
            <a:avLst/>
          </a:prstGeom>
          <a:noFill/>
        </p:spPr>
        <p:txBody>
          <a:bodyPr wrap="square" lIns="0" tIns="0" rIns="0" bIns="0" anchor="t"/>
          <a:lstStyle/>
          <a:p>
            <a:pPr marL="0" indent="0">
              <a:lnSpc>
                <a:spcPct val="110000"/>
              </a:lnSpc>
              <a:buNone/>
            </a:pPr>
            <a:r>
              <a:rPr sz="1400">
                <a:solidFill>
                  <a:srgbClr val="1F2937"/>
                </a:solidFill>
                <a:latin typeface="Calibri"/>
                <a:ea typeface="Calibri"/>
                <a:cs typeface="Calibri"/>
              </a:rPr>
              <a:t>Generates room-scale environments for embodied-AI navigation by retrieving assets from a fixed library. Wrong regime: room-scale full environments, library-bounded not on-demand, an environment rather than an interactive task scene.</a:t>
            </a:r>
          </a:p>
        </p:txBody>
      </p:sp>
      <p:sp>
        <p:nvSpPr>
          <p:cNvPr id="11" name="Text 9">
            <a:extLst>
              <a:ext uri="{FF2B5EF4-FFF2-40B4-BE49-F238E27FC236}">
                <a16:creationId xmlns:a16="http://schemas.microsoft.com/office/drawing/2014/main" id="{6CC55DC9-617D-4298-A95B-B4098111A44A}"/>
              </a:ext>
            </a:extLst>
          </p:cNvPr>
          <p:cNvSpPr>
            <a:spLocks noGrp="1"/>
          </p:cNvSpPr>
          <p:nvPr/>
        </p:nvSpPr>
        <p:spPr>
          <a:xfrm>
            <a:off x="548640" y="4023360"/>
            <a:ext cx="11064240" cy="822960"/>
          </a:xfrm>
          <a:prstGeom prst="rect">
            <a:avLst/>
          </a:prstGeom>
          <a:solidFill>
            <a:srgbClr val="21295C"/>
          </a:solidFill>
        </p:spPr>
        <p:txBody>
          <a:bodyPr wrap="square" lIns="0" tIns="0" rIns="0" bIns="0" anchor="ctr"/>
          <a:lstStyle/>
          <a:p>
            <a:pPr marL="0" indent="0" algn="ctr">
              <a:buNone/>
            </a:pPr>
            <a:r>
              <a:rPr sz="1600" b="1" dirty="0">
                <a:solidFill>
                  <a:srgbClr val="FFFFFF"/>
                </a:solidFill>
                <a:latin typeface="Calibri"/>
                <a:ea typeface="Calibri"/>
                <a:cs typeface="Calibri"/>
              </a:rPr>
              <a:t>Our </a:t>
            </a:r>
            <a:r>
              <a:rPr lang="en-US" sz="1600" b="1" dirty="0">
                <a:solidFill>
                  <a:srgbClr val="FFFFFF"/>
                </a:solidFill>
                <a:latin typeface="Calibri"/>
                <a:ea typeface="Calibri"/>
                <a:cs typeface="Calibri"/>
              </a:rPr>
              <a:t>Approach</a:t>
            </a:r>
            <a:r>
              <a:rPr sz="1600" b="1" dirty="0">
                <a:solidFill>
                  <a:srgbClr val="FFFFFF"/>
                </a:solidFill>
                <a:latin typeface="Calibri"/>
                <a:ea typeface="Calibri"/>
                <a:cs typeface="Calibri"/>
              </a:rPr>
              <a:t>: </a:t>
            </a:r>
            <a:r>
              <a:rPr lang="en-US" sz="1600" b="1" dirty="0">
                <a:solidFill>
                  <a:srgbClr val="FFFFFF"/>
                </a:solidFill>
                <a:latin typeface="Calibri"/>
                <a:ea typeface="Calibri"/>
                <a:cs typeface="Calibri"/>
              </a:rPr>
              <a:t> generate the necessary 3D interactive content to support embodied interaction; a partial scene that consists of 3D objects and a set of possible interactions relevant to a practice scenario</a:t>
            </a:r>
            <a:endParaRPr sz="1600" dirty="0">
              <a:solidFill>
                <a:srgbClr val="CADCFC"/>
              </a:solidFill>
              <a:latin typeface="Calibri"/>
              <a:ea typeface="Calibri"/>
              <a:cs typeface="Calibri"/>
            </a:endParaRPr>
          </a:p>
        </p:txBody>
      </p:sp>
      <p:pic>
        <p:nvPicPr>
          <p:cNvPr id="16" name="Picture 15">
            <a:extLst>
              <a:ext uri="{FF2B5EF4-FFF2-40B4-BE49-F238E27FC236}">
                <a16:creationId xmlns:a16="http://schemas.microsoft.com/office/drawing/2014/main" id="{234A3844-8344-539B-2143-063C3076AFB3}"/>
              </a:ext>
            </a:extLst>
          </p:cNvPr>
          <p:cNvPicPr>
            <a:picLocks noChangeAspect="1"/>
          </p:cNvPicPr>
          <p:nvPr/>
        </p:nvPicPr>
        <p:blipFill>
          <a:blip r:embed="rId3"/>
          <a:stretch>
            <a:fillRect/>
          </a:stretch>
        </p:blipFill>
        <p:spPr>
          <a:xfrm>
            <a:off x="548640" y="4994349"/>
            <a:ext cx="11108096" cy="1406451"/>
          </a:xfrm>
          <a:prstGeom prst="rect">
            <a:avLst/>
          </a:prstGeom>
        </p:spPr>
      </p:pic>
    </p:spTree>
    <p:extLst>
      <p:ext uri="{BB962C8B-B14F-4D97-AF65-F5344CB8AC3E}">
        <p14:creationId xmlns:p14="http://schemas.microsoft.com/office/powerpoint/2010/main" val="1873365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BE6C26-6432-40B5-943A-B9DED71E04A4}"/>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6F1D573E-3710-4D93-8361-D5391FEF7D71}"/>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3</a:t>
            </a:r>
          </a:p>
        </p:txBody>
      </p:sp>
      <p:sp>
        <p:nvSpPr>
          <p:cNvPr id="4" name="Text 2">
            <a:extLst>
              <a:ext uri="{FF2B5EF4-FFF2-40B4-BE49-F238E27FC236}">
                <a16:creationId xmlns:a16="http://schemas.microsoft.com/office/drawing/2014/main" id="{0AF900A6-5240-4736-8B48-4DB8652738C8}"/>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lang="en-US" sz="2700" b="1" dirty="0">
                <a:solidFill>
                  <a:srgbClr val="1F2937"/>
                </a:solidFill>
                <a:latin typeface="Georgia"/>
                <a:ea typeface="Georgia"/>
                <a:cs typeface="Georgia"/>
              </a:rPr>
              <a:t>Scenario Cards</a:t>
            </a:r>
            <a:endParaRPr sz="2700" b="1" dirty="0">
              <a:solidFill>
                <a:srgbClr val="1F2937"/>
              </a:solidFill>
              <a:latin typeface="Georgia"/>
              <a:ea typeface="Georgia"/>
              <a:cs typeface="Georgia"/>
            </a:endParaRPr>
          </a:p>
        </p:txBody>
      </p:sp>
      <p:sp>
        <p:nvSpPr>
          <p:cNvPr id="5" name="Text 3">
            <a:extLst>
              <a:ext uri="{FF2B5EF4-FFF2-40B4-BE49-F238E27FC236}">
                <a16:creationId xmlns:a16="http://schemas.microsoft.com/office/drawing/2014/main" id="{13429A38-DAE8-40FC-BCF7-4DE1271B667E}"/>
              </a:ext>
            </a:extLst>
          </p:cNvPr>
          <p:cNvSpPr>
            <a:spLocks noGrp="1"/>
          </p:cNvSpPr>
          <p:nvPr/>
        </p:nvSpPr>
        <p:spPr>
          <a:xfrm>
            <a:off x="548640" y="1325880"/>
            <a:ext cx="11064240" cy="731520"/>
          </a:xfrm>
          <a:prstGeom prst="rect">
            <a:avLst/>
          </a:prstGeom>
          <a:noFill/>
        </p:spPr>
        <p:txBody>
          <a:bodyPr wrap="square" anchor="t"/>
          <a:lstStyle/>
          <a:p>
            <a:pPr marL="0" indent="0">
              <a:lnSpc>
                <a:spcPct val="110000"/>
              </a:lnSpc>
              <a:buNone/>
            </a:pPr>
            <a:r>
              <a:rPr sz="1500" dirty="0">
                <a:solidFill>
                  <a:srgbClr val="1F2937"/>
                </a:solidFill>
                <a:latin typeface="Calibri"/>
                <a:ea typeface="Calibri"/>
                <a:cs typeface="Calibri"/>
              </a:rPr>
              <a:t>mined from our own GELLI study corpus (292 scenes, 3 contexts, ~3,400 learner turns). Two data signals flag interactions that wanted a 3D representation:</a:t>
            </a:r>
          </a:p>
        </p:txBody>
      </p:sp>
      <p:sp>
        <p:nvSpPr>
          <p:cNvPr id="6" name="Shape 4">
            <a:extLst>
              <a:ext uri="{FF2B5EF4-FFF2-40B4-BE49-F238E27FC236}">
                <a16:creationId xmlns:a16="http://schemas.microsoft.com/office/drawing/2014/main" id="{4FDD7043-6E51-4D04-95E0-CF795E118E01}"/>
              </a:ext>
            </a:extLst>
          </p:cNvPr>
          <p:cNvSpPr>
            <a:spLocks noGrp="1"/>
          </p:cNvSpPr>
          <p:nvPr/>
        </p:nvSpPr>
        <p:spPr>
          <a:xfrm>
            <a:off x="548640" y="2194560"/>
            <a:ext cx="5440680" cy="1645920"/>
          </a:xfrm>
          <a:prstGeom prst="roundRect">
            <a:avLst>
              <a:gd name="adj" fmla="val 4444"/>
            </a:avLst>
          </a:prstGeom>
          <a:solidFill>
            <a:srgbClr val="F1F5F9"/>
          </a:solidFill>
          <a:ln w="12700">
            <a:solidFill>
              <a:srgbClr val="D7DEE8"/>
            </a:solidFill>
            <a:prstDash val="solid"/>
          </a:ln>
        </p:spPr>
        <p:txBody>
          <a:bodyPr/>
          <a:lstStyle/>
          <a:p>
            <a:endParaRPr lang="en-US"/>
          </a:p>
        </p:txBody>
      </p:sp>
      <p:sp>
        <p:nvSpPr>
          <p:cNvPr id="7" name="Text 5">
            <a:extLst>
              <a:ext uri="{FF2B5EF4-FFF2-40B4-BE49-F238E27FC236}">
                <a16:creationId xmlns:a16="http://schemas.microsoft.com/office/drawing/2014/main" id="{AF1A30EC-49F5-4EA4-8F77-36BF64633165}"/>
              </a:ext>
            </a:extLst>
          </p:cNvPr>
          <p:cNvSpPr>
            <a:spLocks noGrp="1"/>
          </p:cNvSpPr>
          <p:nvPr/>
        </p:nvSpPr>
        <p:spPr>
          <a:xfrm>
            <a:off x="822960" y="2359152"/>
            <a:ext cx="4937760" cy="365760"/>
          </a:xfrm>
          <a:prstGeom prst="rect">
            <a:avLst/>
          </a:prstGeom>
          <a:noFill/>
        </p:spPr>
        <p:txBody>
          <a:bodyPr wrap="square" lIns="0" tIns="0" rIns="0" bIns="0" anchor="ctr"/>
          <a:lstStyle/>
          <a:p>
            <a:pPr marL="0" indent="0">
              <a:buNone/>
            </a:pPr>
            <a:r>
              <a:rPr sz="1600" b="1" dirty="0">
                <a:solidFill>
                  <a:srgbClr val="1C7293"/>
                </a:solidFill>
                <a:latin typeface="Calibri"/>
                <a:ea typeface="Calibri"/>
                <a:cs typeface="Calibri"/>
              </a:rPr>
              <a:t>Spatial </a:t>
            </a:r>
            <a:r>
              <a:rPr lang="en-US" sz="1600" b="1" dirty="0">
                <a:solidFill>
                  <a:srgbClr val="1C7293"/>
                </a:solidFill>
                <a:latin typeface="Calibri"/>
                <a:ea typeface="Calibri"/>
                <a:cs typeface="Calibri"/>
              </a:rPr>
              <a:t>references</a:t>
            </a:r>
            <a:endParaRPr sz="1600" b="1" dirty="0">
              <a:solidFill>
                <a:srgbClr val="1C7293"/>
              </a:solidFill>
              <a:latin typeface="Calibri"/>
              <a:ea typeface="Calibri"/>
              <a:cs typeface="Calibri"/>
            </a:endParaRPr>
          </a:p>
        </p:txBody>
      </p:sp>
      <p:sp>
        <p:nvSpPr>
          <p:cNvPr id="8" name="Text 6">
            <a:extLst>
              <a:ext uri="{FF2B5EF4-FFF2-40B4-BE49-F238E27FC236}">
                <a16:creationId xmlns:a16="http://schemas.microsoft.com/office/drawing/2014/main" id="{5F108F78-E933-45D3-8C78-828E8982E32A}"/>
              </a:ext>
            </a:extLst>
          </p:cNvPr>
          <p:cNvSpPr>
            <a:spLocks noGrp="1"/>
          </p:cNvSpPr>
          <p:nvPr/>
        </p:nvSpPr>
        <p:spPr>
          <a:xfrm>
            <a:off x="822960" y="2743200"/>
            <a:ext cx="4937760" cy="1005840"/>
          </a:xfrm>
          <a:prstGeom prst="rect">
            <a:avLst/>
          </a:prstGeom>
          <a:noFill/>
        </p:spPr>
        <p:txBody>
          <a:bodyPr wrap="square" lIns="0" tIns="0" rIns="0" bIns="0" anchor="t"/>
          <a:lstStyle/>
          <a:p>
            <a:pPr marL="0" indent="0">
              <a:lnSpc>
                <a:spcPct val="108000"/>
              </a:lnSpc>
              <a:buNone/>
            </a:pPr>
            <a:r>
              <a:rPr sz="1350">
                <a:solidFill>
                  <a:srgbClr val="1F2937"/>
                </a:solidFill>
                <a:latin typeface="Calibri"/>
                <a:ea typeface="Calibri"/>
                <a:cs typeface="Calibri"/>
              </a:rPr>
              <a:t>31% of turns used a demonstrative (“this one,” これ/それ) — a learner pointing at something absent. Spikes in shopping (32%) and open-ended scenes (35%).</a:t>
            </a:r>
          </a:p>
        </p:txBody>
      </p:sp>
      <p:sp>
        <p:nvSpPr>
          <p:cNvPr id="9" name="Shape 7">
            <a:extLst>
              <a:ext uri="{FF2B5EF4-FFF2-40B4-BE49-F238E27FC236}">
                <a16:creationId xmlns:a16="http://schemas.microsoft.com/office/drawing/2014/main" id="{1CD2EA29-0A4D-4A90-A764-E1B8CDD0415F}"/>
              </a:ext>
            </a:extLst>
          </p:cNvPr>
          <p:cNvSpPr>
            <a:spLocks noGrp="1"/>
          </p:cNvSpPr>
          <p:nvPr/>
        </p:nvSpPr>
        <p:spPr>
          <a:xfrm>
            <a:off x="6172200" y="2194560"/>
            <a:ext cx="5440680" cy="1645920"/>
          </a:xfrm>
          <a:prstGeom prst="roundRect">
            <a:avLst>
              <a:gd name="adj" fmla="val 4444"/>
            </a:avLst>
          </a:prstGeom>
          <a:solidFill>
            <a:srgbClr val="F1F5F9"/>
          </a:solidFill>
          <a:ln w="12700">
            <a:solidFill>
              <a:srgbClr val="D7DEE8"/>
            </a:solidFill>
            <a:prstDash val="solid"/>
          </a:ln>
        </p:spPr>
        <p:txBody>
          <a:bodyPr/>
          <a:lstStyle/>
          <a:p>
            <a:endParaRPr lang="en-US"/>
          </a:p>
        </p:txBody>
      </p:sp>
      <p:sp>
        <p:nvSpPr>
          <p:cNvPr id="10" name="Text 8">
            <a:extLst>
              <a:ext uri="{FF2B5EF4-FFF2-40B4-BE49-F238E27FC236}">
                <a16:creationId xmlns:a16="http://schemas.microsoft.com/office/drawing/2014/main" id="{7DF538DC-30F1-4ECB-9144-9E984986A277}"/>
              </a:ext>
            </a:extLst>
          </p:cNvPr>
          <p:cNvSpPr>
            <a:spLocks noGrp="1"/>
          </p:cNvSpPr>
          <p:nvPr/>
        </p:nvSpPr>
        <p:spPr>
          <a:xfrm>
            <a:off x="6446520" y="2359152"/>
            <a:ext cx="4937760" cy="365760"/>
          </a:xfrm>
          <a:prstGeom prst="rect">
            <a:avLst/>
          </a:prstGeom>
          <a:noFill/>
        </p:spPr>
        <p:txBody>
          <a:bodyPr wrap="square" lIns="0" tIns="0" rIns="0" bIns="0" anchor="ctr"/>
          <a:lstStyle/>
          <a:p>
            <a:pPr marL="0" indent="0">
              <a:buNone/>
            </a:pPr>
            <a:r>
              <a:rPr sz="1600" b="1">
                <a:solidFill>
                  <a:srgbClr val="1C7293"/>
                </a:solidFill>
                <a:latin typeface="Calibri"/>
                <a:ea typeface="Calibri"/>
                <a:cs typeface="Calibri"/>
              </a:rPr>
              <a:t>Narrated stage directions</a:t>
            </a:r>
          </a:p>
        </p:txBody>
      </p:sp>
      <p:sp>
        <p:nvSpPr>
          <p:cNvPr id="11" name="Text 9">
            <a:extLst>
              <a:ext uri="{FF2B5EF4-FFF2-40B4-BE49-F238E27FC236}">
                <a16:creationId xmlns:a16="http://schemas.microsoft.com/office/drawing/2014/main" id="{28A767DE-6BF1-42F6-BA22-CA00E2EC931E}"/>
              </a:ext>
            </a:extLst>
          </p:cNvPr>
          <p:cNvSpPr>
            <a:spLocks noGrp="1"/>
          </p:cNvSpPr>
          <p:nvPr/>
        </p:nvSpPr>
        <p:spPr>
          <a:xfrm>
            <a:off x="6446520" y="2743200"/>
            <a:ext cx="4937760" cy="1005840"/>
          </a:xfrm>
          <a:prstGeom prst="rect">
            <a:avLst/>
          </a:prstGeom>
          <a:noFill/>
        </p:spPr>
        <p:txBody>
          <a:bodyPr wrap="square" lIns="0" tIns="0" rIns="0" bIns="0" anchor="t"/>
          <a:lstStyle/>
          <a:p>
            <a:pPr marL="0" indent="0">
              <a:lnSpc>
                <a:spcPct val="108000"/>
              </a:lnSpc>
              <a:buNone/>
            </a:pPr>
            <a:r>
              <a:rPr sz="1350">
                <a:solidFill>
                  <a:srgbClr val="1F2937"/>
                </a:solidFill>
                <a:latin typeface="Calibri"/>
                <a:ea typeface="Calibri"/>
                <a:cs typeface="Calibri"/>
              </a:rPr>
              <a:t>Character turns already described physical objects and actions (“pulls out two jackets,” “withdraws the card”) — the text was simulating a 3D scene in prose.</a:t>
            </a:r>
          </a:p>
        </p:txBody>
      </p:sp>
      <p:sp>
        <p:nvSpPr>
          <p:cNvPr id="12" name="Text 10">
            <a:extLst>
              <a:ext uri="{FF2B5EF4-FFF2-40B4-BE49-F238E27FC236}">
                <a16:creationId xmlns:a16="http://schemas.microsoft.com/office/drawing/2014/main" id="{A38F0BE6-41C4-4F04-9AF8-3E3DFCC622FB}"/>
              </a:ext>
            </a:extLst>
          </p:cNvPr>
          <p:cNvSpPr>
            <a:spLocks noGrp="1"/>
          </p:cNvSpPr>
          <p:nvPr/>
        </p:nvSpPr>
        <p:spPr>
          <a:xfrm>
            <a:off x="548640" y="4160520"/>
            <a:ext cx="11064240" cy="1097280"/>
          </a:xfrm>
          <a:prstGeom prst="rect">
            <a:avLst/>
          </a:prstGeom>
          <a:noFill/>
        </p:spPr>
        <p:txBody>
          <a:bodyPr wrap="square" anchor="t"/>
          <a:lstStyle/>
          <a:p>
            <a:pPr marL="0" indent="0">
              <a:lnSpc>
                <a:spcPct val="112000"/>
              </a:lnSpc>
              <a:buNone/>
            </a:pPr>
            <a:r>
              <a:rPr sz="1450">
                <a:solidFill>
                  <a:srgbClr val="1F2937"/>
                </a:solidFill>
                <a:latin typeface="Calibri"/>
                <a:ea typeface="Calibri"/>
                <a:cs typeface="Calibri"/>
              </a:rPr>
              <a:t>Selected 9 scenarios that span all three contexts, exercise all five primitives, and include two deliberate stress cases (station, shrine). </a:t>
            </a:r>
            <a:r>
              <a:rPr sz="1450" b="1">
                <a:solidFill>
                  <a:srgbClr val="065A82"/>
                </a:solidFill>
                <a:latin typeface="Calibri"/>
                <a:ea typeface="Calibri"/>
                <a:cs typeface="Calibri"/>
              </a:rPr>
              <a:t>The evaluation then compares each card's demanded interactions against the generated plan.</a:t>
            </a:r>
          </a:p>
        </p:txBody>
      </p:sp>
    </p:spTree>
    <p:extLst>
      <p:ext uri="{BB962C8B-B14F-4D97-AF65-F5344CB8AC3E}">
        <p14:creationId xmlns:p14="http://schemas.microsoft.com/office/powerpoint/2010/main" val="875289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EC7A9DE-2A51-41EF-BD05-A25EE072E454}"/>
              </a:ext>
            </a:extLst>
          </p:cNvPr>
          <p:cNvSpPr>
            <a:spLocks noGrp="1"/>
          </p:cNvSpPr>
          <p:nvPr/>
        </p:nvSpPr>
        <p:spPr>
          <a:xfrm>
            <a:off x="548640" y="365760"/>
            <a:ext cx="10058400" cy="274320"/>
          </a:xfrm>
          <a:prstGeom prst="rect">
            <a:avLst/>
          </a:prstGeom>
          <a:noFill/>
        </p:spPr>
        <p:txBody>
          <a:bodyPr wrap="square" lIns="0" tIns="0" rIns="0" bIns="0" anchor="ctr"/>
          <a:lstStyle/>
          <a:p>
            <a:pPr marL="0" indent="0">
              <a:buNone/>
            </a:pPr>
            <a:r>
              <a:rPr sz="1200" b="1" spc="100">
                <a:solidFill>
                  <a:srgbClr val="1C7293"/>
                </a:solidFill>
                <a:latin typeface="Calibri"/>
                <a:ea typeface="Calibri"/>
                <a:cs typeface="Calibri"/>
              </a:rPr>
              <a:t>HOW WE BUILT IT  ·  SCENARIO CARD → GENERATED PLAN</a:t>
            </a:r>
          </a:p>
        </p:txBody>
      </p:sp>
      <p:sp>
        <p:nvSpPr>
          <p:cNvPr id="3" name="Text 1">
            <a:extLst>
              <a:ext uri="{FF2B5EF4-FFF2-40B4-BE49-F238E27FC236}">
                <a16:creationId xmlns:a16="http://schemas.microsoft.com/office/drawing/2014/main" id="{BA324927-2442-496D-AD4F-EFBA4B760AA1}"/>
              </a:ext>
            </a:extLst>
          </p:cNvPr>
          <p:cNvSpPr>
            <a:spLocks noGrp="1"/>
          </p:cNvSpPr>
          <p:nvPr/>
        </p:nvSpPr>
        <p:spPr>
          <a:xfrm>
            <a:off x="548640" y="640080"/>
            <a:ext cx="11064240" cy="548640"/>
          </a:xfrm>
          <a:prstGeom prst="rect">
            <a:avLst/>
          </a:prstGeom>
          <a:noFill/>
        </p:spPr>
        <p:txBody>
          <a:bodyPr wrap="square" lIns="0" tIns="0" rIns="0" bIns="0" anchor="ctr"/>
          <a:lstStyle/>
          <a:p>
            <a:pPr marL="0" indent="0">
              <a:buNone/>
            </a:pPr>
            <a:r>
              <a:rPr sz="2600" b="1">
                <a:solidFill>
                  <a:srgbClr val="1F2937"/>
                </a:solidFill>
                <a:latin typeface="Georgia"/>
                <a:ea typeface="Georgia"/>
                <a:cs typeface="Georgia"/>
              </a:rPr>
              <a:t>From a written scene to a typed, runnable plan</a:t>
            </a:r>
          </a:p>
        </p:txBody>
      </p:sp>
      <p:sp>
        <p:nvSpPr>
          <p:cNvPr id="4" name="Shape 2">
            <a:extLst>
              <a:ext uri="{FF2B5EF4-FFF2-40B4-BE49-F238E27FC236}">
                <a16:creationId xmlns:a16="http://schemas.microsoft.com/office/drawing/2014/main" id="{493815AE-B84A-4BA7-9E56-54E1A52DF1C7}"/>
              </a:ext>
            </a:extLst>
          </p:cNvPr>
          <p:cNvSpPr>
            <a:spLocks noGrp="1"/>
          </p:cNvSpPr>
          <p:nvPr/>
        </p:nvSpPr>
        <p:spPr>
          <a:xfrm>
            <a:off x="548640" y="1554480"/>
            <a:ext cx="1993392" cy="822960"/>
          </a:xfrm>
          <a:prstGeom prst="roundRect">
            <a:avLst>
              <a:gd name="adj" fmla="val 6667"/>
            </a:avLst>
          </a:prstGeom>
          <a:solidFill>
            <a:srgbClr val="6B7280"/>
          </a:solidFill>
        </p:spPr>
        <p:txBody>
          <a:bodyPr/>
          <a:lstStyle/>
          <a:p>
            <a:endParaRPr lang="en-US"/>
          </a:p>
        </p:txBody>
      </p:sp>
      <p:sp>
        <p:nvSpPr>
          <p:cNvPr id="5" name="Text 3">
            <a:extLst>
              <a:ext uri="{FF2B5EF4-FFF2-40B4-BE49-F238E27FC236}">
                <a16:creationId xmlns:a16="http://schemas.microsoft.com/office/drawing/2014/main" id="{FFEA7B73-F080-4009-A00F-E0DCA84086D1}"/>
              </a:ext>
            </a:extLst>
          </p:cNvPr>
          <p:cNvSpPr>
            <a:spLocks noGrp="1"/>
          </p:cNvSpPr>
          <p:nvPr/>
        </p:nvSpPr>
        <p:spPr>
          <a:xfrm>
            <a:off x="548640"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Scenario card</a:t>
            </a:r>
          </a:p>
        </p:txBody>
      </p:sp>
      <p:sp>
        <p:nvSpPr>
          <p:cNvPr id="6" name="Shape 4">
            <a:extLst>
              <a:ext uri="{FF2B5EF4-FFF2-40B4-BE49-F238E27FC236}">
                <a16:creationId xmlns:a16="http://schemas.microsoft.com/office/drawing/2014/main" id="{F7BD4FC5-8A60-44AE-BBD2-E66897A78B36}"/>
              </a:ext>
            </a:extLst>
          </p:cNvPr>
          <p:cNvSpPr>
            <a:spLocks noGrp="1"/>
          </p:cNvSpPr>
          <p:nvPr/>
        </p:nvSpPr>
        <p:spPr>
          <a:xfrm>
            <a:off x="2551176" y="1965960"/>
            <a:ext cx="146304" cy="0"/>
          </a:xfrm>
          <a:prstGeom prst="line">
            <a:avLst/>
          </a:prstGeom>
          <a:noFill/>
          <a:ln w="25400">
            <a:solidFill>
              <a:srgbClr val="6B7280"/>
            </a:solidFill>
            <a:prstDash val="solid"/>
          </a:ln>
        </p:spPr>
        <p:txBody>
          <a:bodyPr/>
          <a:lstStyle/>
          <a:p>
            <a:endParaRPr lang="en-US"/>
          </a:p>
        </p:txBody>
      </p:sp>
      <p:sp>
        <p:nvSpPr>
          <p:cNvPr id="7" name="Shape 5">
            <a:extLst>
              <a:ext uri="{FF2B5EF4-FFF2-40B4-BE49-F238E27FC236}">
                <a16:creationId xmlns:a16="http://schemas.microsoft.com/office/drawing/2014/main" id="{8A44E805-BABD-492C-BD42-A6DF6EA84C42}"/>
              </a:ext>
            </a:extLst>
          </p:cNvPr>
          <p:cNvSpPr>
            <a:spLocks noGrp="1"/>
          </p:cNvSpPr>
          <p:nvPr/>
        </p:nvSpPr>
        <p:spPr>
          <a:xfrm>
            <a:off x="2706624" y="1554480"/>
            <a:ext cx="1993392" cy="822960"/>
          </a:xfrm>
          <a:prstGeom prst="roundRect">
            <a:avLst>
              <a:gd name="adj" fmla="val 6667"/>
            </a:avLst>
          </a:prstGeom>
          <a:solidFill>
            <a:srgbClr val="065A82"/>
          </a:solidFill>
        </p:spPr>
        <p:txBody>
          <a:bodyPr/>
          <a:lstStyle/>
          <a:p>
            <a:endParaRPr lang="en-US"/>
          </a:p>
        </p:txBody>
      </p:sp>
      <p:sp>
        <p:nvSpPr>
          <p:cNvPr id="8" name="Text 6">
            <a:extLst>
              <a:ext uri="{FF2B5EF4-FFF2-40B4-BE49-F238E27FC236}">
                <a16:creationId xmlns:a16="http://schemas.microsoft.com/office/drawing/2014/main" id="{992807A3-8FED-4714-A66C-717C9F1E03C6}"/>
              </a:ext>
            </a:extLst>
          </p:cNvPr>
          <p:cNvSpPr>
            <a:spLocks noGrp="1"/>
          </p:cNvSpPr>
          <p:nvPr/>
        </p:nvSpPr>
        <p:spPr>
          <a:xfrm>
            <a:off x="2706624"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LLM → Objects</a:t>
            </a:r>
          </a:p>
        </p:txBody>
      </p:sp>
      <p:sp>
        <p:nvSpPr>
          <p:cNvPr id="9" name="Shape 7">
            <a:extLst>
              <a:ext uri="{FF2B5EF4-FFF2-40B4-BE49-F238E27FC236}">
                <a16:creationId xmlns:a16="http://schemas.microsoft.com/office/drawing/2014/main" id="{9012BFC3-EEC8-4BC5-B364-C6FFA7079A26}"/>
              </a:ext>
            </a:extLst>
          </p:cNvPr>
          <p:cNvSpPr>
            <a:spLocks noGrp="1"/>
          </p:cNvSpPr>
          <p:nvPr/>
        </p:nvSpPr>
        <p:spPr>
          <a:xfrm>
            <a:off x="4709160" y="1965960"/>
            <a:ext cx="146304" cy="0"/>
          </a:xfrm>
          <a:prstGeom prst="line">
            <a:avLst/>
          </a:prstGeom>
          <a:noFill/>
          <a:ln w="25400">
            <a:solidFill>
              <a:srgbClr val="6B7280"/>
            </a:solidFill>
            <a:prstDash val="solid"/>
          </a:ln>
        </p:spPr>
        <p:txBody>
          <a:bodyPr/>
          <a:lstStyle/>
          <a:p>
            <a:endParaRPr lang="en-US"/>
          </a:p>
        </p:txBody>
      </p:sp>
      <p:sp>
        <p:nvSpPr>
          <p:cNvPr id="10" name="Shape 8">
            <a:extLst>
              <a:ext uri="{FF2B5EF4-FFF2-40B4-BE49-F238E27FC236}">
                <a16:creationId xmlns:a16="http://schemas.microsoft.com/office/drawing/2014/main" id="{390E0CA2-AF85-40CB-8323-DCE3D6CCC925}"/>
              </a:ext>
            </a:extLst>
          </p:cNvPr>
          <p:cNvSpPr>
            <a:spLocks noGrp="1"/>
          </p:cNvSpPr>
          <p:nvPr/>
        </p:nvSpPr>
        <p:spPr>
          <a:xfrm>
            <a:off x="4864608" y="1554480"/>
            <a:ext cx="1993392" cy="822960"/>
          </a:xfrm>
          <a:prstGeom prst="roundRect">
            <a:avLst>
              <a:gd name="adj" fmla="val 6667"/>
            </a:avLst>
          </a:prstGeom>
          <a:solidFill>
            <a:srgbClr val="065A82"/>
          </a:solidFill>
        </p:spPr>
        <p:txBody>
          <a:bodyPr/>
          <a:lstStyle/>
          <a:p>
            <a:endParaRPr lang="en-US"/>
          </a:p>
        </p:txBody>
      </p:sp>
      <p:sp>
        <p:nvSpPr>
          <p:cNvPr id="11" name="Text 9">
            <a:extLst>
              <a:ext uri="{FF2B5EF4-FFF2-40B4-BE49-F238E27FC236}">
                <a16:creationId xmlns:a16="http://schemas.microsoft.com/office/drawing/2014/main" id="{439DEE48-8247-433B-AF81-2B9B6A5C39E7}"/>
              </a:ext>
            </a:extLst>
          </p:cNvPr>
          <p:cNvSpPr>
            <a:spLocks noGrp="1"/>
          </p:cNvSpPr>
          <p:nvPr/>
        </p:nvSpPr>
        <p:spPr>
          <a:xfrm>
            <a:off x="4864608"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LLM → Tasks</a:t>
            </a:r>
          </a:p>
        </p:txBody>
      </p:sp>
      <p:sp>
        <p:nvSpPr>
          <p:cNvPr id="12" name="Shape 10">
            <a:extLst>
              <a:ext uri="{FF2B5EF4-FFF2-40B4-BE49-F238E27FC236}">
                <a16:creationId xmlns:a16="http://schemas.microsoft.com/office/drawing/2014/main" id="{CA8BF91A-F6F1-4373-A681-1E14A9A9C22C}"/>
              </a:ext>
            </a:extLst>
          </p:cNvPr>
          <p:cNvSpPr>
            <a:spLocks noGrp="1"/>
          </p:cNvSpPr>
          <p:nvPr/>
        </p:nvSpPr>
        <p:spPr>
          <a:xfrm>
            <a:off x="6867144" y="1965960"/>
            <a:ext cx="146304" cy="0"/>
          </a:xfrm>
          <a:prstGeom prst="line">
            <a:avLst/>
          </a:prstGeom>
          <a:noFill/>
          <a:ln w="25400">
            <a:solidFill>
              <a:srgbClr val="6B7280"/>
            </a:solidFill>
            <a:prstDash val="solid"/>
          </a:ln>
        </p:spPr>
        <p:txBody>
          <a:bodyPr/>
          <a:lstStyle/>
          <a:p>
            <a:endParaRPr lang="en-US"/>
          </a:p>
        </p:txBody>
      </p:sp>
      <p:sp>
        <p:nvSpPr>
          <p:cNvPr id="13" name="Shape 11">
            <a:extLst>
              <a:ext uri="{FF2B5EF4-FFF2-40B4-BE49-F238E27FC236}">
                <a16:creationId xmlns:a16="http://schemas.microsoft.com/office/drawing/2014/main" id="{568E9982-CC93-4DE4-B8D9-5F6308D538EF}"/>
              </a:ext>
            </a:extLst>
          </p:cNvPr>
          <p:cNvSpPr>
            <a:spLocks noGrp="1"/>
          </p:cNvSpPr>
          <p:nvPr/>
        </p:nvSpPr>
        <p:spPr>
          <a:xfrm>
            <a:off x="7022592" y="1554480"/>
            <a:ext cx="1993392" cy="822960"/>
          </a:xfrm>
          <a:prstGeom prst="roundRect">
            <a:avLst>
              <a:gd name="adj" fmla="val 6667"/>
            </a:avLst>
          </a:prstGeom>
          <a:solidFill>
            <a:srgbClr val="1C7293"/>
          </a:solidFill>
        </p:spPr>
        <p:txBody>
          <a:bodyPr/>
          <a:lstStyle/>
          <a:p>
            <a:endParaRPr lang="en-US"/>
          </a:p>
        </p:txBody>
      </p:sp>
      <p:sp>
        <p:nvSpPr>
          <p:cNvPr id="14" name="Text 12">
            <a:extLst>
              <a:ext uri="{FF2B5EF4-FFF2-40B4-BE49-F238E27FC236}">
                <a16:creationId xmlns:a16="http://schemas.microsoft.com/office/drawing/2014/main" id="{1593A504-6512-4CF5-A0BD-F485B49B051F}"/>
              </a:ext>
            </a:extLst>
          </p:cNvPr>
          <p:cNvSpPr>
            <a:spLocks noGrp="1"/>
          </p:cNvSpPr>
          <p:nvPr/>
        </p:nvSpPr>
        <p:spPr>
          <a:xfrm>
            <a:off x="7022592"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Validate</a:t>
            </a:r>
          </a:p>
        </p:txBody>
      </p:sp>
      <p:sp>
        <p:nvSpPr>
          <p:cNvPr id="15" name="Shape 13">
            <a:extLst>
              <a:ext uri="{FF2B5EF4-FFF2-40B4-BE49-F238E27FC236}">
                <a16:creationId xmlns:a16="http://schemas.microsoft.com/office/drawing/2014/main" id="{B2BDD570-FC2A-4381-B1F4-49F75AD3B452}"/>
              </a:ext>
            </a:extLst>
          </p:cNvPr>
          <p:cNvSpPr>
            <a:spLocks noGrp="1"/>
          </p:cNvSpPr>
          <p:nvPr/>
        </p:nvSpPr>
        <p:spPr>
          <a:xfrm>
            <a:off x="9025128" y="1965960"/>
            <a:ext cx="146304" cy="0"/>
          </a:xfrm>
          <a:prstGeom prst="line">
            <a:avLst/>
          </a:prstGeom>
          <a:noFill/>
          <a:ln w="25400">
            <a:solidFill>
              <a:srgbClr val="6B7280"/>
            </a:solidFill>
            <a:prstDash val="solid"/>
          </a:ln>
        </p:spPr>
        <p:txBody>
          <a:bodyPr/>
          <a:lstStyle/>
          <a:p>
            <a:endParaRPr lang="en-US"/>
          </a:p>
        </p:txBody>
      </p:sp>
      <p:sp>
        <p:nvSpPr>
          <p:cNvPr id="16" name="Shape 14">
            <a:extLst>
              <a:ext uri="{FF2B5EF4-FFF2-40B4-BE49-F238E27FC236}">
                <a16:creationId xmlns:a16="http://schemas.microsoft.com/office/drawing/2014/main" id="{F5CE5A09-9484-4041-A32D-2C8B229D77C5}"/>
              </a:ext>
            </a:extLst>
          </p:cNvPr>
          <p:cNvSpPr>
            <a:spLocks noGrp="1"/>
          </p:cNvSpPr>
          <p:nvPr/>
        </p:nvSpPr>
        <p:spPr>
          <a:xfrm>
            <a:off x="9180576" y="1554480"/>
            <a:ext cx="1993392" cy="822960"/>
          </a:xfrm>
          <a:prstGeom prst="roundRect">
            <a:avLst>
              <a:gd name="adj" fmla="val 6667"/>
            </a:avLst>
          </a:prstGeom>
          <a:solidFill>
            <a:srgbClr val="2C5F2D"/>
          </a:solidFill>
        </p:spPr>
        <p:txBody>
          <a:bodyPr/>
          <a:lstStyle/>
          <a:p>
            <a:endParaRPr lang="en-US"/>
          </a:p>
        </p:txBody>
      </p:sp>
      <p:sp>
        <p:nvSpPr>
          <p:cNvPr id="17" name="Text 15">
            <a:extLst>
              <a:ext uri="{FF2B5EF4-FFF2-40B4-BE49-F238E27FC236}">
                <a16:creationId xmlns:a16="http://schemas.microsoft.com/office/drawing/2014/main" id="{34E17CCA-CC82-4BD5-977E-1D06AD8353AB}"/>
              </a:ext>
            </a:extLst>
          </p:cNvPr>
          <p:cNvSpPr>
            <a:spLocks noGrp="1"/>
          </p:cNvSpPr>
          <p:nvPr/>
        </p:nvSpPr>
        <p:spPr>
          <a:xfrm>
            <a:off x="9180576"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Typed plan</a:t>
            </a:r>
          </a:p>
        </p:txBody>
      </p:sp>
      <p:sp>
        <p:nvSpPr>
          <p:cNvPr id="18" name="Text 16">
            <a:extLst>
              <a:ext uri="{FF2B5EF4-FFF2-40B4-BE49-F238E27FC236}">
                <a16:creationId xmlns:a16="http://schemas.microsoft.com/office/drawing/2014/main" id="{8D5EDA5D-BA49-433F-9C58-3CB2B25D1F8A}"/>
              </a:ext>
            </a:extLst>
          </p:cNvPr>
          <p:cNvSpPr>
            <a:spLocks noGrp="1"/>
          </p:cNvSpPr>
          <p:nvPr/>
        </p:nvSpPr>
        <p:spPr>
          <a:xfrm>
            <a:off x="548640" y="2834640"/>
            <a:ext cx="10972800" cy="310896"/>
          </a:xfrm>
          <a:prstGeom prst="rect">
            <a:avLst/>
          </a:prstGeom>
          <a:noFill/>
        </p:spPr>
        <p:txBody>
          <a:bodyPr wrap="square" lIns="0" tIns="0" rIns="0" bIns="0" anchor="ctr"/>
          <a:lstStyle/>
          <a:p>
            <a:pPr marL="0" indent="0">
              <a:buNone/>
            </a:pPr>
            <a:r>
              <a:rPr sz="1500" b="1">
                <a:solidFill>
                  <a:srgbClr val="065A82"/>
                </a:solidFill>
                <a:latin typeface="Calibri"/>
                <a:ea typeface="Calibri"/>
                <a:cs typeface="Calibri"/>
              </a:rPr>
              <a:t>Two structured-output LLM calls</a:t>
            </a:r>
          </a:p>
        </p:txBody>
      </p:sp>
      <p:sp>
        <p:nvSpPr>
          <p:cNvPr id="19" name="Text 17">
            <a:extLst>
              <a:ext uri="{FF2B5EF4-FFF2-40B4-BE49-F238E27FC236}">
                <a16:creationId xmlns:a16="http://schemas.microsoft.com/office/drawing/2014/main" id="{90C38883-5CD3-43CE-A388-31F2FCA3544D}"/>
              </a:ext>
            </a:extLst>
          </p:cNvPr>
          <p:cNvSpPr>
            <a:spLocks noGrp="1"/>
          </p:cNvSpPr>
          <p:nvPr/>
        </p:nvSpPr>
        <p:spPr>
          <a:xfrm>
            <a:off x="548640" y="3145536"/>
            <a:ext cx="10972800" cy="777240"/>
          </a:xfrm>
          <a:prstGeom prst="rect">
            <a:avLst/>
          </a:prstGeom>
          <a:noFill/>
        </p:spPr>
        <p:txBody>
          <a:bodyPr wrap="square" lIns="0" tIns="0" rIns="0" bIns="0" anchor="t"/>
          <a:lstStyle/>
          <a:p>
            <a:pPr marL="0" indent="0">
              <a:lnSpc>
                <a:spcPct val="108000"/>
              </a:lnSpc>
              <a:buNone/>
            </a:pPr>
            <a:r>
              <a:rPr sz="1400">
                <a:solidFill>
                  <a:srgbClr val="1F2937"/>
                </a:solidFill>
                <a:latin typeface="Calibri"/>
                <a:ea typeface="Calibri"/>
                <a:cs typeface="Calibri"/>
              </a:rPr>
              <a:t>First the objects (typed specs constrained to supported kinds), then the tasks — mapping the card's natural interactions onto the five primitives.</a:t>
            </a:r>
          </a:p>
        </p:txBody>
      </p:sp>
      <p:sp>
        <p:nvSpPr>
          <p:cNvPr id="20" name="Text 18">
            <a:extLst>
              <a:ext uri="{FF2B5EF4-FFF2-40B4-BE49-F238E27FC236}">
                <a16:creationId xmlns:a16="http://schemas.microsoft.com/office/drawing/2014/main" id="{0426469E-3DD0-40E3-97DF-A8443874936F}"/>
              </a:ext>
            </a:extLst>
          </p:cNvPr>
          <p:cNvSpPr>
            <a:spLocks noGrp="1"/>
          </p:cNvSpPr>
          <p:nvPr/>
        </p:nvSpPr>
        <p:spPr>
          <a:xfrm>
            <a:off x="548640" y="4041648"/>
            <a:ext cx="10972800" cy="310896"/>
          </a:xfrm>
          <a:prstGeom prst="rect">
            <a:avLst/>
          </a:prstGeom>
          <a:noFill/>
        </p:spPr>
        <p:txBody>
          <a:bodyPr wrap="square" lIns="0" tIns="0" rIns="0" bIns="0" anchor="ctr"/>
          <a:lstStyle/>
          <a:p>
            <a:pPr marL="0" indent="0">
              <a:buNone/>
            </a:pPr>
            <a:r>
              <a:rPr sz="1500" b="1">
                <a:solidFill>
                  <a:srgbClr val="065A82"/>
                </a:solidFill>
                <a:latin typeface="Calibri"/>
                <a:ea typeface="Calibri"/>
                <a:cs typeface="Calibri"/>
              </a:rPr>
              <a:t>Typed, not code</a:t>
            </a:r>
          </a:p>
        </p:txBody>
      </p:sp>
      <p:sp>
        <p:nvSpPr>
          <p:cNvPr id="21" name="Text 19">
            <a:extLst>
              <a:ext uri="{FF2B5EF4-FFF2-40B4-BE49-F238E27FC236}">
                <a16:creationId xmlns:a16="http://schemas.microsoft.com/office/drawing/2014/main" id="{BFB005FE-8A11-436A-B3F9-E8B249636924}"/>
              </a:ext>
            </a:extLst>
          </p:cNvPr>
          <p:cNvSpPr>
            <a:spLocks noGrp="1"/>
          </p:cNvSpPr>
          <p:nvPr/>
        </p:nvSpPr>
        <p:spPr>
          <a:xfrm>
            <a:off x="548640" y="4352544"/>
            <a:ext cx="10972800" cy="777240"/>
          </a:xfrm>
          <a:prstGeom prst="rect">
            <a:avLst/>
          </a:prstGeom>
          <a:noFill/>
        </p:spPr>
        <p:txBody>
          <a:bodyPr wrap="square" lIns="0" tIns="0" rIns="0" bIns="0" anchor="t"/>
          <a:lstStyle/>
          <a:p>
            <a:pPr marL="0" indent="0">
              <a:lnSpc>
                <a:spcPct val="108000"/>
              </a:lnSpc>
              <a:buNone/>
            </a:pPr>
            <a:r>
              <a:rPr sz="1400">
                <a:solidFill>
                  <a:srgbClr val="1F2937"/>
                </a:solidFill>
                <a:latin typeface="Calibri"/>
                <a:ea typeface="Calibri"/>
                <a:cs typeface="Calibri"/>
              </a:rPr>
              <a:t>Apple blocks runtime code generation, so we generate a validatable plan, not behavior code. That makes the output checkable and guaranteed runnable.</a:t>
            </a:r>
          </a:p>
        </p:txBody>
      </p:sp>
      <p:sp>
        <p:nvSpPr>
          <p:cNvPr id="22" name="Text 20">
            <a:extLst>
              <a:ext uri="{FF2B5EF4-FFF2-40B4-BE49-F238E27FC236}">
                <a16:creationId xmlns:a16="http://schemas.microsoft.com/office/drawing/2014/main" id="{D644D3AA-9492-4D4E-AAF0-0D4237BB328D}"/>
              </a:ext>
            </a:extLst>
          </p:cNvPr>
          <p:cNvSpPr>
            <a:spLocks noGrp="1"/>
          </p:cNvSpPr>
          <p:nvPr/>
        </p:nvSpPr>
        <p:spPr>
          <a:xfrm>
            <a:off x="548640" y="5248656"/>
            <a:ext cx="10972800" cy="310896"/>
          </a:xfrm>
          <a:prstGeom prst="rect">
            <a:avLst/>
          </a:prstGeom>
          <a:noFill/>
        </p:spPr>
        <p:txBody>
          <a:bodyPr wrap="square" lIns="0" tIns="0" rIns="0" bIns="0" anchor="ctr"/>
          <a:lstStyle/>
          <a:p>
            <a:pPr marL="0" indent="0">
              <a:buNone/>
            </a:pPr>
            <a:r>
              <a:rPr sz="1500" b="1">
                <a:solidFill>
                  <a:srgbClr val="065A82"/>
                </a:solidFill>
                <a:latin typeface="Calibri"/>
                <a:ea typeface="Calibri"/>
                <a:cs typeface="Calibri"/>
              </a:rPr>
              <a:t>Reliability strategy</a:t>
            </a:r>
          </a:p>
        </p:txBody>
      </p:sp>
      <p:sp>
        <p:nvSpPr>
          <p:cNvPr id="23" name="Text 21">
            <a:extLst>
              <a:ext uri="{FF2B5EF4-FFF2-40B4-BE49-F238E27FC236}">
                <a16:creationId xmlns:a16="http://schemas.microsoft.com/office/drawing/2014/main" id="{BAECDEB5-1E79-4CB0-986F-8593D13C4BBF}"/>
              </a:ext>
            </a:extLst>
          </p:cNvPr>
          <p:cNvSpPr>
            <a:spLocks noGrp="1"/>
          </p:cNvSpPr>
          <p:nvPr/>
        </p:nvSpPr>
        <p:spPr>
          <a:xfrm>
            <a:off x="548640" y="5559552"/>
            <a:ext cx="10972800" cy="777240"/>
          </a:xfrm>
          <a:prstGeom prst="rect">
            <a:avLst/>
          </a:prstGeom>
          <a:noFill/>
        </p:spPr>
        <p:txBody>
          <a:bodyPr wrap="square" lIns="0" tIns="0" rIns="0" bIns="0" anchor="t"/>
          <a:lstStyle/>
          <a:p>
            <a:pPr marL="0" indent="0">
              <a:lnSpc>
                <a:spcPct val="108000"/>
              </a:lnSpc>
              <a:buNone/>
            </a:pPr>
            <a:r>
              <a:rPr sz="1400">
                <a:solidFill>
                  <a:srgbClr val="1F2937"/>
                </a:solidFill>
                <a:latin typeface="Calibri"/>
                <a:ea typeface="Calibri"/>
                <a:cs typeface="Calibri"/>
              </a:rPr>
              <a:t>Structured output is flaky — we retry up to 3×, validate structure (duplicate IDs, dangling refs, unsupported primitives), and log a failure as data rather than crashing.</a:t>
            </a:r>
          </a:p>
        </p:txBody>
      </p:sp>
      <p:sp>
        <p:nvSpPr>
          <p:cNvPr id="24" name="Rectangle 23">
            <a:extLst>
              <a:ext uri="{FF2B5EF4-FFF2-40B4-BE49-F238E27FC236}">
                <a16:creationId xmlns:a16="http://schemas.microsoft.com/office/drawing/2014/main" id="{787A2D4E-4C87-410C-BB0C-4DFF89082CE7}"/>
              </a:ext>
            </a:extLst>
          </p:cNvPr>
          <p:cNvSpPr>
            <a:spLocks noGrp="1"/>
          </p:cNvSpPr>
          <p:nvPr/>
        </p:nvSpPr>
        <p:spPr>
          <a:xfrm>
            <a:off x="3544" y="266700"/>
            <a:ext cx="12192000" cy="6858000"/>
          </a:xfrm>
          <a:prstGeom prst="rect">
            <a:avLst/>
          </a:prstGeom>
          <a:solidFill>
            <a:srgbClr val="FFFFFF"/>
          </a:solidFill>
          <a:ln w="0">
            <a:solidFill>
              <a:srgbClr val="FFFFFF"/>
            </a:solidFill>
            <a:prstDash val="solid"/>
          </a:ln>
        </p:spPr>
        <p:txBody>
          <a:bodyPr/>
          <a:lstStyle/>
          <a:p>
            <a:endParaRPr lang="en-US"/>
          </a:p>
        </p:txBody>
      </p:sp>
      <p:sp>
        <p:nvSpPr>
          <p:cNvPr id="25" name="Rectangle 24">
            <a:extLst>
              <a:ext uri="{FF2B5EF4-FFF2-40B4-BE49-F238E27FC236}">
                <a16:creationId xmlns:a16="http://schemas.microsoft.com/office/drawing/2014/main" id="{C9196BE5-3413-48EF-AA90-384CD75D7676}"/>
              </a:ext>
            </a:extLst>
          </p:cNvPr>
          <p:cNvSpPr>
            <a:spLocks noGrp="1"/>
          </p:cNvSpPr>
          <p:nvPr/>
        </p:nvSpPr>
        <p:spPr>
          <a:xfrm>
            <a:off x="542925" y="447675"/>
            <a:ext cx="6667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0E7490"/>
                </a:solidFill>
                <a:latin typeface="Aptos"/>
                <a:ea typeface="Aptos"/>
                <a:cs typeface="Aptos"/>
              </a:defRPr>
            </a:pPr>
            <a:r>
              <a:rPr sz="1200" b="1">
                <a:solidFill>
                  <a:srgbClr val="0E7490"/>
                </a:solidFill>
                <a:latin typeface="Aptos"/>
                <a:ea typeface="Aptos"/>
                <a:cs typeface="Aptos"/>
              </a:rPr>
              <a:t>HOW WE BUILT IT  ·  SCENARIO CARD → GENERATED PLAN</a:t>
            </a:r>
          </a:p>
        </p:txBody>
      </p:sp>
      <p:sp>
        <p:nvSpPr>
          <p:cNvPr id="26" name="Rectangle 25">
            <a:extLst>
              <a:ext uri="{FF2B5EF4-FFF2-40B4-BE49-F238E27FC236}">
                <a16:creationId xmlns:a16="http://schemas.microsoft.com/office/drawing/2014/main" id="{F5A286A1-5F1D-4686-9841-556DF398E7B9}"/>
              </a:ext>
            </a:extLst>
          </p:cNvPr>
          <p:cNvSpPr>
            <a:spLocks noGrp="1"/>
          </p:cNvSpPr>
          <p:nvPr/>
        </p:nvSpPr>
        <p:spPr>
          <a:xfrm>
            <a:off x="542925" y="781050"/>
            <a:ext cx="10477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550" b="1">
                <a:solidFill>
                  <a:srgbClr val="1F2937"/>
                </a:solidFill>
                <a:latin typeface="Georgia"/>
                <a:ea typeface="Georgia"/>
                <a:cs typeface="Georgia"/>
              </a:defRPr>
            </a:pPr>
            <a:r>
              <a:rPr sz="2550" b="1" dirty="0">
                <a:solidFill>
                  <a:srgbClr val="1F2937"/>
                </a:solidFill>
                <a:latin typeface="Georgia"/>
                <a:ea typeface="Georgia"/>
                <a:cs typeface="Georgia"/>
              </a:rPr>
              <a:t>Written roleplay → typed, runnable plan</a:t>
            </a:r>
          </a:p>
        </p:txBody>
      </p:sp>
      <p:sp>
        <p:nvSpPr>
          <p:cNvPr id="27" name="Rectangle 26">
            <a:extLst>
              <a:ext uri="{FF2B5EF4-FFF2-40B4-BE49-F238E27FC236}">
                <a16:creationId xmlns:a16="http://schemas.microsoft.com/office/drawing/2014/main" id="{2B4A20DC-DBFD-47C5-B099-E1F75C806B21}"/>
              </a:ext>
            </a:extLst>
          </p:cNvPr>
          <p:cNvSpPr>
            <a:spLocks noGrp="1"/>
          </p:cNvSpPr>
          <p:nvPr/>
        </p:nvSpPr>
        <p:spPr>
          <a:xfrm>
            <a:off x="542925" y="1304925"/>
            <a:ext cx="1047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38" b="0">
                <a:solidFill>
                  <a:srgbClr val="667085"/>
                </a:solidFill>
                <a:latin typeface="Aptos"/>
                <a:ea typeface="Aptos"/>
                <a:cs typeface="Aptos"/>
              </a:defRPr>
            </a:pPr>
            <a:r>
              <a:rPr sz="1238" b="0">
                <a:solidFill>
                  <a:srgbClr val="667085"/>
                </a:solidFill>
                <a:latin typeface="Aptos"/>
                <a:ea typeface="Aptos"/>
                <a:cs typeface="Aptos"/>
              </a:rPr>
              <a:t>Real exported example: cafe_paying_check. The LLM output is constrained into objects plus primitive tasks over those object ids.</a:t>
            </a:r>
          </a:p>
        </p:txBody>
      </p:sp>
      <p:sp>
        <p:nvSpPr>
          <p:cNvPr id="28" name="Rectangle 27">
            <a:extLst>
              <a:ext uri="{FF2B5EF4-FFF2-40B4-BE49-F238E27FC236}">
                <a16:creationId xmlns:a16="http://schemas.microsoft.com/office/drawing/2014/main" id="{5C741651-E7F2-4C8C-AA8E-B3CFB2A31226}"/>
              </a:ext>
            </a:extLst>
          </p:cNvPr>
          <p:cNvSpPr>
            <a:spLocks noGrp="1"/>
          </p:cNvSpPr>
          <p:nvPr/>
        </p:nvSpPr>
        <p:spPr>
          <a:xfrm>
            <a:off x="542925" y="1809750"/>
            <a:ext cx="5000625" cy="3476625"/>
          </a:xfrm>
          <a:prstGeom prst="rect">
            <a:avLst/>
          </a:prstGeom>
          <a:solidFill>
            <a:srgbClr val="EEF4F9"/>
          </a:solidFill>
          <a:ln w="9525">
            <a:solidFill>
              <a:srgbClr val="D6DEE8"/>
            </a:solidFill>
            <a:prstDash val="solid"/>
          </a:ln>
        </p:spPr>
        <p:txBody>
          <a:bodyPr/>
          <a:lstStyle/>
          <a:p>
            <a:endParaRPr lang="en-US"/>
          </a:p>
        </p:txBody>
      </p:sp>
      <p:sp>
        <p:nvSpPr>
          <p:cNvPr id="29" name="Rectangle 28">
            <a:extLst>
              <a:ext uri="{FF2B5EF4-FFF2-40B4-BE49-F238E27FC236}">
                <a16:creationId xmlns:a16="http://schemas.microsoft.com/office/drawing/2014/main" id="{119FD97C-79B2-45AC-83FC-C8BB3C7A5DD4}"/>
              </a:ext>
            </a:extLst>
          </p:cNvPr>
          <p:cNvSpPr>
            <a:spLocks noGrp="1"/>
          </p:cNvSpPr>
          <p:nvPr/>
        </p:nvSpPr>
        <p:spPr>
          <a:xfrm>
            <a:off x="781050" y="2076450"/>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E7490"/>
                </a:solidFill>
                <a:latin typeface="Aptos"/>
                <a:ea typeface="Aptos"/>
                <a:cs typeface="Aptos"/>
              </a:defRPr>
            </a:pPr>
            <a:r>
              <a:rPr sz="1650" b="1">
                <a:solidFill>
                  <a:srgbClr val="0E7490"/>
                </a:solidFill>
                <a:latin typeface="Aptos"/>
                <a:ea typeface="Aptos"/>
                <a:cs typeface="Aptos"/>
              </a:rPr>
              <a:t>Written ScenarioCard</a:t>
            </a:r>
          </a:p>
        </p:txBody>
      </p:sp>
      <p:sp>
        <p:nvSpPr>
          <p:cNvPr id="30" name="Rectangle 29">
            <a:extLst>
              <a:ext uri="{FF2B5EF4-FFF2-40B4-BE49-F238E27FC236}">
                <a16:creationId xmlns:a16="http://schemas.microsoft.com/office/drawing/2014/main" id="{161020D6-7E8B-446B-A362-52302BBDDEB1}"/>
              </a:ext>
            </a:extLst>
          </p:cNvPr>
          <p:cNvSpPr>
            <a:spLocks noGrp="1"/>
          </p:cNvSpPr>
          <p:nvPr/>
        </p:nvSpPr>
        <p:spPr>
          <a:xfrm>
            <a:off x="781050" y="2457450"/>
            <a:ext cx="4476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350" b="1">
                <a:solidFill>
                  <a:srgbClr val="1F2937"/>
                </a:solidFill>
                <a:latin typeface="Aptos"/>
                <a:ea typeface="Aptos"/>
                <a:cs typeface="Aptos"/>
              </a:defRPr>
            </a:pPr>
            <a:r>
              <a:rPr sz="1350" b="1">
                <a:solidFill>
                  <a:srgbClr val="1F2937"/>
                </a:solidFill>
                <a:latin typeface="Aptos"/>
                <a:ea typeface="Aptos"/>
                <a:cs typeface="Aptos"/>
              </a:rPr>
              <a:t>Cafe counter at the end of a meal</a:t>
            </a:r>
          </a:p>
        </p:txBody>
      </p:sp>
      <p:sp>
        <p:nvSpPr>
          <p:cNvPr id="31" name="Rectangle 30">
            <a:extLst>
              <a:ext uri="{FF2B5EF4-FFF2-40B4-BE49-F238E27FC236}">
                <a16:creationId xmlns:a16="http://schemas.microsoft.com/office/drawing/2014/main" id="{6E657361-E840-40D9-AC9B-7BF9FBB4D15E}"/>
              </a:ext>
            </a:extLst>
          </p:cNvPr>
          <p:cNvSpPr>
            <a:spLocks noGrp="1"/>
          </p:cNvSpPr>
          <p:nvPr/>
        </p:nvSpPr>
        <p:spPr>
          <a:xfrm>
            <a:off x="781050" y="2762250"/>
            <a:ext cx="4476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0">
                <a:solidFill>
                  <a:srgbClr val="374151"/>
                </a:solidFill>
                <a:latin typeface="Aptos"/>
                <a:ea typeface="Aptos"/>
                <a:cs typeface="Aptos"/>
              </a:defRPr>
            </a:pPr>
            <a:r>
              <a:rPr sz="1200" b="0">
                <a:solidFill>
                  <a:srgbClr val="374151"/>
                </a:solidFill>
                <a:latin typeface="Aptos"/>
                <a:ea typeface="Aptos"/>
                <a:cs typeface="Aptos"/>
              </a:rPr>
              <a:t>Goal: Pay the check and collect your receipt</a:t>
            </a:r>
          </a:p>
        </p:txBody>
      </p:sp>
      <p:sp>
        <p:nvSpPr>
          <p:cNvPr id="32" name="Rectangle 31">
            <a:extLst>
              <a:ext uri="{FF2B5EF4-FFF2-40B4-BE49-F238E27FC236}">
                <a16:creationId xmlns:a16="http://schemas.microsoft.com/office/drawing/2014/main" id="{DC0EB540-881F-46FA-BCA1-7CE919AF0FAD}"/>
              </a:ext>
            </a:extLst>
          </p:cNvPr>
          <p:cNvSpPr>
            <a:spLocks noGrp="1"/>
          </p:cNvSpPr>
          <p:nvPr/>
        </p:nvSpPr>
        <p:spPr>
          <a:xfrm>
            <a:off x="781050" y="3238500"/>
            <a:ext cx="4476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Aptos"/>
                <a:ea typeface="Aptos"/>
                <a:cs typeface="Aptos"/>
              </a:defRPr>
            </a:pPr>
            <a:r>
              <a:rPr sz="1200" b="1">
                <a:solidFill>
                  <a:srgbClr val="1F2937"/>
                </a:solidFill>
                <a:latin typeface="Aptos"/>
                <a:ea typeface="Aptos"/>
                <a:cs typeface="Aptos"/>
              </a:rPr>
              <a:t>Target interactions</a:t>
            </a:r>
          </a:p>
        </p:txBody>
      </p:sp>
      <p:sp>
        <p:nvSpPr>
          <p:cNvPr id="33" name="Rectangle 32">
            <a:extLst>
              <a:ext uri="{FF2B5EF4-FFF2-40B4-BE49-F238E27FC236}">
                <a16:creationId xmlns:a16="http://schemas.microsoft.com/office/drawing/2014/main" id="{933BF534-4F85-4722-A8E0-D379A8F6A72C}"/>
              </a:ext>
            </a:extLst>
          </p:cNvPr>
          <p:cNvSpPr>
            <a:spLocks noGrp="1"/>
          </p:cNvSpPr>
          <p:nvPr/>
        </p:nvSpPr>
        <p:spPr>
          <a:xfrm>
            <a:off x="876300" y="3571875"/>
            <a:ext cx="28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E7490"/>
                </a:solidFill>
                <a:latin typeface="Aptos"/>
                <a:ea typeface="Aptos"/>
                <a:cs typeface="Aptos"/>
              </a:defRPr>
            </a:pPr>
            <a:r>
              <a:rPr sz="1125" b="1">
                <a:solidFill>
                  <a:srgbClr val="0E7490"/>
                </a:solidFill>
                <a:latin typeface="Aptos"/>
                <a:ea typeface="Aptos"/>
                <a:cs typeface="Aptos"/>
              </a:rPr>
              <a:t>1.</a:t>
            </a:r>
          </a:p>
        </p:txBody>
      </p:sp>
      <p:sp>
        <p:nvSpPr>
          <p:cNvPr id="34" name="Rectangle 33">
            <a:extLst>
              <a:ext uri="{FF2B5EF4-FFF2-40B4-BE49-F238E27FC236}">
                <a16:creationId xmlns:a16="http://schemas.microsoft.com/office/drawing/2014/main" id="{B157FE4F-893D-4A0D-B3FD-7721C14D280F}"/>
              </a:ext>
            </a:extLst>
          </p:cNvPr>
          <p:cNvSpPr>
            <a:spLocks noGrp="1"/>
          </p:cNvSpPr>
          <p:nvPr/>
        </p:nvSpPr>
        <p:spPr>
          <a:xfrm>
            <a:off x="1181100" y="3571875"/>
            <a:ext cx="3905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374151"/>
                </a:solidFill>
                <a:latin typeface="Aptos"/>
                <a:ea typeface="Aptos"/>
                <a:cs typeface="Aptos"/>
              </a:defRPr>
            </a:pPr>
            <a:r>
              <a:rPr sz="1163" b="0">
                <a:solidFill>
                  <a:srgbClr val="374151"/>
                </a:solidFill>
                <a:latin typeface="Aptos"/>
                <a:ea typeface="Aptos"/>
                <a:cs typeface="Aptos"/>
              </a:rPr>
              <a:t>request the check</a:t>
            </a:r>
          </a:p>
        </p:txBody>
      </p:sp>
      <p:sp>
        <p:nvSpPr>
          <p:cNvPr id="35" name="Rectangle 34">
            <a:extLst>
              <a:ext uri="{FF2B5EF4-FFF2-40B4-BE49-F238E27FC236}">
                <a16:creationId xmlns:a16="http://schemas.microsoft.com/office/drawing/2014/main" id="{E880FF16-C900-4DD8-8C62-12D7ED4B79AC}"/>
              </a:ext>
            </a:extLst>
          </p:cNvPr>
          <p:cNvSpPr>
            <a:spLocks noGrp="1"/>
          </p:cNvSpPr>
          <p:nvPr/>
        </p:nvSpPr>
        <p:spPr>
          <a:xfrm>
            <a:off x="876300" y="3895725"/>
            <a:ext cx="28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E7490"/>
                </a:solidFill>
                <a:latin typeface="Aptos"/>
                <a:ea typeface="Aptos"/>
                <a:cs typeface="Aptos"/>
              </a:defRPr>
            </a:pPr>
            <a:r>
              <a:rPr sz="1125" b="1">
                <a:solidFill>
                  <a:srgbClr val="0E7490"/>
                </a:solidFill>
                <a:latin typeface="Aptos"/>
                <a:ea typeface="Aptos"/>
                <a:cs typeface="Aptos"/>
              </a:rPr>
              <a:t>2.</a:t>
            </a:r>
          </a:p>
        </p:txBody>
      </p:sp>
      <p:sp>
        <p:nvSpPr>
          <p:cNvPr id="36" name="Rectangle 35">
            <a:extLst>
              <a:ext uri="{FF2B5EF4-FFF2-40B4-BE49-F238E27FC236}">
                <a16:creationId xmlns:a16="http://schemas.microsoft.com/office/drawing/2014/main" id="{97387943-0F9D-4BD9-AF01-F41703EE438C}"/>
              </a:ext>
            </a:extLst>
          </p:cNvPr>
          <p:cNvSpPr>
            <a:spLocks noGrp="1"/>
          </p:cNvSpPr>
          <p:nvPr/>
        </p:nvSpPr>
        <p:spPr>
          <a:xfrm>
            <a:off x="1181100" y="3895725"/>
            <a:ext cx="3905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374151"/>
                </a:solidFill>
                <a:latin typeface="Aptos"/>
                <a:ea typeface="Aptos"/>
                <a:cs typeface="Aptos"/>
              </a:defRPr>
            </a:pPr>
            <a:r>
              <a:rPr sz="1163" b="0">
                <a:solidFill>
                  <a:srgbClr val="374151"/>
                </a:solidFill>
                <a:latin typeface="Aptos"/>
                <a:ea typeface="Aptos"/>
                <a:cs typeface="Aptos"/>
              </a:rPr>
              <a:t>place your card on the tray</a:t>
            </a:r>
          </a:p>
        </p:txBody>
      </p:sp>
      <p:sp>
        <p:nvSpPr>
          <p:cNvPr id="37" name="Rectangle 36">
            <a:extLst>
              <a:ext uri="{FF2B5EF4-FFF2-40B4-BE49-F238E27FC236}">
                <a16:creationId xmlns:a16="http://schemas.microsoft.com/office/drawing/2014/main" id="{11BC1501-A837-429E-8256-37174CF72037}"/>
              </a:ext>
            </a:extLst>
          </p:cNvPr>
          <p:cNvSpPr>
            <a:spLocks noGrp="1"/>
          </p:cNvSpPr>
          <p:nvPr/>
        </p:nvSpPr>
        <p:spPr>
          <a:xfrm>
            <a:off x="876300" y="4219575"/>
            <a:ext cx="28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E7490"/>
                </a:solidFill>
                <a:latin typeface="Aptos"/>
                <a:ea typeface="Aptos"/>
                <a:cs typeface="Aptos"/>
              </a:defRPr>
            </a:pPr>
            <a:r>
              <a:rPr sz="1125" b="1">
                <a:solidFill>
                  <a:srgbClr val="0E7490"/>
                </a:solidFill>
                <a:latin typeface="Aptos"/>
                <a:ea typeface="Aptos"/>
                <a:cs typeface="Aptos"/>
              </a:rPr>
              <a:t>3.</a:t>
            </a:r>
          </a:p>
        </p:txBody>
      </p:sp>
      <p:sp>
        <p:nvSpPr>
          <p:cNvPr id="38" name="Rectangle 37">
            <a:extLst>
              <a:ext uri="{FF2B5EF4-FFF2-40B4-BE49-F238E27FC236}">
                <a16:creationId xmlns:a16="http://schemas.microsoft.com/office/drawing/2014/main" id="{2399037B-37D8-4738-9052-FBFE9D0F8BE1}"/>
              </a:ext>
            </a:extLst>
          </p:cNvPr>
          <p:cNvSpPr>
            <a:spLocks noGrp="1"/>
          </p:cNvSpPr>
          <p:nvPr/>
        </p:nvSpPr>
        <p:spPr>
          <a:xfrm>
            <a:off x="1181100" y="4219575"/>
            <a:ext cx="3905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374151"/>
                </a:solidFill>
                <a:latin typeface="Aptos"/>
                <a:ea typeface="Aptos"/>
                <a:cs typeface="Aptos"/>
              </a:defRPr>
            </a:pPr>
            <a:r>
              <a:rPr sz="1163" b="0">
                <a:solidFill>
                  <a:srgbClr val="374151"/>
                </a:solidFill>
                <a:latin typeface="Aptos"/>
                <a:ea typeface="Aptos"/>
                <a:cs typeface="Aptos"/>
              </a:rPr>
              <a:t>tap the card reader to pay</a:t>
            </a:r>
          </a:p>
        </p:txBody>
      </p:sp>
      <p:sp>
        <p:nvSpPr>
          <p:cNvPr id="39" name="Rectangle 38">
            <a:extLst>
              <a:ext uri="{FF2B5EF4-FFF2-40B4-BE49-F238E27FC236}">
                <a16:creationId xmlns:a16="http://schemas.microsoft.com/office/drawing/2014/main" id="{480C0A93-EDAB-44AF-BB06-FE7820EAE1BB}"/>
              </a:ext>
            </a:extLst>
          </p:cNvPr>
          <p:cNvSpPr>
            <a:spLocks noGrp="1"/>
          </p:cNvSpPr>
          <p:nvPr/>
        </p:nvSpPr>
        <p:spPr>
          <a:xfrm>
            <a:off x="876300" y="4543425"/>
            <a:ext cx="285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0E7490"/>
                </a:solidFill>
                <a:latin typeface="Aptos"/>
                <a:ea typeface="Aptos"/>
                <a:cs typeface="Aptos"/>
              </a:defRPr>
            </a:pPr>
            <a:r>
              <a:rPr sz="1125" b="1">
                <a:solidFill>
                  <a:srgbClr val="0E7490"/>
                </a:solidFill>
                <a:latin typeface="Aptos"/>
                <a:ea typeface="Aptos"/>
                <a:cs typeface="Aptos"/>
              </a:rPr>
              <a:t>4.</a:t>
            </a:r>
          </a:p>
        </p:txBody>
      </p:sp>
      <p:sp>
        <p:nvSpPr>
          <p:cNvPr id="40" name="Rectangle 39">
            <a:extLst>
              <a:ext uri="{FF2B5EF4-FFF2-40B4-BE49-F238E27FC236}">
                <a16:creationId xmlns:a16="http://schemas.microsoft.com/office/drawing/2014/main" id="{7E8D12A1-2330-4A5B-BF68-E84792C13B30}"/>
              </a:ext>
            </a:extLst>
          </p:cNvPr>
          <p:cNvSpPr>
            <a:spLocks noGrp="1"/>
          </p:cNvSpPr>
          <p:nvPr/>
        </p:nvSpPr>
        <p:spPr>
          <a:xfrm>
            <a:off x="1181100" y="4543425"/>
            <a:ext cx="3905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63" b="0">
                <a:solidFill>
                  <a:srgbClr val="374151"/>
                </a:solidFill>
                <a:latin typeface="Aptos"/>
                <a:ea typeface="Aptos"/>
                <a:cs typeface="Aptos"/>
              </a:defRPr>
            </a:pPr>
            <a:r>
              <a:rPr sz="1163" b="0">
                <a:solidFill>
                  <a:srgbClr val="374151"/>
                </a:solidFill>
                <a:latin typeface="Aptos"/>
                <a:ea typeface="Aptos"/>
                <a:cs typeface="Aptos"/>
              </a:rPr>
              <a:t>take your receipt and change</a:t>
            </a:r>
          </a:p>
        </p:txBody>
      </p:sp>
      <p:sp>
        <p:nvSpPr>
          <p:cNvPr id="41" name="Rectangle 40">
            <a:extLst>
              <a:ext uri="{FF2B5EF4-FFF2-40B4-BE49-F238E27FC236}">
                <a16:creationId xmlns:a16="http://schemas.microsoft.com/office/drawing/2014/main" id="{4758C802-2A2E-425C-BA4C-F08552F4CC63}"/>
              </a:ext>
            </a:extLst>
          </p:cNvPr>
          <p:cNvSpPr>
            <a:spLocks noGrp="1"/>
          </p:cNvSpPr>
          <p:nvPr/>
        </p:nvSpPr>
        <p:spPr>
          <a:xfrm>
            <a:off x="5781675" y="3333750"/>
            <a:ext cx="552450" cy="95250"/>
          </a:xfrm>
          <a:prstGeom prst="rect">
            <a:avLst/>
          </a:prstGeom>
          <a:solidFill>
            <a:srgbClr val="0E7490"/>
          </a:solidFill>
          <a:ln w="0">
            <a:solidFill>
              <a:srgbClr val="0E7490"/>
            </a:solidFill>
            <a:prstDash val="solid"/>
          </a:ln>
        </p:spPr>
        <p:txBody>
          <a:bodyPr/>
          <a:lstStyle/>
          <a:p>
            <a:endParaRPr lang="en-US"/>
          </a:p>
        </p:txBody>
      </p:sp>
      <p:sp>
        <p:nvSpPr>
          <p:cNvPr id="42" name="Triangle 41">
            <a:extLst>
              <a:ext uri="{FF2B5EF4-FFF2-40B4-BE49-F238E27FC236}">
                <a16:creationId xmlns:a16="http://schemas.microsoft.com/office/drawing/2014/main" id="{CDC8C2C5-A50C-42AC-8A22-00548EE97C4B}"/>
              </a:ext>
            </a:extLst>
          </p:cNvPr>
          <p:cNvSpPr>
            <a:spLocks noGrp="1"/>
          </p:cNvSpPr>
          <p:nvPr/>
        </p:nvSpPr>
        <p:spPr>
          <a:xfrm rot="19970136">
            <a:off x="6210821" y="3215219"/>
            <a:ext cx="312265" cy="290814"/>
          </a:xfrm>
          <a:prstGeom prst="triangle">
            <a:avLst/>
          </a:prstGeom>
          <a:solidFill>
            <a:srgbClr val="0E7490"/>
          </a:solidFill>
          <a:ln w="0">
            <a:solidFill>
              <a:srgbClr val="0E7490"/>
            </a:solidFill>
            <a:prstDash val="solid"/>
          </a:ln>
        </p:spPr>
        <p:txBody>
          <a:bodyPr/>
          <a:lstStyle/>
          <a:p>
            <a:endParaRPr lang="en-US"/>
          </a:p>
        </p:txBody>
      </p:sp>
      <p:sp>
        <p:nvSpPr>
          <p:cNvPr id="43" name="Rectangle 42">
            <a:extLst>
              <a:ext uri="{FF2B5EF4-FFF2-40B4-BE49-F238E27FC236}">
                <a16:creationId xmlns:a16="http://schemas.microsoft.com/office/drawing/2014/main" id="{B4488BEC-959A-446E-9030-7F04AE4A1ADE}"/>
              </a:ext>
            </a:extLst>
          </p:cNvPr>
          <p:cNvSpPr>
            <a:spLocks noGrp="1"/>
          </p:cNvSpPr>
          <p:nvPr/>
        </p:nvSpPr>
        <p:spPr>
          <a:xfrm>
            <a:off x="6715125" y="1809750"/>
            <a:ext cx="4933950" cy="3476625"/>
          </a:xfrm>
          <a:prstGeom prst="rect">
            <a:avLst/>
          </a:prstGeom>
          <a:solidFill>
            <a:srgbClr val="FFFFFF"/>
          </a:solidFill>
          <a:ln w="9525">
            <a:solidFill>
              <a:srgbClr val="D6DEE8"/>
            </a:solidFill>
            <a:prstDash val="solid"/>
          </a:ln>
        </p:spPr>
        <p:txBody>
          <a:bodyPr/>
          <a:lstStyle/>
          <a:p>
            <a:endParaRPr lang="en-US"/>
          </a:p>
        </p:txBody>
      </p:sp>
      <p:sp>
        <p:nvSpPr>
          <p:cNvPr id="44" name="Rectangle 43">
            <a:extLst>
              <a:ext uri="{FF2B5EF4-FFF2-40B4-BE49-F238E27FC236}">
                <a16:creationId xmlns:a16="http://schemas.microsoft.com/office/drawing/2014/main" id="{F88A9815-C1BC-4FBA-BC79-171FE4F701F6}"/>
              </a:ext>
            </a:extLst>
          </p:cNvPr>
          <p:cNvSpPr>
            <a:spLocks noGrp="1"/>
          </p:cNvSpPr>
          <p:nvPr/>
        </p:nvSpPr>
        <p:spPr>
          <a:xfrm>
            <a:off x="6953250" y="2076450"/>
            <a:ext cx="4381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2F6B33"/>
                </a:solidFill>
                <a:latin typeface="Aptos"/>
                <a:ea typeface="Aptos"/>
                <a:cs typeface="Aptos"/>
              </a:defRPr>
            </a:pPr>
            <a:r>
              <a:rPr sz="1650" b="1">
                <a:solidFill>
                  <a:srgbClr val="2F6B33"/>
                </a:solidFill>
                <a:latin typeface="Aptos"/>
                <a:ea typeface="Aptos"/>
                <a:cs typeface="Aptos"/>
              </a:rPr>
              <a:t>Generated typed plan</a:t>
            </a:r>
          </a:p>
        </p:txBody>
      </p:sp>
      <p:sp>
        <p:nvSpPr>
          <p:cNvPr id="45" name="Rectangle 44">
            <a:extLst>
              <a:ext uri="{FF2B5EF4-FFF2-40B4-BE49-F238E27FC236}">
                <a16:creationId xmlns:a16="http://schemas.microsoft.com/office/drawing/2014/main" id="{F326717E-619F-4BDD-A02A-FFAFEA665CA4}"/>
              </a:ext>
            </a:extLst>
          </p:cNvPr>
          <p:cNvSpPr>
            <a:spLocks noGrp="1"/>
          </p:cNvSpPr>
          <p:nvPr/>
        </p:nvSpPr>
        <p:spPr>
          <a:xfrm>
            <a:off x="6953250" y="2447925"/>
            <a:ext cx="4381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Aptos"/>
                <a:ea typeface="Aptos"/>
                <a:cs typeface="Aptos"/>
              </a:defRPr>
            </a:pPr>
            <a:r>
              <a:rPr sz="1200" b="1">
                <a:solidFill>
                  <a:srgbClr val="1F2937"/>
                </a:solidFill>
                <a:latin typeface="Aptos"/>
                <a:ea typeface="Aptos"/>
                <a:cs typeface="Aptos"/>
              </a:rPr>
              <a:t>Objects</a:t>
            </a:r>
          </a:p>
        </p:txBody>
      </p:sp>
      <p:sp>
        <p:nvSpPr>
          <p:cNvPr id="46" name="Rectangle 45">
            <a:extLst>
              <a:ext uri="{FF2B5EF4-FFF2-40B4-BE49-F238E27FC236}">
                <a16:creationId xmlns:a16="http://schemas.microsoft.com/office/drawing/2014/main" id="{65FB960B-95FC-45D5-9B58-25E3C19C76C2}"/>
              </a:ext>
            </a:extLst>
          </p:cNvPr>
          <p:cNvSpPr>
            <a:spLocks noGrp="1"/>
          </p:cNvSpPr>
          <p:nvPr/>
        </p:nvSpPr>
        <p:spPr>
          <a:xfrm>
            <a:off x="6953250" y="2686050"/>
            <a:ext cx="43338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88" b="0">
                <a:solidFill>
                  <a:srgbClr val="111827"/>
                </a:solidFill>
                <a:latin typeface="Aptos Mono"/>
                <a:ea typeface="Aptos Mono"/>
                <a:cs typeface="Aptos Mono"/>
              </a:defRPr>
            </a:pPr>
            <a:r>
              <a:rPr sz="1088" b="0">
                <a:solidFill>
                  <a:srgbClr val="111827"/>
                </a:solidFill>
                <a:latin typeface="Aptos Mono"/>
                <a:ea typeface="Aptos Mono"/>
                <a:cs typeface="Aptos Mono"/>
              </a:rPr>
              <a:t>cafe_counter · bill_tray · payment_card</a:t>
            </a:r>
          </a:p>
          <a:p>
            <a:pPr algn="l">
              <a:defRPr sz="1088" b="0">
                <a:solidFill>
                  <a:srgbClr val="111827"/>
                </a:solidFill>
                <a:latin typeface="Aptos Mono"/>
                <a:ea typeface="Aptos Mono"/>
                <a:cs typeface="Aptos Mono"/>
              </a:defRPr>
            </a:pPr>
            <a:r>
              <a:rPr sz="1088" b="0">
                <a:solidFill>
                  <a:srgbClr val="111827"/>
                </a:solidFill>
                <a:latin typeface="Aptos Mono"/>
                <a:ea typeface="Aptos Mono"/>
                <a:cs typeface="Aptos Mono"/>
              </a:rPr>
              <a:t>card_reader · receipt · change</a:t>
            </a:r>
          </a:p>
        </p:txBody>
      </p:sp>
      <p:sp>
        <p:nvSpPr>
          <p:cNvPr id="47" name="Rectangle 46">
            <a:extLst>
              <a:ext uri="{FF2B5EF4-FFF2-40B4-BE49-F238E27FC236}">
                <a16:creationId xmlns:a16="http://schemas.microsoft.com/office/drawing/2014/main" id="{B8974DA2-D27E-40AC-9AAC-843FE2413BD6}"/>
              </a:ext>
            </a:extLst>
          </p:cNvPr>
          <p:cNvSpPr>
            <a:spLocks noGrp="1"/>
          </p:cNvSpPr>
          <p:nvPr/>
        </p:nvSpPr>
        <p:spPr>
          <a:xfrm>
            <a:off x="6953250" y="3238500"/>
            <a:ext cx="4381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00" b="1">
                <a:solidFill>
                  <a:srgbClr val="1F2937"/>
                </a:solidFill>
                <a:latin typeface="Aptos"/>
                <a:ea typeface="Aptos"/>
                <a:cs typeface="Aptos"/>
              </a:defRPr>
            </a:pPr>
            <a:r>
              <a:rPr sz="1200" b="1">
                <a:solidFill>
                  <a:srgbClr val="1F2937"/>
                </a:solidFill>
                <a:latin typeface="Aptos"/>
                <a:ea typeface="Aptos"/>
                <a:cs typeface="Aptos"/>
              </a:rPr>
              <a:t>Tasks</a:t>
            </a:r>
          </a:p>
        </p:txBody>
      </p:sp>
      <p:sp>
        <p:nvSpPr>
          <p:cNvPr id="48" name="Rectangle 47">
            <a:extLst>
              <a:ext uri="{FF2B5EF4-FFF2-40B4-BE49-F238E27FC236}">
                <a16:creationId xmlns:a16="http://schemas.microsoft.com/office/drawing/2014/main" id="{C937591D-CADE-4791-BA65-E78C72338D05}"/>
              </a:ext>
            </a:extLst>
          </p:cNvPr>
          <p:cNvSpPr>
            <a:spLocks noGrp="1"/>
          </p:cNvSpPr>
          <p:nvPr/>
        </p:nvSpPr>
        <p:spPr>
          <a:xfrm>
            <a:off x="6953250" y="350520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0">
                <a:solidFill>
                  <a:srgbClr val="667085"/>
                </a:solidFill>
                <a:latin typeface="Aptos Mono"/>
                <a:ea typeface="Aptos Mono"/>
                <a:cs typeface="Aptos Mono"/>
              </a:defRPr>
            </a:pPr>
            <a:r>
              <a:rPr sz="953" b="0">
                <a:solidFill>
                  <a:srgbClr val="667085"/>
                </a:solidFill>
                <a:latin typeface="Aptos Mono"/>
                <a:ea typeface="Aptos Mono"/>
                <a:cs typeface="Aptos Mono"/>
              </a:rPr>
              <a:t>request_the_check</a:t>
            </a:r>
          </a:p>
        </p:txBody>
      </p:sp>
      <p:sp>
        <p:nvSpPr>
          <p:cNvPr id="49" name="Rectangle 48">
            <a:extLst>
              <a:ext uri="{FF2B5EF4-FFF2-40B4-BE49-F238E27FC236}">
                <a16:creationId xmlns:a16="http://schemas.microsoft.com/office/drawing/2014/main" id="{ED98313E-6F28-44EB-B49A-162902CAABF2}"/>
              </a:ext>
            </a:extLst>
          </p:cNvPr>
          <p:cNvSpPr>
            <a:spLocks noGrp="1"/>
          </p:cNvSpPr>
          <p:nvPr/>
        </p:nvSpPr>
        <p:spPr>
          <a:xfrm>
            <a:off x="9029700" y="3505200"/>
            <a:ext cx="23336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1">
                <a:solidFill>
                  <a:srgbClr val="075F80"/>
                </a:solidFill>
                <a:latin typeface="Aptos Mono"/>
                <a:ea typeface="Aptos Mono"/>
                <a:cs typeface="Aptos Mono"/>
              </a:defRPr>
            </a:pPr>
            <a:r>
              <a:rPr sz="953" b="1">
                <a:solidFill>
                  <a:srgbClr val="075F80"/>
                </a:solidFill>
                <a:latin typeface="Aptos Mono"/>
                <a:ea typeface="Aptos Mono"/>
                <a:cs typeface="Aptos Mono"/>
              </a:rPr>
              <a:t>indicate(bill_tray)</a:t>
            </a:r>
          </a:p>
        </p:txBody>
      </p:sp>
      <p:sp>
        <p:nvSpPr>
          <p:cNvPr id="50" name="Rectangle 49">
            <a:extLst>
              <a:ext uri="{FF2B5EF4-FFF2-40B4-BE49-F238E27FC236}">
                <a16:creationId xmlns:a16="http://schemas.microsoft.com/office/drawing/2014/main" id="{1FA5938C-72C3-43D2-920A-CECFDA804566}"/>
              </a:ext>
            </a:extLst>
          </p:cNvPr>
          <p:cNvSpPr>
            <a:spLocks noGrp="1"/>
          </p:cNvSpPr>
          <p:nvPr/>
        </p:nvSpPr>
        <p:spPr>
          <a:xfrm>
            <a:off x="6953250" y="3857625"/>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0">
                <a:solidFill>
                  <a:srgbClr val="667085"/>
                </a:solidFill>
                <a:latin typeface="Aptos Mono"/>
                <a:ea typeface="Aptos Mono"/>
                <a:cs typeface="Aptos Mono"/>
              </a:defRPr>
            </a:pPr>
            <a:r>
              <a:rPr sz="953" b="0">
                <a:solidFill>
                  <a:srgbClr val="667085"/>
                </a:solidFill>
                <a:latin typeface="Aptos Mono"/>
                <a:ea typeface="Aptos Mono"/>
                <a:cs typeface="Aptos Mono"/>
              </a:rPr>
              <a:t>place_card_on_tray</a:t>
            </a:r>
          </a:p>
        </p:txBody>
      </p:sp>
      <p:sp>
        <p:nvSpPr>
          <p:cNvPr id="51" name="Rectangle 50">
            <a:extLst>
              <a:ext uri="{FF2B5EF4-FFF2-40B4-BE49-F238E27FC236}">
                <a16:creationId xmlns:a16="http://schemas.microsoft.com/office/drawing/2014/main" id="{C41827F6-5ACA-4C95-A10E-8B4DBB28E106}"/>
              </a:ext>
            </a:extLst>
          </p:cNvPr>
          <p:cNvSpPr>
            <a:spLocks noGrp="1"/>
          </p:cNvSpPr>
          <p:nvPr/>
        </p:nvSpPr>
        <p:spPr>
          <a:xfrm>
            <a:off x="9029700" y="3857625"/>
            <a:ext cx="23336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1">
                <a:solidFill>
                  <a:srgbClr val="075F80"/>
                </a:solidFill>
                <a:latin typeface="Aptos Mono"/>
                <a:ea typeface="Aptos Mono"/>
                <a:cs typeface="Aptos Mono"/>
              </a:defRPr>
            </a:pPr>
            <a:r>
              <a:rPr sz="953" b="1">
                <a:solidFill>
                  <a:srgbClr val="075F80"/>
                </a:solidFill>
                <a:latin typeface="Aptos Mono"/>
                <a:ea typeface="Aptos Mono"/>
                <a:cs typeface="Aptos Mono"/>
              </a:rPr>
              <a:t>place(payment_card, bill_tray)</a:t>
            </a:r>
          </a:p>
        </p:txBody>
      </p:sp>
      <p:sp>
        <p:nvSpPr>
          <p:cNvPr id="52" name="Rectangle 51">
            <a:extLst>
              <a:ext uri="{FF2B5EF4-FFF2-40B4-BE49-F238E27FC236}">
                <a16:creationId xmlns:a16="http://schemas.microsoft.com/office/drawing/2014/main" id="{B8863F72-4FD3-4311-97E3-4C0B6D1165C9}"/>
              </a:ext>
            </a:extLst>
          </p:cNvPr>
          <p:cNvSpPr>
            <a:spLocks noGrp="1"/>
          </p:cNvSpPr>
          <p:nvPr/>
        </p:nvSpPr>
        <p:spPr>
          <a:xfrm>
            <a:off x="6953250" y="4210050"/>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0">
                <a:solidFill>
                  <a:srgbClr val="667085"/>
                </a:solidFill>
                <a:latin typeface="Aptos Mono"/>
                <a:ea typeface="Aptos Mono"/>
                <a:cs typeface="Aptos Mono"/>
              </a:defRPr>
            </a:pPr>
            <a:r>
              <a:rPr sz="953" b="0">
                <a:solidFill>
                  <a:srgbClr val="667085"/>
                </a:solidFill>
                <a:latin typeface="Aptos Mono"/>
                <a:ea typeface="Aptos Mono"/>
                <a:cs typeface="Aptos Mono"/>
              </a:rPr>
              <a:t>tap_card_reader</a:t>
            </a:r>
          </a:p>
        </p:txBody>
      </p:sp>
      <p:sp>
        <p:nvSpPr>
          <p:cNvPr id="53" name="Rectangle 52">
            <a:extLst>
              <a:ext uri="{FF2B5EF4-FFF2-40B4-BE49-F238E27FC236}">
                <a16:creationId xmlns:a16="http://schemas.microsoft.com/office/drawing/2014/main" id="{CB1B0BB8-52E0-434F-B360-9C9A3DE505DF}"/>
              </a:ext>
            </a:extLst>
          </p:cNvPr>
          <p:cNvSpPr>
            <a:spLocks noGrp="1"/>
          </p:cNvSpPr>
          <p:nvPr/>
        </p:nvSpPr>
        <p:spPr>
          <a:xfrm>
            <a:off x="9029700" y="4210050"/>
            <a:ext cx="23336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1">
                <a:solidFill>
                  <a:srgbClr val="075F80"/>
                </a:solidFill>
                <a:latin typeface="Aptos Mono"/>
                <a:ea typeface="Aptos Mono"/>
                <a:cs typeface="Aptos Mono"/>
              </a:defRPr>
            </a:pPr>
            <a:r>
              <a:rPr sz="953" b="1">
                <a:solidFill>
                  <a:srgbClr val="075F80"/>
                </a:solidFill>
                <a:latin typeface="Aptos Mono"/>
                <a:ea typeface="Aptos Mono"/>
                <a:cs typeface="Aptos Mono"/>
              </a:rPr>
              <a:t>tap(card_reader)</a:t>
            </a:r>
          </a:p>
        </p:txBody>
      </p:sp>
      <p:sp>
        <p:nvSpPr>
          <p:cNvPr id="54" name="Rectangle 53">
            <a:extLst>
              <a:ext uri="{FF2B5EF4-FFF2-40B4-BE49-F238E27FC236}">
                <a16:creationId xmlns:a16="http://schemas.microsoft.com/office/drawing/2014/main" id="{02349D31-7CE1-4C5D-8D21-FC2C09DC3534}"/>
              </a:ext>
            </a:extLst>
          </p:cNvPr>
          <p:cNvSpPr>
            <a:spLocks noGrp="1"/>
          </p:cNvSpPr>
          <p:nvPr/>
        </p:nvSpPr>
        <p:spPr>
          <a:xfrm>
            <a:off x="6953250" y="4562475"/>
            <a:ext cx="2000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0">
                <a:solidFill>
                  <a:srgbClr val="667085"/>
                </a:solidFill>
                <a:latin typeface="Aptos Mono"/>
                <a:ea typeface="Aptos Mono"/>
                <a:cs typeface="Aptos Mono"/>
              </a:defRPr>
            </a:pPr>
            <a:r>
              <a:rPr sz="953" b="0">
                <a:solidFill>
                  <a:srgbClr val="667085"/>
                </a:solidFill>
                <a:latin typeface="Aptos Mono"/>
                <a:ea typeface="Aptos Mono"/>
                <a:cs typeface="Aptos Mono"/>
              </a:rPr>
              <a:t>take_receipt_and_change</a:t>
            </a:r>
          </a:p>
        </p:txBody>
      </p:sp>
      <p:sp>
        <p:nvSpPr>
          <p:cNvPr id="55" name="Rectangle 54">
            <a:extLst>
              <a:ext uri="{FF2B5EF4-FFF2-40B4-BE49-F238E27FC236}">
                <a16:creationId xmlns:a16="http://schemas.microsoft.com/office/drawing/2014/main" id="{734C4C66-1D33-4D51-BBB1-F589E81BCBD2}"/>
              </a:ext>
            </a:extLst>
          </p:cNvPr>
          <p:cNvSpPr>
            <a:spLocks noGrp="1"/>
          </p:cNvSpPr>
          <p:nvPr/>
        </p:nvSpPr>
        <p:spPr>
          <a:xfrm>
            <a:off x="9029700" y="4562475"/>
            <a:ext cx="23336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53" b="1">
                <a:solidFill>
                  <a:srgbClr val="C96B19"/>
                </a:solidFill>
                <a:latin typeface="Aptos Mono"/>
                <a:ea typeface="Aptos Mono"/>
                <a:cs typeface="Aptos Mono"/>
              </a:defRPr>
            </a:pPr>
            <a:r>
              <a:rPr sz="953" b="1">
                <a:solidFill>
                  <a:srgbClr val="C96B19"/>
                </a:solidFill>
                <a:latin typeface="Aptos Mono"/>
                <a:ea typeface="Aptos Mono"/>
                <a:cs typeface="Aptos Mono"/>
              </a:rPr>
              <a:t>drag(receipt)</a:t>
            </a:r>
          </a:p>
        </p:txBody>
      </p:sp>
      <p:sp>
        <p:nvSpPr>
          <p:cNvPr id="56" name="Rectangle 55">
            <a:extLst>
              <a:ext uri="{FF2B5EF4-FFF2-40B4-BE49-F238E27FC236}">
                <a16:creationId xmlns:a16="http://schemas.microsoft.com/office/drawing/2014/main" id="{0B4D9F98-FC30-4552-B73A-F7E908654ACE}"/>
              </a:ext>
            </a:extLst>
          </p:cNvPr>
          <p:cNvSpPr>
            <a:spLocks noGrp="1"/>
          </p:cNvSpPr>
          <p:nvPr/>
        </p:nvSpPr>
        <p:spPr>
          <a:xfrm>
            <a:off x="6953250" y="4819650"/>
            <a:ext cx="4381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1F2937"/>
                </a:solidFill>
                <a:latin typeface="Aptos"/>
                <a:ea typeface="Aptos"/>
                <a:cs typeface="Aptos"/>
              </a:defRPr>
            </a:pPr>
            <a:r>
              <a:rPr sz="1125" b="1" dirty="0">
                <a:solidFill>
                  <a:srgbClr val="1F2937"/>
                </a:solidFill>
                <a:latin typeface="Aptos"/>
                <a:ea typeface="Aptos"/>
                <a:cs typeface="Aptos"/>
              </a:rPr>
              <a:t>Validati</a:t>
            </a:r>
            <a:r>
              <a:rPr lang="en-US" sz="1125" b="1" dirty="0">
                <a:solidFill>
                  <a:srgbClr val="1F2937"/>
                </a:solidFill>
                <a:latin typeface="Aptos"/>
                <a:ea typeface="Aptos"/>
                <a:cs typeface="Aptos"/>
              </a:rPr>
              <a:t>o</a:t>
            </a:r>
            <a:r>
              <a:rPr sz="1125" b="1" dirty="0">
                <a:solidFill>
                  <a:srgbClr val="1F2937"/>
                </a:solidFill>
                <a:latin typeface="Aptos"/>
                <a:ea typeface="Aptos"/>
                <a:cs typeface="Aptos"/>
              </a:rPr>
              <a:t>n checks structure, not quality:</a:t>
            </a:r>
          </a:p>
        </p:txBody>
      </p:sp>
      <p:sp>
        <p:nvSpPr>
          <p:cNvPr id="57" name="Rectangle 56">
            <a:extLst>
              <a:ext uri="{FF2B5EF4-FFF2-40B4-BE49-F238E27FC236}">
                <a16:creationId xmlns:a16="http://schemas.microsoft.com/office/drawing/2014/main" id="{C680BD7E-F87A-4078-AF66-51B4A66B8AF2}"/>
              </a:ext>
            </a:extLst>
          </p:cNvPr>
          <p:cNvSpPr>
            <a:spLocks noGrp="1"/>
          </p:cNvSpPr>
          <p:nvPr/>
        </p:nvSpPr>
        <p:spPr>
          <a:xfrm>
            <a:off x="6953250" y="5062538"/>
            <a:ext cx="4381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374151"/>
                </a:solidFill>
                <a:latin typeface="Aptos"/>
                <a:ea typeface="Aptos"/>
                <a:cs typeface="Aptos"/>
              </a:defRPr>
            </a:pPr>
            <a:r>
              <a:rPr sz="1050" b="0" dirty="0">
                <a:solidFill>
                  <a:srgbClr val="374151"/>
                </a:solidFill>
                <a:latin typeface="Aptos"/>
                <a:ea typeface="Aptos"/>
                <a:cs typeface="Aptos"/>
              </a:rPr>
              <a:t>unique ids · no dangling object refs · only supported primitive kinds</a:t>
            </a:r>
          </a:p>
        </p:txBody>
      </p:sp>
      <p:sp>
        <p:nvSpPr>
          <p:cNvPr id="58" name="Rectangle 57">
            <a:extLst>
              <a:ext uri="{FF2B5EF4-FFF2-40B4-BE49-F238E27FC236}">
                <a16:creationId xmlns:a16="http://schemas.microsoft.com/office/drawing/2014/main" id="{10E7D483-265F-4063-88C4-2F73F7FE93AC}"/>
              </a:ext>
            </a:extLst>
          </p:cNvPr>
          <p:cNvSpPr>
            <a:spLocks noGrp="1"/>
          </p:cNvSpPr>
          <p:nvPr/>
        </p:nvSpPr>
        <p:spPr>
          <a:xfrm>
            <a:off x="542925" y="5676900"/>
            <a:ext cx="11106150" cy="781050"/>
          </a:xfrm>
          <a:prstGeom prst="rect">
            <a:avLst/>
          </a:prstGeom>
          <a:solidFill>
            <a:srgbClr val="F7FAFC"/>
          </a:solidFill>
          <a:ln w="9525">
            <a:solidFill>
              <a:srgbClr val="D6DEE8"/>
            </a:solidFill>
            <a:prstDash val="solid"/>
          </a:ln>
        </p:spPr>
        <p:txBody>
          <a:bodyPr/>
          <a:lstStyle/>
          <a:p>
            <a:endParaRPr lang="en-US"/>
          </a:p>
        </p:txBody>
      </p:sp>
      <p:sp>
        <p:nvSpPr>
          <p:cNvPr id="59" name="Rectangle 58">
            <a:extLst>
              <a:ext uri="{FF2B5EF4-FFF2-40B4-BE49-F238E27FC236}">
                <a16:creationId xmlns:a16="http://schemas.microsoft.com/office/drawing/2014/main" id="{53B3E4E6-B48A-4906-8791-A37DB122732D}"/>
              </a:ext>
            </a:extLst>
          </p:cNvPr>
          <p:cNvSpPr>
            <a:spLocks noGrp="1"/>
          </p:cNvSpPr>
          <p:nvPr/>
        </p:nvSpPr>
        <p:spPr>
          <a:xfrm>
            <a:off x="781050" y="5829300"/>
            <a:ext cx="10477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0E7490"/>
                </a:solidFill>
                <a:latin typeface="Aptos"/>
                <a:ea typeface="Aptos"/>
                <a:cs typeface="Aptos"/>
              </a:defRPr>
            </a:pPr>
            <a:r>
              <a:rPr sz="1275" b="1">
                <a:solidFill>
                  <a:srgbClr val="0E7490"/>
                </a:solidFill>
                <a:latin typeface="Aptos"/>
                <a:ea typeface="Aptos"/>
                <a:cs typeface="Aptos"/>
              </a:rPr>
              <a:t>Why this matters</a:t>
            </a:r>
          </a:p>
        </p:txBody>
      </p:sp>
      <p:sp>
        <p:nvSpPr>
          <p:cNvPr id="60" name="Rectangle 59">
            <a:extLst>
              <a:ext uri="{FF2B5EF4-FFF2-40B4-BE49-F238E27FC236}">
                <a16:creationId xmlns:a16="http://schemas.microsoft.com/office/drawing/2014/main" id="{8F0AE812-1E4A-4A43-A5F4-CAFF694C9CCD}"/>
              </a:ext>
            </a:extLst>
          </p:cNvPr>
          <p:cNvSpPr>
            <a:spLocks noGrp="1"/>
          </p:cNvSpPr>
          <p:nvPr/>
        </p:nvSpPr>
        <p:spPr>
          <a:xfrm>
            <a:off x="781050" y="6076950"/>
            <a:ext cx="104775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0">
                <a:solidFill>
                  <a:srgbClr val="1F2937"/>
                </a:solidFill>
                <a:latin typeface="Aptos"/>
                <a:ea typeface="Aptos"/>
                <a:cs typeface="Aptos"/>
              </a:defRPr>
            </a:pPr>
            <a:r>
              <a:rPr sz="1275" b="0">
                <a:solidFill>
                  <a:srgbClr val="1F2937"/>
                </a:solidFill>
                <a:latin typeface="Aptos"/>
                <a:ea typeface="Aptos"/>
                <a:cs typeface="Aptos"/>
              </a:rPr>
              <a:t>The evaluation compares the written demand against this typed output: did the desired roleplay survive translation into runnable primitives?</a:t>
            </a:r>
          </a:p>
        </p:txBody>
      </p:sp>
    </p:spTree>
    <p:extLst>
      <p:ext uri="{BB962C8B-B14F-4D97-AF65-F5344CB8AC3E}">
        <p14:creationId xmlns:p14="http://schemas.microsoft.com/office/powerpoint/2010/main" val="2709852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3A982EF-8EC9-4907-A755-08EE9D15F8E5}"/>
              </a:ext>
            </a:extLst>
          </p:cNvPr>
          <p:cNvSpPr>
            <a:spLocks noGrp="1"/>
          </p:cNvSpPr>
          <p:nvPr/>
        </p:nvSpPr>
        <p:spPr>
          <a:xfrm>
            <a:off x="548640" y="365760"/>
            <a:ext cx="10058400" cy="274320"/>
          </a:xfrm>
          <a:prstGeom prst="rect">
            <a:avLst/>
          </a:prstGeom>
          <a:noFill/>
        </p:spPr>
        <p:txBody>
          <a:bodyPr wrap="square" lIns="0" tIns="0" rIns="0" bIns="0" anchor="ctr"/>
          <a:lstStyle/>
          <a:p>
            <a:pPr marL="0" indent="0">
              <a:buNone/>
            </a:pPr>
            <a:r>
              <a:rPr sz="1200" b="1" spc="100">
                <a:solidFill>
                  <a:srgbClr val="1C7293"/>
                </a:solidFill>
                <a:latin typeface="Calibri"/>
                <a:ea typeface="Calibri"/>
                <a:cs typeface="Calibri"/>
              </a:rPr>
              <a:t>HOW WE BUILT IT  ·  GENERATED PLAN → REALIZED OBJECTS</a:t>
            </a:r>
          </a:p>
        </p:txBody>
      </p:sp>
      <p:sp>
        <p:nvSpPr>
          <p:cNvPr id="3" name="Text 1">
            <a:extLst>
              <a:ext uri="{FF2B5EF4-FFF2-40B4-BE49-F238E27FC236}">
                <a16:creationId xmlns:a16="http://schemas.microsoft.com/office/drawing/2014/main" id="{6A70E275-225C-4625-B307-E0218DACEED9}"/>
              </a:ext>
            </a:extLst>
          </p:cNvPr>
          <p:cNvSpPr>
            <a:spLocks noGrp="1"/>
          </p:cNvSpPr>
          <p:nvPr/>
        </p:nvSpPr>
        <p:spPr>
          <a:xfrm>
            <a:off x="548640" y="640080"/>
            <a:ext cx="11064240" cy="548640"/>
          </a:xfrm>
          <a:prstGeom prst="rect">
            <a:avLst/>
          </a:prstGeom>
          <a:noFill/>
        </p:spPr>
        <p:txBody>
          <a:bodyPr wrap="square" lIns="0" tIns="0" rIns="0" bIns="0" anchor="ctr"/>
          <a:lstStyle/>
          <a:p>
            <a:pPr marL="0" indent="0">
              <a:buNone/>
            </a:pPr>
            <a:r>
              <a:rPr sz="2600" b="1">
                <a:solidFill>
                  <a:srgbClr val="1F2937"/>
                </a:solidFill>
                <a:latin typeface="Georgia"/>
                <a:ea typeface="Georgia"/>
                <a:cs typeface="Georgia"/>
              </a:rPr>
              <a:t>Reconstructing the objects on demand</a:t>
            </a:r>
          </a:p>
        </p:txBody>
      </p:sp>
      <p:sp>
        <p:nvSpPr>
          <p:cNvPr id="4" name="Shape 2">
            <a:extLst>
              <a:ext uri="{FF2B5EF4-FFF2-40B4-BE49-F238E27FC236}">
                <a16:creationId xmlns:a16="http://schemas.microsoft.com/office/drawing/2014/main" id="{46B3489B-DCEF-48D8-B3CD-77BD3C84319D}"/>
              </a:ext>
            </a:extLst>
          </p:cNvPr>
          <p:cNvSpPr>
            <a:spLocks noGrp="1"/>
          </p:cNvSpPr>
          <p:nvPr/>
        </p:nvSpPr>
        <p:spPr>
          <a:xfrm>
            <a:off x="548640" y="1554480"/>
            <a:ext cx="1993392" cy="822960"/>
          </a:xfrm>
          <a:prstGeom prst="roundRect">
            <a:avLst>
              <a:gd name="adj" fmla="val 6667"/>
            </a:avLst>
          </a:prstGeom>
          <a:solidFill>
            <a:srgbClr val="6B7280"/>
          </a:solidFill>
        </p:spPr>
        <p:txBody>
          <a:bodyPr/>
          <a:lstStyle/>
          <a:p>
            <a:endParaRPr lang="en-US"/>
          </a:p>
        </p:txBody>
      </p:sp>
      <p:sp>
        <p:nvSpPr>
          <p:cNvPr id="5" name="Text 3">
            <a:extLst>
              <a:ext uri="{FF2B5EF4-FFF2-40B4-BE49-F238E27FC236}">
                <a16:creationId xmlns:a16="http://schemas.microsoft.com/office/drawing/2014/main" id="{E13DA8CC-298D-454E-A890-A83202CED326}"/>
              </a:ext>
            </a:extLst>
          </p:cNvPr>
          <p:cNvSpPr>
            <a:spLocks noGrp="1"/>
          </p:cNvSpPr>
          <p:nvPr/>
        </p:nvSpPr>
        <p:spPr>
          <a:xfrm>
            <a:off x="548640"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Typed plan</a:t>
            </a:r>
          </a:p>
        </p:txBody>
      </p:sp>
      <p:sp>
        <p:nvSpPr>
          <p:cNvPr id="7" name="Shape 5">
            <a:extLst>
              <a:ext uri="{FF2B5EF4-FFF2-40B4-BE49-F238E27FC236}">
                <a16:creationId xmlns:a16="http://schemas.microsoft.com/office/drawing/2014/main" id="{7D917952-29B3-4612-ACB3-77646A0D5DB1}"/>
              </a:ext>
            </a:extLst>
          </p:cNvPr>
          <p:cNvSpPr>
            <a:spLocks noGrp="1"/>
          </p:cNvSpPr>
          <p:nvPr/>
        </p:nvSpPr>
        <p:spPr>
          <a:xfrm>
            <a:off x="2706624" y="1554480"/>
            <a:ext cx="1993392" cy="822960"/>
          </a:xfrm>
          <a:prstGeom prst="roundRect">
            <a:avLst>
              <a:gd name="adj" fmla="val 6667"/>
            </a:avLst>
          </a:prstGeom>
          <a:solidFill>
            <a:srgbClr val="C2691C"/>
          </a:solidFill>
        </p:spPr>
        <p:txBody>
          <a:bodyPr/>
          <a:lstStyle/>
          <a:p>
            <a:endParaRPr lang="en-US"/>
          </a:p>
        </p:txBody>
      </p:sp>
      <p:sp>
        <p:nvSpPr>
          <p:cNvPr id="8" name="Text 6">
            <a:extLst>
              <a:ext uri="{FF2B5EF4-FFF2-40B4-BE49-F238E27FC236}">
                <a16:creationId xmlns:a16="http://schemas.microsoft.com/office/drawing/2014/main" id="{B7E05161-8F52-4B18-86FC-5752B7A26419}"/>
              </a:ext>
            </a:extLst>
          </p:cNvPr>
          <p:cNvSpPr>
            <a:spLocks noGrp="1"/>
          </p:cNvSpPr>
          <p:nvPr/>
        </p:nvSpPr>
        <p:spPr>
          <a:xfrm>
            <a:off x="2706624" y="1554480"/>
            <a:ext cx="1993392" cy="822960"/>
          </a:xfrm>
          <a:prstGeom prst="rect">
            <a:avLst/>
          </a:prstGeom>
          <a:noFill/>
        </p:spPr>
        <p:txBody>
          <a:bodyPr wrap="square" lIns="0" tIns="0" rIns="0" bIns="0" anchor="ctr"/>
          <a:lstStyle/>
          <a:p>
            <a:pPr marL="0" indent="0" algn="ctr">
              <a:buNone/>
            </a:pPr>
            <a:r>
              <a:rPr sz="1250" b="1" dirty="0">
                <a:solidFill>
                  <a:srgbClr val="FFFFFF"/>
                </a:solidFill>
                <a:latin typeface="Calibri"/>
                <a:ea typeface="Calibri"/>
                <a:cs typeface="Calibri"/>
              </a:rPr>
              <a:t>SAM 3D </a:t>
            </a:r>
            <a:r>
              <a:rPr lang="en-US" sz="1250" b="1" dirty="0">
                <a:solidFill>
                  <a:srgbClr val="FFFFFF"/>
                </a:solidFill>
                <a:latin typeface="Calibri"/>
                <a:ea typeface="Calibri"/>
                <a:cs typeface="Calibri"/>
              </a:rPr>
              <a:t>generation</a:t>
            </a:r>
            <a:endParaRPr sz="1250" b="1" dirty="0">
              <a:solidFill>
                <a:srgbClr val="FFFFFF"/>
              </a:solidFill>
              <a:latin typeface="Calibri"/>
              <a:ea typeface="Calibri"/>
              <a:cs typeface="Calibri"/>
            </a:endParaRPr>
          </a:p>
        </p:txBody>
      </p:sp>
      <p:sp>
        <p:nvSpPr>
          <p:cNvPr id="9" name="Shape 7">
            <a:extLst>
              <a:ext uri="{FF2B5EF4-FFF2-40B4-BE49-F238E27FC236}">
                <a16:creationId xmlns:a16="http://schemas.microsoft.com/office/drawing/2014/main" id="{7B241935-1745-4482-9A99-C005C9D7AB04}"/>
              </a:ext>
            </a:extLst>
          </p:cNvPr>
          <p:cNvSpPr>
            <a:spLocks noGrp="1"/>
          </p:cNvSpPr>
          <p:nvPr/>
        </p:nvSpPr>
        <p:spPr>
          <a:xfrm>
            <a:off x="4709160" y="1965960"/>
            <a:ext cx="146304" cy="0"/>
          </a:xfrm>
          <a:prstGeom prst="line">
            <a:avLst/>
          </a:prstGeom>
          <a:noFill/>
          <a:ln w="25400">
            <a:solidFill>
              <a:srgbClr val="6B7280"/>
            </a:solidFill>
            <a:prstDash val="solid"/>
          </a:ln>
        </p:spPr>
        <p:txBody>
          <a:bodyPr/>
          <a:lstStyle/>
          <a:p>
            <a:endParaRPr lang="en-US"/>
          </a:p>
        </p:txBody>
      </p:sp>
      <p:sp>
        <p:nvSpPr>
          <p:cNvPr id="10" name="Shape 8">
            <a:extLst>
              <a:ext uri="{FF2B5EF4-FFF2-40B4-BE49-F238E27FC236}">
                <a16:creationId xmlns:a16="http://schemas.microsoft.com/office/drawing/2014/main" id="{9F6F781A-B105-44D4-BC55-4535489856E4}"/>
              </a:ext>
            </a:extLst>
          </p:cNvPr>
          <p:cNvSpPr>
            <a:spLocks noGrp="1"/>
          </p:cNvSpPr>
          <p:nvPr/>
        </p:nvSpPr>
        <p:spPr>
          <a:xfrm>
            <a:off x="4864608" y="1554480"/>
            <a:ext cx="1993392" cy="822960"/>
          </a:xfrm>
          <a:prstGeom prst="roundRect">
            <a:avLst>
              <a:gd name="adj" fmla="val 6667"/>
            </a:avLst>
          </a:prstGeom>
          <a:solidFill>
            <a:srgbClr val="C2691C"/>
          </a:solidFill>
        </p:spPr>
        <p:txBody>
          <a:bodyPr/>
          <a:lstStyle/>
          <a:p>
            <a:endParaRPr lang="en-US"/>
          </a:p>
        </p:txBody>
      </p:sp>
      <p:sp>
        <p:nvSpPr>
          <p:cNvPr id="11" name="Text 9">
            <a:extLst>
              <a:ext uri="{FF2B5EF4-FFF2-40B4-BE49-F238E27FC236}">
                <a16:creationId xmlns:a16="http://schemas.microsoft.com/office/drawing/2014/main" id="{7EDED75D-399D-451B-9433-BFD9EA2B60C2}"/>
              </a:ext>
            </a:extLst>
          </p:cNvPr>
          <p:cNvSpPr>
            <a:spLocks noGrp="1"/>
          </p:cNvSpPr>
          <p:nvPr/>
        </p:nvSpPr>
        <p:spPr>
          <a:xfrm>
            <a:off x="4864608"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mesh → USDZ</a:t>
            </a:r>
          </a:p>
        </p:txBody>
      </p:sp>
      <p:sp>
        <p:nvSpPr>
          <p:cNvPr id="12" name="Shape 10">
            <a:extLst>
              <a:ext uri="{FF2B5EF4-FFF2-40B4-BE49-F238E27FC236}">
                <a16:creationId xmlns:a16="http://schemas.microsoft.com/office/drawing/2014/main" id="{AB37DE65-D0A0-4DC6-A8CA-1DDE4C04A964}"/>
              </a:ext>
            </a:extLst>
          </p:cNvPr>
          <p:cNvSpPr>
            <a:spLocks noGrp="1"/>
          </p:cNvSpPr>
          <p:nvPr/>
        </p:nvSpPr>
        <p:spPr>
          <a:xfrm>
            <a:off x="6867144" y="1965960"/>
            <a:ext cx="146304" cy="0"/>
          </a:xfrm>
          <a:prstGeom prst="line">
            <a:avLst/>
          </a:prstGeom>
          <a:noFill/>
          <a:ln w="25400">
            <a:solidFill>
              <a:srgbClr val="6B7280"/>
            </a:solidFill>
            <a:prstDash val="solid"/>
          </a:ln>
        </p:spPr>
        <p:txBody>
          <a:bodyPr/>
          <a:lstStyle/>
          <a:p>
            <a:endParaRPr lang="en-US"/>
          </a:p>
        </p:txBody>
      </p:sp>
      <p:sp>
        <p:nvSpPr>
          <p:cNvPr id="13" name="Shape 11">
            <a:extLst>
              <a:ext uri="{FF2B5EF4-FFF2-40B4-BE49-F238E27FC236}">
                <a16:creationId xmlns:a16="http://schemas.microsoft.com/office/drawing/2014/main" id="{C1347274-E143-45EC-B093-778E06380DA0}"/>
              </a:ext>
            </a:extLst>
          </p:cNvPr>
          <p:cNvSpPr>
            <a:spLocks noGrp="1"/>
          </p:cNvSpPr>
          <p:nvPr/>
        </p:nvSpPr>
        <p:spPr>
          <a:xfrm>
            <a:off x="7022592" y="1554480"/>
            <a:ext cx="1993392" cy="822960"/>
          </a:xfrm>
          <a:prstGeom prst="roundRect">
            <a:avLst>
              <a:gd name="adj" fmla="val 6667"/>
            </a:avLst>
          </a:prstGeom>
          <a:solidFill>
            <a:srgbClr val="1C7293"/>
          </a:solidFill>
        </p:spPr>
        <p:txBody>
          <a:bodyPr/>
          <a:lstStyle/>
          <a:p>
            <a:endParaRPr lang="en-US"/>
          </a:p>
        </p:txBody>
      </p:sp>
      <p:sp>
        <p:nvSpPr>
          <p:cNvPr id="14" name="Text 12">
            <a:extLst>
              <a:ext uri="{FF2B5EF4-FFF2-40B4-BE49-F238E27FC236}">
                <a16:creationId xmlns:a16="http://schemas.microsoft.com/office/drawing/2014/main" id="{A4E00BD2-F112-4113-B6AF-A6DE5AC2CA4F}"/>
              </a:ext>
            </a:extLst>
          </p:cNvPr>
          <p:cNvSpPr>
            <a:spLocks noGrp="1"/>
          </p:cNvSpPr>
          <p:nvPr/>
        </p:nvSpPr>
        <p:spPr>
          <a:xfrm>
            <a:off x="7022592"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proxy fallback</a:t>
            </a:r>
          </a:p>
        </p:txBody>
      </p:sp>
      <p:sp>
        <p:nvSpPr>
          <p:cNvPr id="15" name="Shape 13">
            <a:extLst>
              <a:ext uri="{FF2B5EF4-FFF2-40B4-BE49-F238E27FC236}">
                <a16:creationId xmlns:a16="http://schemas.microsoft.com/office/drawing/2014/main" id="{4BB5DEAB-C4DD-453E-B25A-B773206038EF}"/>
              </a:ext>
            </a:extLst>
          </p:cNvPr>
          <p:cNvSpPr>
            <a:spLocks noGrp="1"/>
          </p:cNvSpPr>
          <p:nvPr/>
        </p:nvSpPr>
        <p:spPr>
          <a:xfrm>
            <a:off x="9025128" y="1965960"/>
            <a:ext cx="146304" cy="0"/>
          </a:xfrm>
          <a:prstGeom prst="line">
            <a:avLst/>
          </a:prstGeom>
          <a:noFill/>
          <a:ln w="25400">
            <a:solidFill>
              <a:srgbClr val="6B7280"/>
            </a:solidFill>
            <a:prstDash val="solid"/>
          </a:ln>
        </p:spPr>
        <p:txBody>
          <a:bodyPr/>
          <a:lstStyle/>
          <a:p>
            <a:endParaRPr lang="en-US"/>
          </a:p>
        </p:txBody>
      </p:sp>
      <p:sp>
        <p:nvSpPr>
          <p:cNvPr id="16" name="Shape 14">
            <a:extLst>
              <a:ext uri="{FF2B5EF4-FFF2-40B4-BE49-F238E27FC236}">
                <a16:creationId xmlns:a16="http://schemas.microsoft.com/office/drawing/2014/main" id="{2934FF39-97EE-4FD0-B700-DDEF092F88F4}"/>
              </a:ext>
            </a:extLst>
          </p:cNvPr>
          <p:cNvSpPr>
            <a:spLocks noGrp="1"/>
          </p:cNvSpPr>
          <p:nvPr/>
        </p:nvSpPr>
        <p:spPr>
          <a:xfrm>
            <a:off x="9180576" y="1554480"/>
            <a:ext cx="1993392" cy="822960"/>
          </a:xfrm>
          <a:prstGeom prst="roundRect">
            <a:avLst>
              <a:gd name="adj" fmla="val 6667"/>
            </a:avLst>
          </a:prstGeom>
          <a:solidFill>
            <a:srgbClr val="2C5F2D"/>
          </a:solidFill>
        </p:spPr>
        <p:txBody>
          <a:bodyPr/>
          <a:lstStyle/>
          <a:p>
            <a:endParaRPr lang="en-US"/>
          </a:p>
        </p:txBody>
      </p:sp>
      <p:sp>
        <p:nvSpPr>
          <p:cNvPr id="17" name="Text 15">
            <a:extLst>
              <a:ext uri="{FF2B5EF4-FFF2-40B4-BE49-F238E27FC236}">
                <a16:creationId xmlns:a16="http://schemas.microsoft.com/office/drawing/2014/main" id="{F357E9CF-6BD4-435B-B0AE-6B4F070E42D6}"/>
              </a:ext>
            </a:extLst>
          </p:cNvPr>
          <p:cNvSpPr>
            <a:spLocks noGrp="1"/>
          </p:cNvSpPr>
          <p:nvPr/>
        </p:nvSpPr>
        <p:spPr>
          <a:xfrm>
            <a:off x="9180576" y="1554480"/>
            <a:ext cx="1993392" cy="822960"/>
          </a:xfrm>
          <a:prstGeom prst="rect">
            <a:avLst/>
          </a:prstGeom>
          <a:noFill/>
        </p:spPr>
        <p:txBody>
          <a:bodyPr wrap="square" lIns="0" tIns="0" rIns="0" bIns="0" anchor="ctr"/>
          <a:lstStyle/>
          <a:p>
            <a:pPr marL="0" indent="0" algn="ctr">
              <a:buNone/>
            </a:pPr>
            <a:r>
              <a:rPr sz="1250" b="1">
                <a:solidFill>
                  <a:srgbClr val="FFFFFF"/>
                </a:solidFill>
                <a:latin typeface="Calibri"/>
                <a:ea typeface="Calibri"/>
                <a:cs typeface="Calibri"/>
              </a:rPr>
              <a:t>objects ready</a:t>
            </a:r>
          </a:p>
        </p:txBody>
      </p:sp>
      <p:sp>
        <p:nvSpPr>
          <p:cNvPr id="18" name="Text 16">
            <a:extLst>
              <a:ext uri="{FF2B5EF4-FFF2-40B4-BE49-F238E27FC236}">
                <a16:creationId xmlns:a16="http://schemas.microsoft.com/office/drawing/2014/main" id="{DE0EDB97-AD5E-4C55-AA43-D64D35D9D5EF}"/>
              </a:ext>
            </a:extLst>
          </p:cNvPr>
          <p:cNvSpPr>
            <a:spLocks noGrp="1"/>
          </p:cNvSpPr>
          <p:nvPr/>
        </p:nvSpPr>
        <p:spPr>
          <a:xfrm>
            <a:off x="548640" y="2834640"/>
            <a:ext cx="10972800" cy="310896"/>
          </a:xfrm>
          <a:prstGeom prst="rect">
            <a:avLst/>
          </a:prstGeom>
          <a:noFill/>
        </p:spPr>
        <p:txBody>
          <a:bodyPr wrap="square" lIns="0" tIns="0" rIns="0" bIns="0" anchor="ctr"/>
          <a:lstStyle/>
          <a:p>
            <a:pPr marL="0" indent="0">
              <a:buNone/>
            </a:pPr>
            <a:r>
              <a:rPr sz="1500" b="1">
                <a:solidFill>
                  <a:srgbClr val="C2691C"/>
                </a:solidFill>
                <a:latin typeface="Calibri"/>
                <a:ea typeface="Calibri"/>
                <a:cs typeface="Calibri"/>
              </a:rPr>
              <a:t>On-demand reconstruction</a:t>
            </a:r>
          </a:p>
        </p:txBody>
      </p:sp>
      <p:sp>
        <p:nvSpPr>
          <p:cNvPr id="19" name="Text 17">
            <a:extLst>
              <a:ext uri="{FF2B5EF4-FFF2-40B4-BE49-F238E27FC236}">
                <a16:creationId xmlns:a16="http://schemas.microsoft.com/office/drawing/2014/main" id="{D4E8B424-B4FA-4C28-B3D9-B272F89E0284}"/>
              </a:ext>
            </a:extLst>
          </p:cNvPr>
          <p:cNvSpPr>
            <a:spLocks noGrp="1"/>
          </p:cNvSpPr>
          <p:nvPr/>
        </p:nvSpPr>
        <p:spPr>
          <a:xfrm>
            <a:off x="548640" y="3145536"/>
            <a:ext cx="10972800" cy="777240"/>
          </a:xfrm>
          <a:prstGeom prst="rect">
            <a:avLst/>
          </a:prstGeom>
          <a:noFill/>
        </p:spPr>
        <p:txBody>
          <a:bodyPr wrap="square" lIns="0" tIns="0" rIns="0" bIns="0" anchor="t"/>
          <a:lstStyle/>
          <a:p>
            <a:pPr marL="0" indent="0">
              <a:lnSpc>
                <a:spcPct val="108000"/>
              </a:lnSpc>
              <a:buNone/>
            </a:pPr>
            <a:r>
              <a:rPr sz="1400" dirty="0">
                <a:solidFill>
                  <a:srgbClr val="1F2937"/>
                </a:solidFill>
                <a:latin typeface="Calibri"/>
                <a:ea typeface="Calibri"/>
                <a:cs typeface="Calibri"/>
              </a:rPr>
              <a:t>Each object is reconstructed by SAM 3D on a remote GPU. Model load + ~75s/object exceed request timeouts, so we run async jobs the app submits and polls, caching the results.</a:t>
            </a:r>
          </a:p>
        </p:txBody>
      </p:sp>
      <p:sp>
        <p:nvSpPr>
          <p:cNvPr id="20" name="Text 18">
            <a:extLst>
              <a:ext uri="{FF2B5EF4-FFF2-40B4-BE49-F238E27FC236}">
                <a16:creationId xmlns:a16="http://schemas.microsoft.com/office/drawing/2014/main" id="{81FF4731-F4CB-4352-89C4-0AAD39B75207}"/>
              </a:ext>
            </a:extLst>
          </p:cNvPr>
          <p:cNvSpPr>
            <a:spLocks noGrp="1"/>
          </p:cNvSpPr>
          <p:nvPr/>
        </p:nvSpPr>
        <p:spPr>
          <a:xfrm>
            <a:off x="548640" y="4041648"/>
            <a:ext cx="10972800" cy="310896"/>
          </a:xfrm>
          <a:prstGeom prst="rect">
            <a:avLst/>
          </a:prstGeom>
          <a:noFill/>
        </p:spPr>
        <p:txBody>
          <a:bodyPr wrap="square" lIns="0" tIns="0" rIns="0" bIns="0" anchor="ctr"/>
          <a:lstStyle/>
          <a:p>
            <a:pPr marL="0" indent="0">
              <a:buNone/>
            </a:pPr>
            <a:r>
              <a:rPr sz="1500" b="1">
                <a:solidFill>
                  <a:srgbClr val="C2691C"/>
                </a:solidFill>
                <a:latin typeface="Calibri"/>
                <a:ea typeface="Calibri"/>
                <a:cs typeface="Calibri"/>
              </a:rPr>
              <a:t>Render format</a:t>
            </a:r>
          </a:p>
        </p:txBody>
      </p:sp>
      <p:sp>
        <p:nvSpPr>
          <p:cNvPr id="21" name="Text 19">
            <a:extLst>
              <a:ext uri="{FF2B5EF4-FFF2-40B4-BE49-F238E27FC236}">
                <a16:creationId xmlns:a16="http://schemas.microsoft.com/office/drawing/2014/main" id="{AAADCED1-4BC5-4CDB-A41A-CF2A329430AF}"/>
              </a:ext>
            </a:extLst>
          </p:cNvPr>
          <p:cNvSpPr>
            <a:spLocks noGrp="1"/>
          </p:cNvSpPr>
          <p:nvPr/>
        </p:nvSpPr>
        <p:spPr>
          <a:xfrm>
            <a:off x="548640" y="4352544"/>
            <a:ext cx="10972800" cy="777240"/>
          </a:xfrm>
          <a:prstGeom prst="rect">
            <a:avLst/>
          </a:prstGeom>
          <a:noFill/>
        </p:spPr>
        <p:txBody>
          <a:bodyPr wrap="square" lIns="0" tIns="0" rIns="0" bIns="0" anchor="t"/>
          <a:lstStyle/>
          <a:p>
            <a:pPr marL="0" indent="0">
              <a:lnSpc>
                <a:spcPct val="108000"/>
              </a:lnSpc>
              <a:buNone/>
            </a:pPr>
            <a:r>
              <a:rPr sz="1400">
                <a:solidFill>
                  <a:srgbClr val="1F2937"/>
                </a:solidFill>
                <a:latin typeface="Calibri"/>
                <a:ea typeface="Calibri"/>
                <a:cs typeface="Calibri"/>
              </a:rPr>
              <a:t>Gaussian splats don't render natively in RealityKit, so we take reconstruction through a mesh→USDZ path — the format the runtime can load.</a:t>
            </a:r>
          </a:p>
        </p:txBody>
      </p:sp>
      <p:sp>
        <p:nvSpPr>
          <p:cNvPr id="22" name="Text 20">
            <a:extLst>
              <a:ext uri="{FF2B5EF4-FFF2-40B4-BE49-F238E27FC236}">
                <a16:creationId xmlns:a16="http://schemas.microsoft.com/office/drawing/2014/main" id="{1DC0E7F7-D1F7-44C5-B286-36D2E1DB7E93}"/>
              </a:ext>
            </a:extLst>
          </p:cNvPr>
          <p:cNvSpPr>
            <a:spLocks noGrp="1"/>
          </p:cNvSpPr>
          <p:nvPr/>
        </p:nvSpPr>
        <p:spPr>
          <a:xfrm>
            <a:off x="548640" y="5248656"/>
            <a:ext cx="10972800" cy="310896"/>
          </a:xfrm>
          <a:prstGeom prst="rect">
            <a:avLst/>
          </a:prstGeom>
          <a:noFill/>
        </p:spPr>
        <p:txBody>
          <a:bodyPr wrap="square" lIns="0" tIns="0" rIns="0" bIns="0" anchor="ctr"/>
          <a:lstStyle/>
          <a:p>
            <a:pPr marL="0" indent="0">
              <a:buNone/>
            </a:pPr>
            <a:r>
              <a:rPr sz="1500" b="1">
                <a:solidFill>
                  <a:srgbClr val="C2691C"/>
                </a:solidFill>
                <a:latin typeface="Calibri"/>
                <a:ea typeface="Calibri"/>
                <a:cs typeface="Calibri"/>
              </a:rPr>
              <a:t>Always-runnable fallback</a:t>
            </a:r>
          </a:p>
        </p:txBody>
      </p:sp>
      <p:sp>
        <p:nvSpPr>
          <p:cNvPr id="23" name="Text 21">
            <a:extLst>
              <a:ext uri="{FF2B5EF4-FFF2-40B4-BE49-F238E27FC236}">
                <a16:creationId xmlns:a16="http://schemas.microsoft.com/office/drawing/2014/main" id="{D788FFB2-80EE-4175-B5FD-0B6D6755DA57}"/>
              </a:ext>
            </a:extLst>
          </p:cNvPr>
          <p:cNvSpPr>
            <a:spLocks noGrp="1"/>
          </p:cNvSpPr>
          <p:nvPr/>
        </p:nvSpPr>
        <p:spPr>
          <a:xfrm>
            <a:off x="548640" y="5559552"/>
            <a:ext cx="10972800" cy="777240"/>
          </a:xfrm>
          <a:prstGeom prst="rect">
            <a:avLst/>
          </a:prstGeom>
          <a:noFill/>
        </p:spPr>
        <p:txBody>
          <a:bodyPr wrap="square" lIns="0" tIns="0" rIns="0" bIns="0" anchor="t"/>
          <a:lstStyle/>
          <a:p>
            <a:pPr marL="0" indent="0">
              <a:lnSpc>
                <a:spcPct val="108000"/>
              </a:lnSpc>
              <a:buNone/>
            </a:pPr>
            <a:r>
              <a:rPr sz="1400">
                <a:solidFill>
                  <a:srgbClr val="1F2937"/>
                </a:solidFill>
                <a:latin typeface="Calibri"/>
                <a:ea typeface="Calibri"/>
                <a:cs typeface="Calibri"/>
              </a:rPr>
              <a:t>Objects that fail to reconstruct fall back to primitive proxies, so a scene is never blocked on a single failed asset (apple_basket failed while the rest fell back).</a:t>
            </a:r>
          </a:p>
        </p:txBody>
      </p:sp>
      <p:sp>
        <p:nvSpPr>
          <p:cNvPr id="6" name="Shape 4">
            <a:extLst>
              <a:ext uri="{FF2B5EF4-FFF2-40B4-BE49-F238E27FC236}">
                <a16:creationId xmlns:a16="http://schemas.microsoft.com/office/drawing/2014/main" id="{DAE7449C-34A6-4D7F-A029-5F32F1E85AC9}"/>
              </a:ext>
            </a:extLst>
          </p:cNvPr>
          <p:cNvSpPr>
            <a:spLocks noGrp="1"/>
          </p:cNvSpPr>
          <p:nvPr/>
        </p:nvSpPr>
        <p:spPr>
          <a:xfrm>
            <a:off x="2551176" y="1965960"/>
            <a:ext cx="146304" cy="0"/>
          </a:xfrm>
          <a:prstGeom prst="line">
            <a:avLst/>
          </a:prstGeom>
          <a:noFill/>
          <a:ln w="25400">
            <a:solidFill>
              <a:srgbClr val="6B7280"/>
            </a:solidFill>
            <a:prstDash val="solid"/>
          </a:ln>
        </p:spPr>
        <p:txBody>
          <a:bodyPr/>
          <a:lstStyle/>
          <a:p>
            <a:endParaRPr lang="en-US"/>
          </a:p>
        </p:txBody>
      </p:sp>
    </p:spTree>
    <p:extLst>
      <p:ext uri="{BB962C8B-B14F-4D97-AF65-F5344CB8AC3E}">
        <p14:creationId xmlns:p14="http://schemas.microsoft.com/office/powerpoint/2010/main" val="1993761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780F696-BD41-4A6E-8E56-0D26EAFC5BFC}"/>
              </a:ext>
            </a:extLst>
          </p:cNvPr>
          <p:cNvSpPr>
            <a:spLocks noGrp="1"/>
          </p:cNvSpPr>
          <p:nvPr/>
        </p:nvSpPr>
        <p:spPr>
          <a:xfrm>
            <a:off x="548640" y="365760"/>
            <a:ext cx="10058400" cy="274320"/>
          </a:xfrm>
          <a:prstGeom prst="rect">
            <a:avLst/>
          </a:prstGeom>
          <a:noFill/>
        </p:spPr>
        <p:txBody>
          <a:bodyPr wrap="square" lIns="0" tIns="0" rIns="0" bIns="0" anchor="ctr"/>
          <a:lstStyle/>
          <a:p>
            <a:pPr marL="0" indent="0">
              <a:buNone/>
            </a:pPr>
            <a:endParaRPr sz="1200" b="1" spc="100" dirty="0">
              <a:solidFill>
                <a:srgbClr val="C2691C"/>
              </a:solidFill>
              <a:latin typeface="Calibri"/>
              <a:ea typeface="Calibri"/>
              <a:cs typeface="Calibri"/>
            </a:endParaRPr>
          </a:p>
        </p:txBody>
      </p:sp>
      <p:sp>
        <p:nvSpPr>
          <p:cNvPr id="3" name="Text 1">
            <a:extLst>
              <a:ext uri="{FF2B5EF4-FFF2-40B4-BE49-F238E27FC236}">
                <a16:creationId xmlns:a16="http://schemas.microsoft.com/office/drawing/2014/main" id="{9B5666BF-B300-43CC-8946-FC33656FEBFC}"/>
              </a:ext>
            </a:extLst>
          </p:cNvPr>
          <p:cNvSpPr>
            <a:spLocks noGrp="1"/>
          </p:cNvSpPr>
          <p:nvPr/>
        </p:nvSpPr>
        <p:spPr>
          <a:xfrm>
            <a:off x="548640" y="640080"/>
            <a:ext cx="11064240" cy="548640"/>
          </a:xfrm>
          <a:prstGeom prst="rect">
            <a:avLst/>
          </a:prstGeom>
          <a:noFill/>
        </p:spPr>
        <p:txBody>
          <a:bodyPr wrap="square" lIns="0" tIns="0" rIns="0" bIns="0" anchor="ctr"/>
          <a:lstStyle/>
          <a:p>
            <a:pPr marL="0" indent="0">
              <a:buNone/>
            </a:pPr>
            <a:r>
              <a:rPr lang="en-US" sz="2600" b="1" dirty="0">
                <a:solidFill>
                  <a:srgbClr val="1F2937"/>
                </a:solidFill>
                <a:latin typeface="Georgia"/>
                <a:ea typeface="Georgia"/>
                <a:cs typeface="Georgia"/>
              </a:rPr>
              <a:t>Laying out </a:t>
            </a:r>
            <a:r>
              <a:rPr sz="2600" b="1" dirty="0">
                <a:solidFill>
                  <a:srgbClr val="1F2937"/>
                </a:solidFill>
                <a:latin typeface="Georgia"/>
                <a:ea typeface="Georgia"/>
                <a:cs typeface="Georgia"/>
              </a:rPr>
              <a:t>out a coherent scene</a:t>
            </a:r>
          </a:p>
        </p:txBody>
      </p:sp>
      <p:sp>
        <p:nvSpPr>
          <p:cNvPr id="4" name="Text 2">
            <a:extLst>
              <a:ext uri="{FF2B5EF4-FFF2-40B4-BE49-F238E27FC236}">
                <a16:creationId xmlns:a16="http://schemas.microsoft.com/office/drawing/2014/main" id="{F944C6E0-A753-40F8-9D6D-662277ADD32C}"/>
              </a:ext>
            </a:extLst>
          </p:cNvPr>
          <p:cNvSpPr>
            <a:spLocks noGrp="1"/>
          </p:cNvSpPr>
          <p:nvPr/>
        </p:nvSpPr>
        <p:spPr>
          <a:xfrm>
            <a:off x="548640" y="1463040"/>
            <a:ext cx="11064240" cy="914400"/>
          </a:xfrm>
          <a:prstGeom prst="rect">
            <a:avLst/>
          </a:prstGeom>
          <a:noFill/>
        </p:spPr>
        <p:txBody>
          <a:bodyPr wrap="square" anchor="t"/>
          <a:lstStyle/>
          <a:p>
            <a:pPr marL="0" indent="0">
              <a:lnSpc>
                <a:spcPct val="112000"/>
              </a:lnSpc>
              <a:buNone/>
            </a:pPr>
            <a:r>
              <a:rPr sz="1500" b="1">
                <a:solidFill>
                  <a:srgbClr val="C2691C"/>
                </a:solidFill>
                <a:latin typeface="Calibri"/>
                <a:ea typeface="Calibri"/>
                <a:cs typeface="Calibri"/>
              </a:rPr>
              <a:t>The problem.  </a:t>
            </a:r>
            <a:r>
              <a:rPr sz="1500">
                <a:solidFill>
                  <a:srgbClr val="1F2937"/>
                </a:solidFill>
                <a:latin typeface="Calibri"/>
                <a:ea typeface="Calibri"/>
                <a:cs typeface="Calibri"/>
              </a:rPr>
              <a:t>A model that emits 3D coordinates produces physically incoherent scenes — props float (the basket at y=1.0), overlap at the origin, ignore the counter. Spatial validity, not generation, was our bottleneck.</a:t>
            </a:r>
          </a:p>
        </p:txBody>
      </p:sp>
      <p:sp>
        <p:nvSpPr>
          <p:cNvPr id="5" name="Text 3">
            <a:extLst>
              <a:ext uri="{FF2B5EF4-FFF2-40B4-BE49-F238E27FC236}">
                <a16:creationId xmlns:a16="http://schemas.microsoft.com/office/drawing/2014/main" id="{ECC6BE65-28B7-4F37-B7D5-46CA1CBB3559}"/>
              </a:ext>
            </a:extLst>
          </p:cNvPr>
          <p:cNvSpPr>
            <a:spLocks noGrp="1"/>
          </p:cNvSpPr>
          <p:nvPr/>
        </p:nvSpPr>
        <p:spPr>
          <a:xfrm>
            <a:off x="548640" y="2514600"/>
            <a:ext cx="11064240" cy="914400"/>
          </a:xfrm>
          <a:prstGeom prst="rect">
            <a:avLst/>
          </a:prstGeom>
          <a:noFill/>
        </p:spPr>
        <p:txBody>
          <a:bodyPr wrap="square" anchor="t"/>
          <a:lstStyle/>
          <a:p>
            <a:pPr marL="0" indent="0">
              <a:lnSpc>
                <a:spcPct val="112000"/>
              </a:lnSpc>
              <a:buNone/>
            </a:pPr>
            <a:r>
              <a:rPr sz="1500" b="1" dirty="0">
                <a:solidFill>
                  <a:srgbClr val="065A82"/>
                </a:solidFill>
                <a:latin typeface="Calibri"/>
                <a:ea typeface="Calibri"/>
                <a:cs typeface="Calibri"/>
              </a:rPr>
              <a:t>Holodeck’s </a:t>
            </a:r>
            <a:r>
              <a:rPr lang="en-US" sz="1500" b="1" dirty="0">
                <a:solidFill>
                  <a:srgbClr val="065A82"/>
                </a:solidFill>
                <a:latin typeface="Calibri"/>
                <a:ea typeface="Calibri"/>
                <a:cs typeface="Calibri"/>
              </a:rPr>
              <a:t>insight</a:t>
            </a:r>
            <a:r>
              <a:rPr sz="1500" b="1" dirty="0">
                <a:solidFill>
                  <a:srgbClr val="065A82"/>
                </a:solidFill>
                <a:latin typeface="Calibri"/>
                <a:ea typeface="Calibri"/>
                <a:cs typeface="Calibri"/>
              </a:rPr>
              <a:t>.  </a:t>
            </a:r>
            <a:r>
              <a:rPr lang="en-US" sz="1500" dirty="0">
                <a:solidFill>
                  <a:srgbClr val="1F2937"/>
                </a:solidFill>
                <a:latin typeface="Calibri"/>
                <a:ea typeface="Calibri"/>
                <a:cs typeface="Calibri"/>
              </a:rPr>
              <a:t>Derive proper </a:t>
            </a:r>
            <a:r>
              <a:rPr sz="1500" dirty="0">
                <a:solidFill>
                  <a:srgbClr val="1F2937"/>
                </a:solidFill>
                <a:latin typeface="Calibri"/>
                <a:ea typeface="Calibri"/>
                <a:cs typeface="Calibri"/>
              </a:rPr>
              <a:t>placement from structure</a:t>
            </a:r>
            <a:r>
              <a:rPr lang="en-US" sz="1500" dirty="0">
                <a:solidFill>
                  <a:srgbClr val="1F2937"/>
                </a:solidFill>
                <a:latin typeface="Calibri"/>
                <a:ea typeface="Calibri"/>
                <a:cs typeface="Calibri"/>
              </a:rPr>
              <a:t>d metadata</a:t>
            </a:r>
            <a:r>
              <a:rPr sz="1500" dirty="0">
                <a:solidFill>
                  <a:srgbClr val="1F2937"/>
                </a:solidFill>
                <a:latin typeface="Calibri"/>
                <a:ea typeface="Calibri"/>
                <a:cs typeface="Calibri"/>
              </a:rPr>
              <a:t>. Holodeck has GPT-4 emit spatial relational constraints, then optimizes a room layout to satisfy them.</a:t>
            </a:r>
          </a:p>
        </p:txBody>
      </p:sp>
      <p:sp>
        <p:nvSpPr>
          <p:cNvPr id="6" name="Text 4">
            <a:extLst>
              <a:ext uri="{FF2B5EF4-FFF2-40B4-BE49-F238E27FC236}">
                <a16:creationId xmlns:a16="http://schemas.microsoft.com/office/drawing/2014/main" id="{1EC4A0F1-898A-4AA6-9304-8C5E9FDE4757}"/>
              </a:ext>
            </a:extLst>
          </p:cNvPr>
          <p:cNvSpPr>
            <a:spLocks noGrp="1"/>
          </p:cNvSpPr>
          <p:nvPr/>
        </p:nvSpPr>
        <p:spPr>
          <a:xfrm>
            <a:off x="548640" y="3566160"/>
            <a:ext cx="11064240" cy="914400"/>
          </a:xfrm>
          <a:prstGeom prst="rect">
            <a:avLst/>
          </a:prstGeom>
          <a:noFill/>
        </p:spPr>
        <p:txBody>
          <a:bodyPr wrap="square" anchor="t"/>
          <a:lstStyle/>
          <a:p>
            <a:pPr marL="0" indent="0">
              <a:lnSpc>
                <a:spcPct val="112000"/>
              </a:lnSpc>
              <a:buNone/>
            </a:pPr>
            <a:r>
              <a:rPr sz="1500" b="1" dirty="0">
                <a:solidFill>
                  <a:srgbClr val="2C5F2D"/>
                </a:solidFill>
                <a:latin typeface="Calibri"/>
                <a:ea typeface="Calibri"/>
                <a:cs typeface="Calibri"/>
              </a:rPr>
              <a:t>Our </a:t>
            </a:r>
            <a:r>
              <a:rPr lang="en-US" sz="1500" b="1" dirty="0">
                <a:solidFill>
                  <a:srgbClr val="2C5F2D"/>
                </a:solidFill>
                <a:latin typeface="Calibri"/>
                <a:ea typeface="Calibri"/>
                <a:cs typeface="Calibri"/>
              </a:rPr>
              <a:t>solution</a:t>
            </a:r>
            <a:r>
              <a:rPr sz="1500" b="1" dirty="0">
                <a:solidFill>
                  <a:srgbClr val="2C5F2D"/>
                </a:solidFill>
                <a:latin typeface="Calibri"/>
                <a:ea typeface="Calibri"/>
                <a:cs typeface="Calibri"/>
              </a:rPr>
              <a:t>.  </a:t>
            </a:r>
            <a:r>
              <a:rPr sz="1500" dirty="0">
                <a:solidFill>
                  <a:srgbClr val="1F2937"/>
                </a:solidFill>
                <a:latin typeface="Calibri"/>
                <a:ea typeface="Calibri"/>
                <a:cs typeface="Calibri"/>
              </a:rPr>
              <a:t>A deterministic</a:t>
            </a:r>
            <a:r>
              <a:rPr lang="en-US" sz="1500" dirty="0">
                <a:solidFill>
                  <a:srgbClr val="1F2937"/>
                </a:solidFill>
                <a:latin typeface="Calibri"/>
                <a:ea typeface="Calibri"/>
                <a:cs typeface="Calibri"/>
              </a:rPr>
              <a:t> </a:t>
            </a:r>
            <a:r>
              <a:rPr sz="1500" dirty="0">
                <a:solidFill>
                  <a:srgbClr val="1F2937"/>
                </a:solidFill>
                <a:latin typeface="Calibri"/>
                <a:ea typeface="Calibri"/>
                <a:cs typeface="Calibri"/>
              </a:rPr>
              <a:t>layout solver (“stage_surface_slots_v1”) that places objects from roles, task-derived relations, and reconstruction signal — never from the model's raw coordinates.</a:t>
            </a:r>
            <a:r>
              <a:rPr lang="en-US" sz="1500" dirty="0">
                <a:solidFill>
                  <a:srgbClr val="1F2937"/>
                </a:solidFill>
                <a:latin typeface="Calibri"/>
                <a:ea typeface="Calibri"/>
                <a:cs typeface="Calibri"/>
              </a:rPr>
              <a:t> </a:t>
            </a:r>
            <a:endParaRPr sz="1500" dirty="0">
              <a:solidFill>
                <a:srgbClr val="1F2937"/>
              </a:solidFill>
              <a:latin typeface="Calibri"/>
              <a:ea typeface="Calibri"/>
              <a:cs typeface="Calibri"/>
            </a:endParaRPr>
          </a:p>
        </p:txBody>
      </p:sp>
    </p:spTree>
    <p:extLst>
      <p:ext uri="{BB962C8B-B14F-4D97-AF65-F5344CB8AC3E}">
        <p14:creationId xmlns:p14="http://schemas.microsoft.com/office/powerpoint/2010/main" val="1529752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0392E337-923B-4528-92CD-E68D61EC8194}"/>
              </a:ext>
            </a:extLst>
          </p:cNvPr>
          <p:cNvSpPr>
            <a:spLocks noGrp="1"/>
          </p:cNvSpPr>
          <p:nvPr/>
        </p:nvSpPr>
        <p:spPr>
          <a:xfrm>
            <a:off x="548640" y="640080"/>
            <a:ext cx="11064240" cy="548640"/>
          </a:xfrm>
          <a:prstGeom prst="rect">
            <a:avLst/>
          </a:prstGeom>
          <a:noFill/>
        </p:spPr>
        <p:txBody>
          <a:bodyPr wrap="square" lIns="0" tIns="0" rIns="0" bIns="0" anchor="ctr"/>
          <a:lstStyle/>
          <a:p>
            <a:pPr marL="0" indent="0">
              <a:buNone/>
            </a:pPr>
            <a:r>
              <a:rPr sz="2400" b="1" dirty="0">
                <a:solidFill>
                  <a:srgbClr val="1F2937"/>
                </a:solidFill>
                <a:latin typeface="Georgia"/>
                <a:ea typeface="Georgia"/>
                <a:cs typeface="Georgia"/>
              </a:rPr>
              <a:t>How we place objects: metadata, relations, anchor</a:t>
            </a:r>
          </a:p>
        </p:txBody>
      </p:sp>
      <p:sp>
        <p:nvSpPr>
          <p:cNvPr id="4" name="Shape 2">
            <a:extLst>
              <a:ext uri="{FF2B5EF4-FFF2-40B4-BE49-F238E27FC236}">
                <a16:creationId xmlns:a16="http://schemas.microsoft.com/office/drawing/2014/main" id="{77DFD0CC-171F-45DB-BBED-8F96A102F83D}"/>
              </a:ext>
            </a:extLst>
          </p:cNvPr>
          <p:cNvSpPr>
            <a:spLocks noGrp="1"/>
          </p:cNvSpPr>
          <p:nvPr/>
        </p:nvSpPr>
        <p:spPr>
          <a:xfrm>
            <a:off x="548640" y="1417320"/>
            <a:ext cx="5440680" cy="1965960"/>
          </a:xfrm>
          <a:prstGeom prst="roundRect">
            <a:avLst>
              <a:gd name="adj" fmla="val 3721"/>
            </a:avLst>
          </a:prstGeom>
          <a:solidFill>
            <a:srgbClr val="F1F5F9"/>
          </a:solidFill>
          <a:ln w="12700">
            <a:solidFill>
              <a:srgbClr val="D7DEE8"/>
            </a:solidFill>
            <a:prstDash val="solid"/>
          </a:ln>
        </p:spPr>
        <p:txBody>
          <a:bodyPr/>
          <a:lstStyle/>
          <a:p>
            <a:endParaRPr lang="en-US"/>
          </a:p>
        </p:txBody>
      </p:sp>
      <p:sp>
        <p:nvSpPr>
          <p:cNvPr id="5" name="Text 3">
            <a:extLst>
              <a:ext uri="{FF2B5EF4-FFF2-40B4-BE49-F238E27FC236}">
                <a16:creationId xmlns:a16="http://schemas.microsoft.com/office/drawing/2014/main" id="{CBBD9C6E-5DEF-43A4-A37F-26477E6C4954}"/>
              </a:ext>
            </a:extLst>
          </p:cNvPr>
          <p:cNvSpPr>
            <a:spLocks noGrp="1"/>
          </p:cNvSpPr>
          <p:nvPr/>
        </p:nvSpPr>
        <p:spPr>
          <a:xfrm>
            <a:off x="804672" y="1581912"/>
            <a:ext cx="4937760" cy="548640"/>
          </a:xfrm>
          <a:prstGeom prst="rect">
            <a:avLst/>
          </a:prstGeom>
          <a:noFill/>
        </p:spPr>
        <p:txBody>
          <a:bodyPr wrap="square" lIns="0" tIns="0" rIns="0" bIns="0" anchor="t"/>
          <a:lstStyle/>
          <a:p>
            <a:pPr marL="0" indent="0">
              <a:buNone/>
            </a:pPr>
            <a:r>
              <a:rPr sz="1500" b="1">
                <a:solidFill>
                  <a:srgbClr val="065A82"/>
                </a:solidFill>
                <a:latin typeface="Calibri"/>
                <a:ea typeface="Calibri"/>
                <a:cs typeface="Calibri"/>
              </a:rPr>
              <a:t>1 · Placement signal + screenshot review</a:t>
            </a:r>
          </a:p>
        </p:txBody>
      </p:sp>
      <p:sp>
        <p:nvSpPr>
          <p:cNvPr id="6" name="Text 4">
            <a:extLst>
              <a:ext uri="{FF2B5EF4-FFF2-40B4-BE49-F238E27FC236}">
                <a16:creationId xmlns:a16="http://schemas.microsoft.com/office/drawing/2014/main" id="{CDB72705-2E43-4E02-B37F-89236C4C3870}"/>
              </a:ext>
            </a:extLst>
          </p:cNvPr>
          <p:cNvSpPr>
            <a:spLocks noGrp="1"/>
          </p:cNvSpPr>
          <p:nvPr/>
        </p:nvSpPr>
        <p:spPr>
          <a:xfrm>
            <a:off x="804672" y="2075688"/>
            <a:ext cx="4937760" cy="1188720"/>
          </a:xfrm>
          <a:prstGeom prst="rect">
            <a:avLst/>
          </a:prstGeom>
          <a:noFill/>
        </p:spPr>
        <p:txBody>
          <a:bodyPr wrap="square" lIns="0" tIns="0" rIns="0" bIns="0" anchor="t"/>
          <a:lstStyle/>
          <a:p>
            <a:pPr marL="0" indent="0">
              <a:lnSpc>
                <a:spcPct val="108000"/>
              </a:lnSpc>
              <a:buNone/>
            </a:pPr>
            <a:r>
              <a:rPr sz="1280" dirty="0">
                <a:solidFill>
                  <a:srgbClr val="1F2937"/>
                </a:solidFill>
                <a:latin typeface="Calibri"/>
                <a:ea typeface="Calibri"/>
                <a:cs typeface="Calibri"/>
              </a:rPr>
              <a:t>SAM 3D returns per-object translation + scale; we also derive an image-plane candidate (X from image left/right, Z from vertical position, depth from area). We </a:t>
            </a:r>
            <a:r>
              <a:rPr lang="en-US" sz="1280" dirty="0">
                <a:solidFill>
                  <a:srgbClr val="1F2937"/>
                </a:solidFill>
                <a:latin typeface="Calibri"/>
                <a:ea typeface="Calibri"/>
                <a:cs typeface="Calibri"/>
              </a:rPr>
              <a:t>used a VLM to </a:t>
            </a:r>
            <a:r>
              <a:rPr sz="1280" dirty="0">
                <a:solidFill>
                  <a:srgbClr val="1F2937"/>
                </a:solidFill>
                <a:latin typeface="Calibri"/>
                <a:ea typeface="Calibri"/>
                <a:cs typeface="Calibri"/>
              </a:rPr>
              <a:t>review rendered screenshots</a:t>
            </a:r>
            <a:r>
              <a:rPr lang="en-US" sz="1280" dirty="0">
                <a:solidFill>
                  <a:srgbClr val="1F2937"/>
                </a:solidFill>
                <a:latin typeface="Calibri"/>
                <a:ea typeface="Calibri"/>
                <a:cs typeface="Calibri"/>
              </a:rPr>
              <a:t> and label it with pose estimation data,</a:t>
            </a:r>
            <a:r>
              <a:rPr sz="1280" dirty="0">
                <a:solidFill>
                  <a:srgbClr val="1F2937"/>
                </a:solidFill>
                <a:latin typeface="Calibri"/>
                <a:ea typeface="Calibri"/>
                <a:cs typeface="Calibri"/>
              </a:rPr>
              <a:t> </a:t>
            </a:r>
            <a:r>
              <a:rPr lang="en-US" sz="1280" dirty="0">
                <a:solidFill>
                  <a:srgbClr val="1F2937"/>
                </a:solidFill>
                <a:latin typeface="Calibri"/>
                <a:ea typeface="Calibri"/>
                <a:cs typeface="Calibri"/>
              </a:rPr>
              <a:t>adjusting it </a:t>
            </a:r>
            <a:r>
              <a:rPr sz="1280" dirty="0">
                <a:solidFill>
                  <a:srgbClr val="1F2937"/>
                </a:solidFill>
                <a:latin typeface="Calibri"/>
                <a:ea typeface="Calibri"/>
                <a:cs typeface="Calibri"/>
              </a:rPr>
              <a:t>until objects transferred plausibly.</a:t>
            </a:r>
          </a:p>
        </p:txBody>
      </p:sp>
      <p:sp>
        <p:nvSpPr>
          <p:cNvPr id="7" name="Shape 5">
            <a:extLst>
              <a:ext uri="{FF2B5EF4-FFF2-40B4-BE49-F238E27FC236}">
                <a16:creationId xmlns:a16="http://schemas.microsoft.com/office/drawing/2014/main" id="{E9709830-3615-4A3A-8693-EAA3A8829391}"/>
              </a:ext>
            </a:extLst>
          </p:cNvPr>
          <p:cNvSpPr>
            <a:spLocks noGrp="1"/>
          </p:cNvSpPr>
          <p:nvPr/>
        </p:nvSpPr>
        <p:spPr>
          <a:xfrm>
            <a:off x="6172200" y="1417320"/>
            <a:ext cx="5440680" cy="1965960"/>
          </a:xfrm>
          <a:prstGeom prst="roundRect">
            <a:avLst>
              <a:gd name="adj" fmla="val 3721"/>
            </a:avLst>
          </a:prstGeom>
          <a:solidFill>
            <a:srgbClr val="F1F5F9"/>
          </a:solidFill>
          <a:ln w="12700">
            <a:solidFill>
              <a:srgbClr val="D7DEE8"/>
            </a:solidFill>
            <a:prstDash val="solid"/>
          </a:ln>
        </p:spPr>
        <p:txBody>
          <a:bodyPr/>
          <a:lstStyle/>
          <a:p>
            <a:endParaRPr lang="en-US"/>
          </a:p>
        </p:txBody>
      </p:sp>
      <p:sp>
        <p:nvSpPr>
          <p:cNvPr id="8" name="Text 6">
            <a:extLst>
              <a:ext uri="{FF2B5EF4-FFF2-40B4-BE49-F238E27FC236}">
                <a16:creationId xmlns:a16="http://schemas.microsoft.com/office/drawing/2014/main" id="{A8C598AD-FD48-4B6B-A7F5-796E4A3931E6}"/>
              </a:ext>
            </a:extLst>
          </p:cNvPr>
          <p:cNvSpPr>
            <a:spLocks noGrp="1"/>
          </p:cNvSpPr>
          <p:nvPr/>
        </p:nvSpPr>
        <p:spPr>
          <a:xfrm>
            <a:off x="6428232" y="1581912"/>
            <a:ext cx="4937760" cy="548640"/>
          </a:xfrm>
          <a:prstGeom prst="rect">
            <a:avLst/>
          </a:prstGeom>
          <a:noFill/>
        </p:spPr>
        <p:txBody>
          <a:bodyPr wrap="square" lIns="0" tIns="0" rIns="0" bIns="0" anchor="t"/>
          <a:lstStyle/>
          <a:p>
            <a:pPr marL="0" indent="0">
              <a:buNone/>
            </a:pPr>
            <a:r>
              <a:rPr sz="1500" b="1">
                <a:solidFill>
                  <a:srgbClr val="1C7293"/>
                </a:solidFill>
                <a:latin typeface="Calibri"/>
                <a:ea typeface="Calibri"/>
                <a:cs typeface="Calibri"/>
              </a:rPr>
              <a:t>2 · Metadata-driven roles</a:t>
            </a:r>
          </a:p>
        </p:txBody>
      </p:sp>
      <p:sp>
        <p:nvSpPr>
          <p:cNvPr id="9" name="Text 7">
            <a:extLst>
              <a:ext uri="{FF2B5EF4-FFF2-40B4-BE49-F238E27FC236}">
                <a16:creationId xmlns:a16="http://schemas.microsoft.com/office/drawing/2014/main" id="{5C350B3A-51FC-41E0-A8EA-4329B1DC11FB}"/>
              </a:ext>
            </a:extLst>
          </p:cNvPr>
          <p:cNvSpPr>
            <a:spLocks noGrp="1"/>
          </p:cNvSpPr>
          <p:nvPr/>
        </p:nvSpPr>
        <p:spPr>
          <a:xfrm>
            <a:off x="6428232" y="2075688"/>
            <a:ext cx="4937760" cy="1188720"/>
          </a:xfrm>
          <a:prstGeom prst="rect">
            <a:avLst/>
          </a:prstGeom>
          <a:noFill/>
        </p:spPr>
        <p:txBody>
          <a:bodyPr wrap="square" lIns="0" tIns="0" rIns="0" bIns="0" anchor="t"/>
          <a:lstStyle/>
          <a:p>
            <a:pPr marL="0" indent="0">
              <a:lnSpc>
                <a:spcPct val="108000"/>
              </a:lnSpc>
              <a:buNone/>
            </a:pPr>
            <a:r>
              <a:rPr sz="1280" dirty="0">
                <a:solidFill>
                  <a:srgbClr val="1F2937"/>
                </a:solidFill>
                <a:latin typeface="Calibri"/>
                <a:ea typeface="Calibri"/>
                <a:cs typeface="Calibri"/>
              </a:rPr>
              <a:t>Every object is tagged a role — surface, prop, or person-marker — with a support surface and a normalized size. The surface is snapped to a canonical reach pose ([0, 0.62, −0.95]).</a:t>
            </a:r>
          </a:p>
        </p:txBody>
      </p:sp>
      <p:sp>
        <p:nvSpPr>
          <p:cNvPr id="10" name="Shape 8">
            <a:extLst>
              <a:ext uri="{FF2B5EF4-FFF2-40B4-BE49-F238E27FC236}">
                <a16:creationId xmlns:a16="http://schemas.microsoft.com/office/drawing/2014/main" id="{7BBC4F17-3F32-4397-8D83-9629EF281C52}"/>
              </a:ext>
            </a:extLst>
          </p:cNvPr>
          <p:cNvSpPr>
            <a:spLocks noGrp="1"/>
          </p:cNvSpPr>
          <p:nvPr/>
        </p:nvSpPr>
        <p:spPr>
          <a:xfrm>
            <a:off x="548640" y="3566160"/>
            <a:ext cx="5440680" cy="1965960"/>
          </a:xfrm>
          <a:prstGeom prst="roundRect">
            <a:avLst>
              <a:gd name="adj" fmla="val 3721"/>
            </a:avLst>
          </a:prstGeom>
          <a:solidFill>
            <a:srgbClr val="F1F5F9"/>
          </a:solidFill>
          <a:ln w="12700">
            <a:solidFill>
              <a:srgbClr val="D7DEE8"/>
            </a:solidFill>
            <a:prstDash val="solid"/>
          </a:ln>
        </p:spPr>
        <p:txBody>
          <a:bodyPr/>
          <a:lstStyle/>
          <a:p>
            <a:endParaRPr lang="en-US"/>
          </a:p>
        </p:txBody>
      </p:sp>
      <p:sp>
        <p:nvSpPr>
          <p:cNvPr id="11" name="Text 9">
            <a:extLst>
              <a:ext uri="{FF2B5EF4-FFF2-40B4-BE49-F238E27FC236}">
                <a16:creationId xmlns:a16="http://schemas.microsoft.com/office/drawing/2014/main" id="{C0EECB00-DF74-4602-B342-D2B4D6A9F13B}"/>
              </a:ext>
            </a:extLst>
          </p:cNvPr>
          <p:cNvSpPr>
            <a:spLocks noGrp="1"/>
          </p:cNvSpPr>
          <p:nvPr/>
        </p:nvSpPr>
        <p:spPr>
          <a:xfrm>
            <a:off x="804672" y="3730752"/>
            <a:ext cx="4937760" cy="548640"/>
          </a:xfrm>
          <a:prstGeom prst="rect">
            <a:avLst/>
          </a:prstGeom>
          <a:noFill/>
        </p:spPr>
        <p:txBody>
          <a:bodyPr wrap="square" lIns="0" tIns="0" rIns="0" bIns="0" anchor="t"/>
          <a:lstStyle/>
          <a:p>
            <a:pPr marL="0" indent="0">
              <a:buNone/>
            </a:pPr>
            <a:r>
              <a:rPr sz="1500" b="1">
                <a:solidFill>
                  <a:srgbClr val="065A82"/>
                </a:solidFill>
                <a:latin typeface="Calibri"/>
                <a:ea typeface="Calibri"/>
                <a:cs typeface="Calibri"/>
              </a:rPr>
              <a:t>3 · Relations from the task queue</a:t>
            </a:r>
          </a:p>
        </p:txBody>
      </p:sp>
      <p:sp>
        <p:nvSpPr>
          <p:cNvPr id="12" name="Text 10">
            <a:extLst>
              <a:ext uri="{FF2B5EF4-FFF2-40B4-BE49-F238E27FC236}">
                <a16:creationId xmlns:a16="http://schemas.microsoft.com/office/drawing/2014/main" id="{9B78E153-2778-4873-96CD-9D4CF5ABABFB}"/>
              </a:ext>
            </a:extLst>
          </p:cNvPr>
          <p:cNvSpPr>
            <a:spLocks noGrp="1"/>
          </p:cNvSpPr>
          <p:nvPr/>
        </p:nvSpPr>
        <p:spPr>
          <a:xfrm>
            <a:off x="804672" y="4224528"/>
            <a:ext cx="4937760" cy="1188720"/>
          </a:xfrm>
          <a:prstGeom prst="rect">
            <a:avLst/>
          </a:prstGeom>
          <a:noFill/>
        </p:spPr>
        <p:txBody>
          <a:bodyPr wrap="square" lIns="0" tIns="0" rIns="0" bIns="0" anchor="t"/>
          <a:lstStyle/>
          <a:p>
            <a:pPr marL="0" indent="0">
              <a:lnSpc>
                <a:spcPct val="108000"/>
              </a:lnSpc>
              <a:buNone/>
            </a:pPr>
            <a:r>
              <a:rPr sz="1280">
                <a:solidFill>
                  <a:srgbClr val="1F2937"/>
                </a:solidFill>
                <a:latin typeface="Calibri"/>
                <a:ea typeface="Calibri"/>
                <a:cs typeface="Calibri"/>
              </a:rPr>
              <a:t>place-on / place-in tasks become spatial relations the solver applies — our analog to Holodeck's constraints (coin → inside the donation box, jacket → on the fitting hook).</a:t>
            </a:r>
          </a:p>
        </p:txBody>
      </p:sp>
      <p:sp>
        <p:nvSpPr>
          <p:cNvPr id="13" name="Shape 11">
            <a:extLst>
              <a:ext uri="{FF2B5EF4-FFF2-40B4-BE49-F238E27FC236}">
                <a16:creationId xmlns:a16="http://schemas.microsoft.com/office/drawing/2014/main" id="{29222492-2562-4252-8480-05C8C5846A9F}"/>
              </a:ext>
            </a:extLst>
          </p:cNvPr>
          <p:cNvSpPr>
            <a:spLocks noGrp="1"/>
          </p:cNvSpPr>
          <p:nvPr/>
        </p:nvSpPr>
        <p:spPr>
          <a:xfrm>
            <a:off x="6172200" y="3566160"/>
            <a:ext cx="5440680" cy="1965960"/>
          </a:xfrm>
          <a:prstGeom prst="roundRect">
            <a:avLst>
              <a:gd name="adj" fmla="val 3721"/>
            </a:avLst>
          </a:prstGeom>
          <a:solidFill>
            <a:srgbClr val="F1F5F9"/>
          </a:solidFill>
          <a:ln w="12700">
            <a:solidFill>
              <a:srgbClr val="D7DEE8"/>
            </a:solidFill>
            <a:prstDash val="solid"/>
          </a:ln>
        </p:spPr>
        <p:txBody>
          <a:bodyPr/>
          <a:lstStyle/>
          <a:p>
            <a:endParaRPr lang="en-US"/>
          </a:p>
        </p:txBody>
      </p:sp>
      <p:sp>
        <p:nvSpPr>
          <p:cNvPr id="14" name="Text 12">
            <a:extLst>
              <a:ext uri="{FF2B5EF4-FFF2-40B4-BE49-F238E27FC236}">
                <a16:creationId xmlns:a16="http://schemas.microsoft.com/office/drawing/2014/main" id="{6E127B3A-EBBF-4CBD-82AC-D82C7CAE05CC}"/>
              </a:ext>
            </a:extLst>
          </p:cNvPr>
          <p:cNvSpPr>
            <a:spLocks noGrp="1"/>
          </p:cNvSpPr>
          <p:nvPr/>
        </p:nvSpPr>
        <p:spPr>
          <a:xfrm>
            <a:off x="6428232" y="3730752"/>
            <a:ext cx="4937760" cy="548640"/>
          </a:xfrm>
          <a:prstGeom prst="rect">
            <a:avLst/>
          </a:prstGeom>
          <a:noFill/>
        </p:spPr>
        <p:txBody>
          <a:bodyPr wrap="square" lIns="0" tIns="0" rIns="0" bIns="0" anchor="t"/>
          <a:lstStyle/>
          <a:p>
            <a:pPr marL="0" indent="0">
              <a:buNone/>
            </a:pPr>
            <a:r>
              <a:rPr sz="1500" b="1">
                <a:solidFill>
                  <a:srgbClr val="1C7293"/>
                </a:solidFill>
                <a:latin typeface="Calibri"/>
                <a:ea typeface="Calibri"/>
                <a:cs typeface="Calibri"/>
              </a:rPr>
              <a:t>4 · Deterministic finish</a:t>
            </a:r>
          </a:p>
        </p:txBody>
      </p:sp>
      <p:sp>
        <p:nvSpPr>
          <p:cNvPr id="15" name="Text 13">
            <a:extLst>
              <a:ext uri="{FF2B5EF4-FFF2-40B4-BE49-F238E27FC236}">
                <a16:creationId xmlns:a16="http://schemas.microsoft.com/office/drawing/2014/main" id="{11CE5EE3-20C0-47B7-BCAD-C0433527871F}"/>
              </a:ext>
            </a:extLst>
          </p:cNvPr>
          <p:cNvSpPr>
            <a:spLocks noGrp="1"/>
          </p:cNvSpPr>
          <p:nvPr/>
        </p:nvSpPr>
        <p:spPr>
          <a:xfrm>
            <a:off x="6428232" y="4224528"/>
            <a:ext cx="4937760" cy="1188720"/>
          </a:xfrm>
          <a:prstGeom prst="rect">
            <a:avLst/>
          </a:prstGeom>
          <a:noFill/>
        </p:spPr>
        <p:txBody>
          <a:bodyPr wrap="square" lIns="0" tIns="0" rIns="0" bIns="0" anchor="t"/>
          <a:lstStyle/>
          <a:p>
            <a:pPr marL="0" indent="0">
              <a:lnSpc>
                <a:spcPct val="108000"/>
              </a:lnSpc>
              <a:buNone/>
            </a:pPr>
            <a:r>
              <a:rPr sz="1280">
                <a:solidFill>
                  <a:srgbClr val="1F2937"/>
                </a:solidFill>
                <a:latin typeface="Calibri"/>
                <a:ea typeface="Calibri"/>
                <a:cs typeface="Calibri"/>
              </a:rPr>
              <a:t>Props are slotted and snapped onto the surface top (y = surfaceTop + height/2); support is enforced, overlaps repaired, markers stand at height. No floating, no overlap.</a:t>
            </a:r>
          </a:p>
        </p:txBody>
      </p:sp>
    </p:spTree>
    <p:extLst>
      <p:ext uri="{BB962C8B-B14F-4D97-AF65-F5344CB8AC3E}">
        <p14:creationId xmlns:p14="http://schemas.microsoft.com/office/powerpoint/2010/main" val="230793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A58A43B-8D36-4EB6-BC6D-1EE657005FE1}"/>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A9F1637A-67CC-4E89-A32E-F6BA26BA20CE}"/>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5</a:t>
            </a:r>
          </a:p>
        </p:txBody>
      </p:sp>
      <p:sp>
        <p:nvSpPr>
          <p:cNvPr id="4" name="Text 2">
            <a:extLst>
              <a:ext uri="{FF2B5EF4-FFF2-40B4-BE49-F238E27FC236}">
                <a16:creationId xmlns:a16="http://schemas.microsoft.com/office/drawing/2014/main" id="{15336686-9749-4BDC-B5AD-550ADCEB8581}"/>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sz="2700" b="1">
                <a:solidFill>
                  <a:srgbClr val="1F2937"/>
                </a:solidFill>
                <a:latin typeface="Georgia"/>
                <a:ea typeface="Georgia"/>
                <a:cs typeface="Georgia"/>
              </a:rPr>
              <a:t>Results: the stack closes</a:t>
            </a:r>
          </a:p>
        </p:txBody>
      </p:sp>
      <p:pic>
        <p:nvPicPr>
          <p:cNvPr id="5" name="Image 0"/>
          <p:cNvPicPr>
            <a:picLocks noChangeAspect="1"/>
          </p:cNvPicPr>
          <p:nvPr/>
        </p:nvPicPr>
        <p:blipFill>
          <a:blip r:embed="rId3"/>
          <a:stretch>
            <a:fillRect/>
          </a:stretch>
        </p:blipFill>
        <p:spPr>
          <a:xfrm>
            <a:off x="548640" y="1417320"/>
            <a:ext cx="4889009" cy="3200400"/>
          </a:xfrm>
          <a:prstGeom prst="rect">
            <a:avLst/>
          </a:prstGeom>
        </p:spPr>
      </p:pic>
      <p:sp>
        <p:nvSpPr>
          <p:cNvPr id="6" name="Text 3">
            <a:extLst>
              <a:ext uri="{FF2B5EF4-FFF2-40B4-BE49-F238E27FC236}">
                <a16:creationId xmlns:a16="http://schemas.microsoft.com/office/drawing/2014/main" id="{5695ECB2-E752-44CE-A355-F743D8D192D3}"/>
              </a:ext>
            </a:extLst>
          </p:cNvPr>
          <p:cNvSpPr>
            <a:spLocks noGrp="1"/>
          </p:cNvSpPr>
          <p:nvPr/>
        </p:nvSpPr>
        <p:spPr>
          <a:xfrm>
            <a:off x="548640" y="4663440"/>
            <a:ext cx="4889009" cy="365760"/>
          </a:xfrm>
          <a:prstGeom prst="rect">
            <a:avLst/>
          </a:prstGeom>
          <a:noFill/>
        </p:spPr>
        <p:txBody>
          <a:bodyPr wrap="square" lIns="0" tIns="0" rIns="0" bIns="0" anchor="ctr"/>
          <a:lstStyle/>
          <a:p>
            <a:pPr marL="0" indent="0">
              <a:buNone/>
            </a:pPr>
            <a:r>
              <a:rPr sz="1100" i="1">
                <a:solidFill>
                  <a:srgbClr val="6B7280"/>
                </a:solidFill>
                <a:latin typeface="Calibri"/>
                <a:ea typeface="Calibri"/>
                <a:cs typeface="Calibri"/>
              </a:rPr>
              <a:t>Market stand — generated fruit basket, bag, apple, in-room</a:t>
            </a:r>
          </a:p>
        </p:txBody>
      </p:sp>
      <p:pic>
        <p:nvPicPr>
          <p:cNvPr id="7" name="Image 1"/>
          <p:cNvPicPr>
            <a:picLocks noChangeAspect="1"/>
          </p:cNvPicPr>
          <p:nvPr/>
        </p:nvPicPr>
        <p:blipFill>
          <a:blip r:embed="rId4"/>
          <a:stretch>
            <a:fillRect/>
          </a:stretch>
        </p:blipFill>
        <p:spPr>
          <a:xfrm>
            <a:off x="6400800" y="1417320"/>
            <a:ext cx="3702981" cy="3200400"/>
          </a:xfrm>
          <a:prstGeom prst="rect">
            <a:avLst/>
          </a:prstGeom>
        </p:spPr>
      </p:pic>
      <p:sp>
        <p:nvSpPr>
          <p:cNvPr id="8" name="Text 4">
            <a:extLst>
              <a:ext uri="{FF2B5EF4-FFF2-40B4-BE49-F238E27FC236}">
                <a16:creationId xmlns:a16="http://schemas.microsoft.com/office/drawing/2014/main" id="{3302A432-5A91-4A5E-B64C-6014FE37D4A5}"/>
              </a:ext>
            </a:extLst>
          </p:cNvPr>
          <p:cNvSpPr>
            <a:spLocks noGrp="1"/>
          </p:cNvSpPr>
          <p:nvPr/>
        </p:nvSpPr>
        <p:spPr>
          <a:xfrm>
            <a:off x="6400800" y="4663440"/>
            <a:ext cx="3702981" cy="365760"/>
          </a:xfrm>
          <a:prstGeom prst="rect">
            <a:avLst/>
          </a:prstGeom>
          <a:noFill/>
        </p:spPr>
        <p:txBody>
          <a:bodyPr wrap="square" lIns="0" tIns="0" rIns="0" bIns="0" anchor="ctr"/>
          <a:lstStyle/>
          <a:p>
            <a:pPr marL="0" indent="0">
              <a:buNone/>
            </a:pPr>
            <a:r>
              <a:rPr sz="1100" i="1">
                <a:solidFill>
                  <a:srgbClr val="6B7280"/>
                </a:solidFill>
                <a:latin typeface="Calibri"/>
                <a:ea typeface="Calibri"/>
                <a:cs typeface="Calibri"/>
              </a:rPr>
              <a:t>Convenience store — chips, basket, payment terminal on the counter</a:t>
            </a:r>
          </a:p>
        </p:txBody>
      </p:sp>
      <p:sp>
        <p:nvSpPr>
          <p:cNvPr id="9" name="Text 5">
            <a:extLst>
              <a:ext uri="{FF2B5EF4-FFF2-40B4-BE49-F238E27FC236}">
                <a16:creationId xmlns:a16="http://schemas.microsoft.com/office/drawing/2014/main" id="{9D541A25-8DF9-4540-8543-F6A50E6677AA}"/>
              </a:ext>
            </a:extLst>
          </p:cNvPr>
          <p:cNvSpPr>
            <a:spLocks noGrp="1"/>
          </p:cNvSpPr>
          <p:nvPr/>
        </p:nvSpPr>
        <p:spPr>
          <a:xfrm>
            <a:off x="548640" y="5166360"/>
            <a:ext cx="11064240" cy="822960"/>
          </a:xfrm>
          <a:prstGeom prst="rect">
            <a:avLst/>
          </a:prstGeom>
          <a:noFill/>
        </p:spPr>
        <p:txBody>
          <a:bodyPr wrap="square" anchor="t"/>
          <a:lstStyle/>
          <a:p>
            <a:pPr marL="0" indent="0">
              <a:lnSpc>
                <a:spcPct val="110000"/>
              </a:lnSpc>
              <a:buNone/>
            </a:pPr>
            <a:r>
              <a:rPr sz="1400" b="1">
                <a:solidFill>
                  <a:srgbClr val="2C5F2D"/>
                </a:solidFill>
                <a:latin typeface="Calibri"/>
                <a:ea typeface="Calibri"/>
                <a:cs typeface="Calibri"/>
              </a:rPr>
              <a:t>Recognizable: </a:t>
            </a:r>
            <a:r>
              <a:rPr sz="1400">
                <a:solidFill>
                  <a:srgbClr val="1F2937"/>
                </a:solidFill>
                <a:latin typeface="Calibri"/>
                <a:ea typeface="Calibri"/>
                <a:cs typeface="Calibri"/>
              </a:rPr>
              <a:t>fruit basket, bags, chips.    </a:t>
            </a:r>
            <a:r>
              <a:rPr sz="1400" b="1">
                <a:solidFill>
                  <a:srgbClr val="C2691C"/>
                </a:solidFill>
                <a:latin typeface="Calibri"/>
                <a:ea typeface="Calibri"/>
                <a:cs typeface="Calibri"/>
              </a:rPr>
              <a:t>Rough: </a:t>
            </a:r>
            <a:r>
              <a:rPr sz="1400">
                <a:solidFill>
                  <a:srgbClr val="1F2937"/>
                </a:solidFill>
                <a:latin typeface="Calibri"/>
                <a:ea typeface="Calibri"/>
                <a:cs typeface="Calibri"/>
              </a:rPr>
              <a:t>the apple is a smooth blob and layout is the main visual defect — which the rubric records as the realization gap.</a:t>
            </a:r>
          </a:p>
        </p:txBody>
      </p:sp>
      <p:sp>
        <p:nvSpPr>
          <p:cNvPr id="12" name="update-wipe">
            <a:extLst>
              <a:ext uri="{FF2B5EF4-FFF2-40B4-BE49-F238E27FC236}">
                <a16:creationId xmlns:a16="http://schemas.microsoft.com/office/drawing/2014/main" id="{79A691A5-EECD-4B05-97A5-D3CFD8B4D27D}"/>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13" name="Oval 12">
            <a:extLst>
              <a:ext uri="{FF2B5EF4-FFF2-40B4-BE49-F238E27FC236}">
                <a16:creationId xmlns:a16="http://schemas.microsoft.com/office/drawing/2014/main" id="{B42805A6-1E8F-468B-A2B1-2C7A3AD0964E}"/>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14" name="Rectangle 13">
            <a:extLst>
              <a:ext uri="{FF2B5EF4-FFF2-40B4-BE49-F238E27FC236}">
                <a16:creationId xmlns:a16="http://schemas.microsoft.com/office/drawing/2014/main" id="{B7FE637E-452A-4F7A-9713-6E4C876CCE06}"/>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Georgia"/>
                <a:ea typeface="Georgia"/>
                <a:cs typeface="Georgia"/>
              </a:defRPr>
            </a:pPr>
            <a:r>
              <a:rPr lang="en-US" sz="2250" b="1" dirty="0">
                <a:solidFill>
                  <a:srgbClr val="FFFFFF"/>
                </a:solidFill>
                <a:latin typeface="Georgia"/>
                <a:ea typeface="Georgia"/>
                <a:cs typeface="Georgia"/>
              </a:rPr>
              <a:t>4</a:t>
            </a:r>
            <a:endParaRPr sz="2250" b="1" dirty="0">
              <a:solidFill>
                <a:srgbClr val="FFFFFF"/>
              </a:solidFill>
              <a:latin typeface="Georgia"/>
              <a:ea typeface="Georgia"/>
              <a:cs typeface="Georgia"/>
            </a:endParaRPr>
          </a:p>
        </p:txBody>
      </p:sp>
      <p:sp>
        <p:nvSpPr>
          <p:cNvPr id="15" name="Rectangle 14">
            <a:extLst>
              <a:ext uri="{FF2B5EF4-FFF2-40B4-BE49-F238E27FC236}">
                <a16:creationId xmlns:a16="http://schemas.microsoft.com/office/drawing/2014/main" id="{B30FA816-AFB8-4B19-97F2-641CEFE979D9}"/>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a:solidFill>
                  <a:srgbClr val="1F2937"/>
                </a:solidFill>
                <a:latin typeface="Georgia"/>
                <a:ea typeface="Georgia"/>
                <a:cs typeface="Georgia"/>
              </a:rPr>
              <a:t>Results: final scenes expose the system gaps</a:t>
            </a:r>
          </a:p>
        </p:txBody>
      </p:sp>
      <p:sp>
        <p:nvSpPr>
          <p:cNvPr id="16" name="Rectangle 15">
            <a:extLst>
              <a:ext uri="{FF2B5EF4-FFF2-40B4-BE49-F238E27FC236}">
                <a16:creationId xmlns:a16="http://schemas.microsoft.com/office/drawing/2014/main" id="{560D0F65-BA4F-44F4-8BBB-2806CF8E8C29}"/>
              </a:ext>
            </a:extLst>
          </p:cNvPr>
          <p:cNvSpPr>
            <a:spLocks noGrp="1"/>
          </p:cNvSpPr>
          <p:nvPr/>
        </p:nvSpPr>
        <p:spPr>
          <a:xfrm>
            <a:off x="542925" y="1295400"/>
            <a:ext cx="1028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0">
                <a:solidFill>
                  <a:srgbClr val="374151"/>
                </a:solidFill>
                <a:latin typeface="Aptos"/>
                <a:ea typeface="Aptos"/>
                <a:cs typeface="Aptos"/>
              </a:defRPr>
            </a:pPr>
            <a:r>
              <a:rPr sz="1425" b="0">
                <a:solidFill>
                  <a:srgbClr val="374151"/>
                </a:solidFill>
                <a:latin typeface="Aptos"/>
                <a:ea typeface="Aptos"/>
                <a:cs typeface="Aptos"/>
              </a:rPr>
              <a:t>Final eval screenshots show the stack closes end-to-end, but the remaining defects are visible: surface grounding, object realism, and affordance wiring.</a:t>
            </a:r>
          </a:p>
        </p:txBody>
      </p:sp>
      <p:pic>
        <p:nvPicPr>
          <p:cNvPr id="17" name="Picture 16"/>
          <p:cNvPicPr>
            <a:picLocks noChangeAspect="1"/>
          </p:cNvPicPr>
          <p:nvPr/>
        </p:nvPicPr>
        <p:blipFill>
          <a:blip r:embed="rId5"/>
          <a:srcRect l="112" r="112"/>
          <a:stretch>
            <a:fillRect/>
          </a:stretch>
        </p:blipFill>
        <p:spPr>
          <a:xfrm>
            <a:off x="542925" y="1828800"/>
            <a:ext cx="3429000" cy="2381250"/>
          </a:xfrm>
          <a:prstGeom prst="rect">
            <a:avLst/>
          </a:prstGeom>
        </p:spPr>
      </p:pic>
      <p:sp>
        <p:nvSpPr>
          <p:cNvPr id="18" name="Rectangle 17">
            <a:extLst>
              <a:ext uri="{FF2B5EF4-FFF2-40B4-BE49-F238E27FC236}">
                <a16:creationId xmlns:a16="http://schemas.microsoft.com/office/drawing/2014/main" id="{C4B343DC-7596-43AB-9E63-BA4EAC908C62}"/>
              </a:ext>
            </a:extLst>
          </p:cNvPr>
          <p:cNvSpPr>
            <a:spLocks noGrp="1"/>
          </p:cNvSpPr>
          <p:nvPr/>
        </p:nvSpPr>
        <p:spPr>
          <a:xfrm>
            <a:off x="542925" y="4305300"/>
            <a:ext cx="342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Shrine purification — many ritual objects present, but embodiment is compressed</a:t>
            </a:r>
          </a:p>
        </p:txBody>
      </p:sp>
      <p:pic>
        <p:nvPicPr>
          <p:cNvPr id="19" name="Picture 18"/>
          <p:cNvPicPr>
            <a:picLocks noChangeAspect="1"/>
          </p:cNvPicPr>
          <p:nvPr/>
        </p:nvPicPr>
        <p:blipFill>
          <a:blip r:embed="rId6"/>
          <a:srcRect l="12271" r="12271"/>
          <a:stretch>
            <a:fillRect/>
          </a:stretch>
        </p:blipFill>
        <p:spPr>
          <a:xfrm>
            <a:off x="4381500" y="1828800"/>
            <a:ext cx="3429000" cy="2381250"/>
          </a:xfrm>
          <a:prstGeom prst="rect">
            <a:avLst/>
          </a:prstGeom>
        </p:spPr>
      </p:pic>
      <p:sp>
        <p:nvSpPr>
          <p:cNvPr id="20" name="Rectangle 19">
            <a:extLst>
              <a:ext uri="{FF2B5EF4-FFF2-40B4-BE49-F238E27FC236}">
                <a16:creationId xmlns:a16="http://schemas.microsoft.com/office/drawing/2014/main" id="{BF4025CC-5525-4C7D-AB44-86392A3184A7}"/>
              </a:ext>
            </a:extLst>
          </p:cNvPr>
          <p:cNvSpPr>
            <a:spLocks noGrp="1"/>
          </p:cNvSpPr>
          <p:nvPr/>
        </p:nvSpPr>
        <p:spPr>
          <a:xfrm>
            <a:off x="4381500" y="4305300"/>
            <a:ext cx="342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Station ticketing — spatial layout reads, map/machine remain proxy-like</a:t>
            </a:r>
          </a:p>
        </p:txBody>
      </p:sp>
      <p:pic>
        <p:nvPicPr>
          <p:cNvPr id="21" name="Picture 20"/>
          <p:cNvPicPr>
            <a:picLocks noChangeAspect="1"/>
          </p:cNvPicPr>
          <p:nvPr/>
        </p:nvPicPr>
        <p:blipFill>
          <a:blip r:embed="rId7"/>
          <a:srcRect l="1729" r="1729"/>
          <a:stretch>
            <a:fillRect/>
          </a:stretch>
        </p:blipFill>
        <p:spPr>
          <a:xfrm>
            <a:off x="8220075" y="1828800"/>
            <a:ext cx="3429000" cy="2381250"/>
          </a:xfrm>
          <a:prstGeom prst="rect">
            <a:avLst/>
          </a:prstGeom>
        </p:spPr>
      </p:pic>
      <p:sp>
        <p:nvSpPr>
          <p:cNvPr id="22" name="Rectangle 21">
            <a:extLst>
              <a:ext uri="{FF2B5EF4-FFF2-40B4-BE49-F238E27FC236}">
                <a16:creationId xmlns:a16="http://schemas.microsoft.com/office/drawing/2014/main" id="{0CCC411D-6C26-4FEA-8E40-5E6CE245866A}"/>
              </a:ext>
            </a:extLst>
          </p:cNvPr>
          <p:cNvSpPr>
            <a:spLocks noGrp="1"/>
          </p:cNvSpPr>
          <p:nvPr/>
        </p:nvSpPr>
        <p:spPr>
          <a:xfrm>
            <a:off x="8220075" y="4305300"/>
            <a:ext cx="3429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Clothing compare — generated jackets support the comparison task</a:t>
            </a:r>
          </a:p>
        </p:txBody>
      </p:sp>
      <p:sp>
        <p:nvSpPr>
          <p:cNvPr id="23" name="Rectangle 22">
            <a:extLst>
              <a:ext uri="{FF2B5EF4-FFF2-40B4-BE49-F238E27FC236}">
                <a16:creationId xmlns:a16="http://schemas.microsoft.com/office/drawing/2014/main" id="{0C637BF6-37E2-437C-A2B7-1E3EBB874F2B}"/>
              </a:ext>
            </a:extLst>
          </p:cNvPr>
          <p:cNvSpPr>
            <a:spLocks noGrp="1"/>
          </p:cNvSpPr>
          <p:nvPr/>
        </p:nvSpPr>
        <p:spPr>
          <a:xfrm>
            <a:off x="542925" y="5219700"/>
            <a:ext cx="10858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1F2937"/>
                </a:solidFill>
                <a:latin typeface="Aptos"/>
                <a:ea typeface="Aptos"/>
                <a:cs typeface="Aptos"/>
              </a:defRPr>
            </a:pPr>
            <a:r>
              <a:rPr lang="en-US" sz="1650" b="0" dirty="0">
                <a:solidFill>
                  <a:srgbClr val="1F2937"/>
                </a:solidFill>
                <a:latin typeface="Aptos"/>
                <a:ea typeface="Aptos"/>
                <a:cs typeface="Aptos"/>
              </a:rPr>
              <a:t>Evaluation </a:t>
            </a:r>
            <a:r>
              <a:rPr sz="1650" b="0" dirty="0">
                <a:solidFill>
                  <a:srgbClr val="1F2937"/>
                </a:solidFill>
                <a:latin typeface="Aptos"/>
                <a:ea typeface="Aptos"/>
                <a:cs typeface="Aptos"/>
              </a:rPr>
              <a:t>reveal</a:t>
            </a:r>
            <a:r>
              <a:rPr lang="en-US" sz="1650" b="0" dirty="0">
                <a:solidFill>
                  <a:srgbClr val="1F2937"/>
                </a:solidFill>
                <a:latin typeface="Aptos"/>
                <a:ea typeface="Aptos"/>
                <a:cs typeface="Aptos"/>
              </a:rPr>
              <a:t>s</a:t>
            </a:r>
            <a:r>
              <a:rPr sz="1650" b="0" dirty="0">
                <a:solidFill>
                  <a:srgbClr val="1F2937"/>
                </a:solidFill>
                <a:latin typeface="Aptos"/>
                <a:ea typeface="Aptos"/>
                <a:cs typeface="Aptos"/>
              </a:rPr>
              <a:t> which layer failed: plan alignment, visual realization, layout, or </a:t>
            </a:r>
            <a:r>
              <a:rPr lang="en-US" sz="1650" b="0" dirty="0">
                <a:solidFill>
                  <a:srgbClr val="1F2937"/>
                </a:solidFill>
                <a:latin typeface="Aptos"/>
                <a:ea typeface="Aptos"/>
                <a:cs typeface="Aptos"/>
              </a:rPr>
              <a:t>interactivity</a:t>
            </a:r>
            <a:r>
              <a:rPr sz="1650" b="0" dirty="0">
                <a:solidFill>
                  <a:srgbClr val="1F2937"/>
                </a:solidFill>
                <a:latin typeface="Aptos"/>
                <a:ea typeface="Aptos"/>
                <a:cs typeface="Aptos"/>
              </a:rPr>
              <a:t>.</a:t>
            </a:r>
          </a:p>
        </p:txBody>
      </p:sp>
    </p:spTree>
    <p:extLst>
      <p:ext uri="{BB962C8B-B14F-4D97-AF65-F5344CB8AC3E}">
        <p14:creationId xmlns:p14="http://schemas.microsoft.com/office/powerpoint/2010/main" val="2006834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3DC38BC-02D7-4098-994E-D314C7BD61E7}"/>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EAC26A40-B2AF-4B4F-B7BA-A3CE1379B079}"/>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4</a:t>
            </a:r>
          </a:p>
        </p:txBody>
      </p:sp>
      <p:sp>
        <p:nvSpPr>
          <p:cNvPr id="4" name="Text 2">
            <a:extLst>
              <a:ext uri="{FF2B5EF4-FFF2-40B4-BE49-F238E27FC236}">
                <a16:creationId xmlns:a16="http://schemas.microsoft.com/office/drawing/2014/main" id="{5C55EC2D-384D-436A-B51A-371A683D1E01}"/>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sz="2700" b="1">
                <a:solidFill>
                  <a:srgbClr val="1F2937"/>
                </a:solidFill>
                <a:latin typeface="Georgia"/>
                <a:ea typeface="Georgia"/>
                <a:cs typeface="Georgia"/>
              </a:rPr>
              <a:t>How we evaluate: one demand, three gaps</a:t>
            </a:r>
          </a:p>
        </p:txBody>
      </p:sp>
      <p:sp>
        <p:nvSpPr>
          <p:cNvPr id="5" name="Text 3">
            <a:extLst>
              <a:ext uri="{FF2B5EF4-FFF2-40B4-BE49-F238E27FC236}">
                <a16:creationId xmlns:a16="http://schemas.microsoft.com/office/drawing/2014/main" id="{7D9341E2-9E78-4D62-9373-7A61B4EDCEC5}"/>
              </a:ext>
            </a:extLst>
          </p:cNvPr>
          <p:cNvSpPr>
            <a:spLocks noGrp="1"/>
          </p:cNvSpPr>
          <p:nvPr/>
        </p:nvSpPr>
        <p:spPr>
          <a:xfrm>
            <a:off x="548640" y="1325880"/>
            <a:ext cx="11064240" cy="822960"/>
          </a:xfrm>
          <a:prstGeom prst="rect">
            <a:avLst/>
          </a:prstGeom>
          <a:noFill/>
        </p:spPr>
        <p:txBody>
          <a:bodyPr wrap="square" anchor="t"/>
          <a:lstStyle/>
          <a:p>
            <a:pPr marL="0" indent="0">
              <a:lnSpc>
                <a:spcPct val="110000"/>
              </a:lnSpc>
              <a:buNone/>
            </a:pPr>
            <a:r>
              <a:rPr sz="1500">
                <a:solidFill>
                  <a:srgbClr val="1F2937"/>
                </a:solidFill>
                <a:latin typeface="Calibri"/>
                <a:ea typeface="Calibri"/>
                <a:cs typeface="Calibri"/>
              </a:rPr>
              <a:t>Every desired interaction either isn't expressible, is expressible but the generator misses it, or is generated but doesn't realize. We attribute each drop to a stage.</a:t>
            </a:r>
          </a:p>
        </p:txBody>
      </p:sp>
      <p:sp>
        <p:nvSpPr>
          <p:cNvPr id="6" name="Shape 4">
            <a:extLst>
              <a:ext uri="{FF2B5EF4-FFF2-40B4-BE49-F238E27FC236}">
                <a16:creationId xmlns:a16="http://schemas.microsoft.com/office/drawing/2014/main" id="{9192E01A-2FD8-483C-8EB1-6B854C8EED73}"/>
              </a:ext>
            </a:extLst>
          </p:cNvPr>
          <p:cNvSpPr>
            <a:spLocks noGrp="1"/>
          </p:cNvSpPr>
          <p:nvPr/>
        </p:nvSpPr>
        <p:spPr>
          <a:xfrm>
            <a:off x="548640" y="2377440"/>
            <a:ext cx="2697480" cy="2194560"/>
          </a:xfrm>
          <a:prstGeom prst="roundRect">
            <a:avLst>
              <a:gd name="adj" fmla="val 3333"/>
            </a:avLst>
          </a:prstGeom>
          <a:solidFill>
            <a:srgbClr val="6B7280"/>
          </a:solidFill>
        </p:spPr>
        <p:txBody>
          <a:bodyPr/>
          <a:lstStyle/>
          <a:p>
            <a:endParaRPr lang="en-US"/>
          </a:p>
        </p:txBody>
      </p:sp>
      <p:sp>
        <p:nvSpPr>
          <p:cNvPr id="7" name="Text 5">
            <a:extLst>
              <a:ext uri="{FF2B5EF4-FFF2-40B4-BE49-F238E27FC236}">
                <a16:creationId xmlns:a16="http://schemas.microsoft.com/office/drawing/2014/main" id="{C51FA344-0CF6-46C6-8D83-1A13DFDB5134}"/>
              </a:ext>
            </a:extLst>
          </p:cNvPr>
          <p:cNvSpPr>
            <a:spLocks noGrp="1"/>
          </p:cNvSpPr>
          <p:nvPr/>
        </p:nvSpPr>
        <p:spPr>
          <a:xfrm>
            <a:off x="731520" y="2560320"/>
            <a:ext cx="2331720" cy="548640"/>
          </a:xfrm>
          <a:prstGeom prst="rect">
            <a:avLst/>
          </a:prstGeom>
          <a:noFill/>
        </p:spPr>
        <p:txBody>
          <a:bodyPr wrap="square" lIns="0" tIns="0" rIns="0" bIns="0" anchor="ctr"/>
          <a:lstStyle/>
          <a:p>
            <a:pPr marL="0" indent="0">
              <a:buNone/>
            </a:pPr>
            <a:r>
              <a:rPr sz="1900" b="1">
                <a:solidFill>
                  <a:srgbClr val="FFFFFF"/>
                </a:solidFill>
                <a:latin typeface="Calibri"/>
                <a:ea typeface="Calibri"/>
                <a:cs typeface="Calibri"/>
              </a:rPr>
              <a:t>Desired</a:t>
            </a:r>
          </a:p>
        </p:txBody>
      </p:sp>
      <p:sp>
        <p:nvSpPr>
          <p:cNvPr id="8" name="Text 6">
            <a:extLst>
              <a:ext uri="{FF2B5EF4-FFF2-40B4-BE49-F238E27FC236}">
                <a16:creationId xmlns:a16="http://schemas.microsoft.com/office/drawing/2014/main" id="{A31413A4-5385-4FEF-B0CB-C712C77BF857}"/>
              </a:ext>
            </a:extLst>
          </p:cNvPr>
          <p:cNvSpPr>
            <a:spLocks noGrp="1"/>
          </p:cNvSpPr>
          <p:nvPr/>
        </p:nvSpPr>
        <p:spPr>
          <a:xfrm>
            <a:off x="731520" y="3154680"/>
            <a:ext cx="2331720" cy="1325880"/>
          </a:xfrm>
          <a:prstGeom prst="rect">
            <a:avLst/>
          </a:prstGeom>
          <a:noFill/>
        </p:spPr>
        <p:txBody>
          <a:bodyPr wrap="square" lIns="0" tIns="0" rIns="0" bIns="0" anchor="t"/>
          <a:lstStyle/>
          <a:p>
            <a:pPr marL="0" indent="0">
              <a:lnSpc>
                <a:spcPct val="110000"/>
              </a:lnSpc>
              <a:buNone/>
            </a:pPr>
            <a:r>
              <a:rPr sz="1300">
                <a:solidFill>
                  <a:srgbClr val="FFFFFF"/>
                </a:solidFill>
                <a:latin typeface="Calibri"/>
                <a:ea typeface="Calibri"/>
                <a:cs typeface="Calibri"/>
              </a:rPr>
              <a:t>interactions from real transcripts (primitive-blind)</a:t>
            </a:r>
          </a:p>
        </p:txBody>
      </p:sp>
      <p:sp>
        <p:nvSpPr>
          <p:cNvPr id="9" name="Shape 7">
            <a:extLst>
              <a:ext uri="{FF2B5EF4-FFF2-40B4-BE49-F238E27FC236}">
                <a16:creationId xmlns:a16="http://schemas.microsoft.com/office/drawing/2014/main" id="{6C8A57B7-79CE-4846-B275-2B87BDDE1D1A}"/>
              </a:ext>
            </a:extLst>
          </p:cNvPr>
          <p:cNvSpPr>
            <a:spLocks noGrp="1"/>
          </p:cNvSpPr>
          <p:nvPr/>
        </p:nvSpPr>
        <p:spPr>
          <a:xfrm>
            <a:off x="3255264" y="3474720"/>
            <a:ext cx="164592" cy="0"/>
          </a:xfrm>
          <a:prstGeom prst="line">
            <a:avLst/>
          </a:prstGeom>
          <a:noFill/>
          <a:ln w="38100">
            <a:solidFill>
              <a:srgbClr val="6B7280"/>
            </a:solidFill>
            <a:prstDash val="solid"/>
          </a:ln>
        </p:spPr>
        <p:txBody>
          <a:bodyPr/>
          <a:lstStyle/>
          <a:p>
            <a:endParaRPr lang="en-US"/>
          </a:p>
        </p:txBody>
      </p:sp>
      <p:sp>
        <p:nvSpPr>
          <p:cNvPr id="10" name="Shape 8">
            <a:extLst>
              <a:ext uri="{FF2B5EF4-FFF2-40B4-BE49-F238E27FC236}">
                <a16:creationId xmlns:a16="http://schemas.microsoft.com/office/drawing/2014/main" id="{88ED1958-9151-46A0-81B3-D53CF84882DF}"/>
              </a:ext>
            </a:extLst>
          </p:cNvPr>
          <p:cNvSpPr>
            <a:spLocks noGrp="1"/>
          </p:cNvSpPr>
          <p:nvPr/>
        </p:nvSpPr>
        <p:spPr>
          <a:xfrm>
            <a:off x="3429000" y="2377440"/>
            <a:ext cx="2697480" cy="2194560"/>
          </a:xfrm>
          <a:prstGeom prst="roundRect">
            <a:avLst>
              <a:gd name="adj" fmla="val 3333"/>
            </a:avLst>
          </a:prstGeom>
          <a:solidFill>
            <a:srgbClr val="065A82"/>
          </a:solidFill>
        </p:spPr>
        <p:txBody>
          <a:bodyPr/>
          <a:lstStyle/>
          <a:p>
            <a:endParaRPr lang="en-US"/>
          </a:p>
        </p:txBody>
      </p:sp>
      <p:sp>
        <p:nvSpPr>
          <p:cNvPr id="11" name="Text 9">
            <a:extLst>
              <a:ext uri="{FF2B5EF4-FFF2-40B4-BE49-F238E27FC236}">
                <a16:creationId xmlns:a16="http://schemas.microsoft.com/office/drawing/2014/main" id="{92EE2114-2EBD-4367-AD8F-BE9216B25176}"/>
              </a:ext>
            </a:extLst>
          </p:cNvPr>
          <p:cNvSpPr>
            <a:spLocks noGrp="1"/>
          </p:cNvSpPr>
          <p:nvPr/>
        </p:nvSpPr>
        <p:spPr>
          <a:xfrm>
            <a:off x="3611880" y="2560320"/>
            <a:ext cx="2331720" cy="548640"/>
          </a:xfrm>
          <a:prstGeom prst="rect">
            <a:avLst/>
          </a:prstGeom>
          <a:noFill/>
        </p:spPr>
        <p:txBody>
          <a:bodyPr wrap="square" lIns="0" tIns="0" rIns="0" bIns="0" anchor="ctr"/>
          <a:lstStyle/>
          <a:p>
            <a:pPr marL="0" indent="0">
              <a:buNone/>
            </a:pPr>
            <a:r>
              <a:rPr sz="1900" b="1">
                <a:solidFill>
                  <a:srgbClr val="FFFFFF"/>
                </a:solidFill>
                <a:latin typeface="Calibri"/>
                <a:ea typeface="Calibri"/>
                <a:cs typeface="Calibri"/>
              </a:rPr>
              <a:t>Expressible</a:t>
            </a:r>
          </a:p>
        </p:txBody>
      </p:sp>
      <p:sp>
        <p:nvSpPr>
          <p:cNvPr id="12" name="Text 10">
            <a:extLst>
              <a:ext uri="{FF2B5EF4-FFF2-40B4-BE49-F238E27FC236}">
                <a16:creationId xmlns:a16="http://schemas.microsoft.com/office/drawing/2014/main" id="{3BFC396C-9CB1-47DC-9187-2EDA3D494204}"/>
              </a:ext>
            </a:extLst>
          </p:cNvPr>
          <p:cNvSpPr>
            <a:spLocks noGrp="1"/>
          </p:cNvSpPr>
          <p:nvPr/>
        </p:nvSpPr>
        <p:spPr>
          <a:xfrm>
            <a:off x="3611880" y="3154680"/>
            <a:ext cx="2331720" cy="1325880"/>
          </a:xfrm>
          <a:prstGeom prst="rect">
            <a:avLst/>
          </a:prstGeom>
          <a:noFill/>
        </p:spPr>
        <p:txBody>
          <a:bodyPr wrap="square" lIns="0" tIns="0" rIns="0" bIns="0" anchor="t"/>
          <a:lstStyle/>
          <a:p>
            <a:pPr marL="0" indent="0">
              <a:lnSpc>
                <a:spcPct val="110000"/>
              </a:lnSpc>
              <a:buNone/>
            </a:pPr>
            <a:r>
              <a:rPr sz="1300">
                <a:solidFill>
                  <a:srgbClr val="FFFFFF"/>
                </a:solidFill>
                <a:latin typeface="Calibri"/>
                <a:ea typeface="Calibri"/>
                <a:cs typeface="Calibri"/>
              </a:rPr>
              <a:t>L1 · can the 5 primitives represent it? (analysis, no scenes)</a:t>
            </a:r>
          </a:p>
        </p:txBody>
      </p:sp>
      <p:sp>
        <p:nvSpPr>
          <p:cNvPr id="13" name="Shape 11">
            <a:extLst>
              <a:ext uri="{FF2B5EF4-FFF2-40B4-BE49-F238E27FC236}">
                <a16:creationId xmlns:a16="http://schemas.microsoft.com/office/drawing/2014/main" id="{E30DC9CA-9181-407A-ACD3-33BF94EB4B8C}"/>
              </a:ext>
            </a:extLst>
          </p:cNvPr>
          <p:cNvSpPr>
            <a:spLocks noGrp="1"/>
          </p:cNvSpPr>
          <p:nvPr/>
        </p:nvSpPr>
        <p:spPr>
          <a:xfrm>
            <a:off x="6135624" y="3474720"/>
            <a:ext cx="164592" cy="0"/>
          </a:xfrm>
          <a:prstGeom prst="line">
            <a:avLst/>
          </a:prstGeom>
          <a:noFill/>
          <a:ln w="38100">
            <a:solidFill>
              <a:srgbClr val="6B7280"/>
            </a:solidFill>
            <a:prstDash val="solid"/>
          </a:ln>
        </p:spPr>
        <p:txBody>
          <a:bodyPr/>
          <a:lstStyle/>
          <a:p>
            <a:endParaRPr lang="en-US"/>
          </a:p>
        </p:txBody>
      </p:sp>
      <p:sp>
        <p:nvSpPr>
          <p:cNvPr id="14" name="Shape 12">
            <a:extLst>
              <a:ext uri="{FF2B5EF4-FFF2-40B4-BE49-F238E27FC236}">
                <a16:creationId xmlns:a16="http://schemas.microsoft.com/office/drawing/2014/main" id="{D443626A-3C30-4CD1-915A-853A44AA717C}"/>
              </a:ext>
            </a:extLst>
          </p:cNvPr>
          <p:cNvSpPr>
            <a:spLocks noGrp="1"/>
          </p:cNvSpPr>
          <p:nvPr/>
        </p:nvSpPr>
        <p:spPr>
          <a:xfrm>
            <a:off x="6309360" y="2377440"/>
            <a:ext cx="2697480" cy="2194560"/>
          </a:xfrm>
          <a:prstGeom prst="roundRect">
            <a:avLst>
              <a:gd name="adj" fmla="val 3333"/>
            </a:avLst>
          </a:prstGeom>
          <a:solidFill>
            <a:srgbClr val="1C7293"/>
          </a:solidFill>
        </p:spPr>
        <p:txBody>
          <a:bodyPr/>
          <a:lstStyle/>
          <a:p>
            <a:endParaRPr lang="en-US"/>
          </a:p>
        </p:txBody>
      </p:sp>
      <p:sp>
        <p:nvSpPr>
          <p:cNvPr id="15" name="Text 13">
            <a:extLst>
              <a:ext uri="{FF2B5EF4-FFF2-40B4-BE49-F238E27FC236}">
                <a16:creationId xmlns:a16="http://schemas.microsoft.com/office/drawing/2014/main" id="{28B425EA-4768-4FC8-A3B0-A40DE86C5F77}"/>
              </a:ext>
            </a:extLst>
          </p:cNvPr>
          <p:cNvSpPr>
            <a:spLocks noGrp="1"/>
          </p:cNvSpPr>
          <p:nvPr/>
        </p:nvSpPr>
        <p:spPr>
          <a:xfrm>
            <a:off x="6492240" y="2560320"/>
            <a:ext cx="2331720" cy="548640"/>
          </a:xfrm>
          <a:prstGeom prst="rect">
            <a:avLst/>
          </a:prstGeom>
          <a:noFill/>
        </p:spPr>
        <p:txBody>
          <a:bodyPr wrap="square" lIns="0" tIns="0" rIns="0" bIns="0" anchor="ctr"/>
          <a:lstStyle/>
          <a:p>
            <a:pPr marL="0" indent="0">
              <a:buNone/>
            </a:pPr>
            <a:r>
              <a:rPr sz="1900" b="1">
                <a:solidFill>
                  <a:srgbClr val="FFFFFF"/>
                </a:solidFill>
                <a:latin typeface="Calibri"/>
                <a:ea typeface="Calibri"/>
                <a:cs typeface="Calibri"/>
              </a:rPr>
              <a:t>Generated</a:t>
            </a:r>
          </a:p>
        </p:txBody>
      </p:sp>
      <p:sp>
        <p:nvSpPr>
          <p:cNvPr id="16" name="Text 14">
            <a:extLst>
              <a:ext uri="{FF2B5EF4-FFF2-40B4-BE49-F238E27FC236}">
                <a16:creationId xmlns:a16="http://schemas.microsoft.com/office/drawing/2014/main" id="{098CB516-A72A-4AA0-BA2E-00E7E4F81EB7}"/>
              </a:ext>
            </a:extLst>
          </p:cNvPr>
          <p:cNvSpPr>
            <a:spLocks noGrp="1"/>
          </p:cNvSpPr>
          <p:nvPr/>
        </p:nvSpPr>
        <p:spPr>
          <a:xfrm>
            <a:off x="6492240" y="3154680"/>
            <a:ext cx="2331720" cy="1325880"/>
          </a:xfrm>
          <a:prstGeom prst="rect">
            <a:avLst/>
          </a:prstGeom>
          <a:noFill/>
        </p:spPr>
        <p:txBody>
          <a:bodyPr wrap="square" lIns="0" tIns="0" rIns="0" bIns="0" anchor="t"/>
          <a:lstStyle/>
          <a:p>
            <a:pPr marL="0" indent="0">
              <a:lnSpc>
                <a:spcPct val="110000"/>
              </a:lnSpc>
              <a:buNone/>
            </a:pPr>
            <a:r>
              <a:rPr sz="1300">
                <a:solidFill>
                  <a:srgbClr val="FFFFFF"/>
                </a:solidFill>
                <a:latin typeface="Calibri"/>
                <a:ea typeface="Calibri"/>
                <a:cs typeface="Calibri"/>
              </a:rPr>
              <a:t>L2 · does the LLM produce an aligned plan? (scored on the plan)</a:t>
            </a:r>
          </a:p>
        </p:txBody>
      </p:sp>
      <p:sp>
        <p:nvSpPr>
          <p:cNvPr id="17" name="Shape 15">
            <a:extLst>
              <a:ext uri="{FF2B5EF4-FFF2-40B4-BE49-F238E27FC236}">
                <a16:creationId xmlns:a16="http://schemas.microsoft.com/office/drawing/2014/main" id="{8AF0DF29-7E48-4ECF-B21F-BEE3E4EE4668}"/>
              </a:ext>
            </a:extLst>
          </p:cNvPr>
          <p:cNvSpPr>
            <a:spLocks noGrp="1"/>
          </p:cNvSpPr>
          <p:nvPr/>
        </p:nvSpPr>
        <p:spPr>
          <a:xfrm>
            <a:off x="9015984" y="3474720"/>
            <a:ext cx="164592" cy="0"/>
          </a:xfrm>
          <a:prstGeom prst="line">
            <a:avLst/>
          </a:prstGeom>
          <a:noFill/>
          <a:ln w="38100">
            <a:solidFill>
              <a:srgbClr val="6B7280"/>
            </a:solidFill>
            <a:prstDash val="solid"/>
          </a:ln>
        </p:spPr>
        <p:txBody>
          <a:bodyPr/>
          <a:lstStyle/>
          <a:p>
            <a:endParaRPr lang="en-US"/>
          </a:p>
        </p:txBody>
      </p:sp>
      <p:sp>
        <p:nvSpPr>
          <p:cNvPr id="18" name="Shape 16">
            <a:extLst>
              <a:ext uri="{FF2B5EF4-FFF2-40B4-BE49-F238E27FC236}">
                <a16:creationId xmlns:a16="http://schemas.microsoft.com/office/drawing/2014/main" id="{7643D2FB-9909-48A7-ADBA-3EE2F2C2D9D6}"/>
              </a:ext>
            </a:extLst>
          </p:cNvPr>
          <p:cNvSpPr>
            <a:spLocks noGrp="1"/>
          </p:cNvSpPr>
          <p:nvPr/>
        </p:nvSpPr>
        <p:spPr>
          <a:xfrm>
            <a:off x="9189720" y="2377440"/>
            <a:ext cx="2697480" cy="2194560"/>
          </a:xfrm>
          <a:prstGeom prst="roundRect">
            <a:avLst>
              <a:gd name="adj" fmla="val 3333"/>
            </a:avLst>
          </a:prstGeom>
          <a:solidFill>
            <a:srgbClr val="2C5F2D"/>
          </a:solidFill>
        </p:spPr>
        <p:txBody>
          <a:bodyPr/>
          <a:lstStyle/>
          <a:p>
            <a:endParaRPr lang="en-US"/>
          </a:p>
        </p:txBody>
      </p:sp>
      <p:sp>
        <p:nvSpPr>
          <p:cNvPr id="19" name="Text 17">
            <a:extLst>
              <a:ext uri="{FF2B5EF4-FFF2-40B4-BE49-F238E27FC236}">
                <a16:creationId xmlns:a16="http://schemas.microsoft.com/office/drawing/2014/main" id="{ADC95A28-1129-4158-BF6B-435F2288D050}"/>
              </a:ext>
            </a:extLst>
          </p:cNvPr>
          <p:cNvSpPr>
            <a:spLocks noGrp="1"/>
          </p:cNvSpPr>
          <p:nvPr/>
        </p:nvSpPr>
        <p:spPr>
          <a:xfrm>
            <a:off x="9372600" y="2560320"/>
            <a:ext cx="2331720" cy="548640"/>
          </a:xfrm>
          <a:prstGeom prst="rect">
            <a:avLst/>
          </a:prstGeom>
          <a:noFill/>
        </p:spPr>
        <p:txBody>
          <a:bodyPr wrap="square" lIns="0" tIns="0" rIns="0" bIns="0" anchor="ctr"/>
          <a:lstStyle/>
          <a:p>
            <a:pPr marL="0" indent="0">
              <a:buNone/>
            </a:pPr>
            <a:r>
              <a:rPr sz="1900" b="1">
                <a:solidFill>
                  <a:srgbClr val="FFFFFF"/>
                </a:solidFill>
                <a:latin typeface="Calibri"/>
                <a:ea typeface="Calibri"/>
                <a:cs typeface="Calibri"/>
              </a:rPr>
              <a:t>Realized</a:t>
            </a:r>
          </a:p>
        </p:txBody>
      </p:sp>
      <p:sp>
        <p:nvSpPr>
          <p:cNvPr id="20" name="Text 18">
            <a:extLst>
              <a:ext uri="{FF2B5EF4-FFF2-40B4-BE49-F238E27FC236}">
                <a16:creationId xmlns:a16="http://schemas.microsoft.com/office/drawing/2014/main" id="{916CFA29-FA72-4E80-9969-4446EC53B941}"/>
              </a:ext>
            </a:extLst>
          </p:cNvPr>
          <p:cNvSpPr>
            <a:spLocks noGrp="1"/>
          </p:cNvSpPr>
          <p:nvPr/>
        </p:nvSpPr>
        <p:spPr>
          <a:xfrm>
            <a:off x="9372600" y="3154680"/>
            <a:ext cx="2331720" cy="1325880"/>
          </a:xfrm>
          <a:prstGeom prst="rect">
            <a:avLst/>
          </a:prstGeom>
          <a:noFill/>
        </p:spPr>
        <p:txBody>
          <a:bodyPr wrap="square" lIns="0" tIns="0" rIns="0" bIns="0" anchor="t"/>
          <a:lstStyle/>
          <a:p>
            <a:pPr marL="0" indent="0">
              <a:lnSpc>
                <a:spcPct val="110000"/>
              </a:lnSpc>
              <a:buNone/>
            </a:pPr>
            <a:r>
              <a:rPr sz="1300">
                <a:solidFill>
                  <a:srgbClr val="FFFFFF"/>
                </a:solidFill>
                <a:latin typeface="Calibri"/>
                <a:ea typeface="Calibri"/>
                <a:cs typeface="Calibri"/>
              </a:rPr>
              <a:t>L3 · does it render, place, and play? (rubric + latency)</a:t>
            </a:r>
          </a:p>
        </p:txBody>
      </p:sp>
      <p:sp>
        <p:nvSpPr>
          <p:cNvPr id="21" name="Text 19">
            <a:extLst>
              <a:ext uri="{FF2B5EF4-FFF2-40B4-BE49-F238E27FC236}">
                <a16:creationId xmlns:a16="http://schemas.microsoft.com/office/drawing/2014/main" id="{C81C36C4-25A0-492F-A5F8-0BB169A94AD9}"/>
              </a:ext>
            </a:extLst>
          </p:cNvPr>
          <p:cNvSpPr>
            <a:spLocks noGrp="1"/>
          </p:cNvSpPr>
          <p:nvPr/>
        </p:nvSpPr>
        <p:spPr>
          <a:xfrm>
            <a:off x="548640" y="4937760"/>
            <a:ext cx="11064240" cy="548640"/>
          </a:xfrm>
          <a:prstGeom prst="rect">
            <a:avLst/>
          </a:prstGeom>
          <a:noFill/>
        </p:spPr>
        <p:txBody>
          <a:bodyPr wrap="square" anchor="t"/>
          <a:lstStyle/>
          <a:p>
            <a:pPr marL="0" indent="0">
              <a:buNone/>
            </a:pPr>
            <a:r>
              <a:rPr sz="1400" i="1">
                <a:solidFill>
                  <a:srgbClr val="6B7280"/>
                </a:solidFill>
                <a:latin typeface="Calibri"/>
                <a:ea typeface="Calibri"/>
                <a:cs typeface="Calibri"/>
              </a:rPr>
              <a:t>L1 and L2 don't depend on scene quality — so the core results survive rough assets.</a:t>
            </a:r>
          </a:p>
        </p:txBody>
      </p:sp>
      <p:sp>
        <p:nvSpPr>
          <p:cNvPr id="22" name="Rectangle 21">
            <a:extLst>
              <a:ext uri="{FF2B5EF4-FFF2-40B4-BE49-F238E27FC236}">
                <a16:creationId xmlns:a16="http://schemas.microsoft.com/office/drawing/2014/main" id="{26A69494-D24F-4836-81DA-2E2BCB846572}"/>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23" name="Oval 22">
            <a:extLst>
              <a:ext uri="{FF2B5EF4-FFF2-40B4-BE49-F238E27FC236}">
                <a16:creationId xmlns:a16="http://schemas.microsoft.com/office/drawing/2014/main" id="{4C209696-BD36-4DF5-92BC-6C7605F03085}"/>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24" name="Rectangle 23">
            <a:extLst>
              <a:ext uri="{FF2B5EF4-FFF2-40B4-BE49-F238E27FC236}">
                <a16:creationId xmlns:a16="http://schemas.microsoft.com/office/drawing/2014/main" id="{C9CAD54B-2E06-4C47-BD7E-74BC23305A9B}"/>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Georgia"/>
                <a:ea typeface="Georgia"/>
                <a:cs typeface="Georgia"/>
              </a:defRPr>
            </a:pPr>
            <a:r>
              <a:rPr lang="en-US" sz="2250" b="1" dirty="0">
                <a:solidFill>
                  <a:srgbClr val="FFFFFF"/>
                </a:solidFill>
                <a:latin typeface="Georgia"/>
                <a:ea typeface="Georgia"/>
                <a:cs typeface="Georgia"/>
              </a:rPr>
              <a:t>5</a:t>
            </a:r>
            <a:endParaRPr sz="2250" b="1" dirty="0">
              <a:solidFill>
                <a:srgbClr val="FFFFFF"/>
              </a:solidFill>
              <a:latin typeface="Georgia"/>
              <a:ea typeface="Georgia"/>
              <a:cs typeface="Georgia"/>
            </a:endParaRPr>
          </a:p>
        </p:txBody>
      </p:sp>
      <p:sp>
        <p:nvSpPr>
          <p:cNvPr id="25" name="Rectangle 24">
            <a:extLst>
              <a:ext uri="{FF2B5EF4-FFF2-40B4-BE49-F238E27FC236}">
                <a16:creationId xmlns:a16="http://schemas.microsoft.com/office/drawing/2014/main" id="{6CCC428B-1FAC-4BAD-9CC6-90DB55BF94DC}"/>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a:solidFill>
                  <a:srgbClr val="1F2937"/>
                </a:solidFill>
                <a:latin typeface="Georgia"/>
                <a:ea typeface="Georgia"/>
                <a:cs typeface="Georgia"/>
              </a:rPr>
              <a:t>How we evaluate the system outputs</a:t>
            </a:r>
          </a:p>
        </p:txBody>
      </p:sp>
      <p:sp>
        <p:nvSpPr>
          <p:cNvPr id="26" name="Rectangle 25">
            <a:extLst>
              <a:ext uri="{FF2B5EF4-FFF2-40B4-BE49-F238E27FC236}">
                <a16:creationId xmlns:a16="http://schemas.microsoft.com/office/drawing/2014/main" id="{045F96C7-2CCB-4A38-8A85-85707F418DE8}"/>
              </a:ext>
            </a:extLst>
          </p:cNvPr>
          <p:cNvSpPr>
            <a:spLocks noGrp="1"/>
          </p:cNvSpPr>
          <p:nvPr/>
        </p:nvSpPr>
        <p:spPr>
          <a:xfrm>
            <a:off x="542925" y="129540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374151"/>
                </a:solidFill>
                <a:latin typeface="Aptos"/>
                <a:ea typeface="Aptos"/>
                <a:cs typeface="Aptos"/>
              </a:defRPr>
            </a:pPr>
            <a:r>
              <a:rPr sz="1500" b="0">
                <a:solidFill>
                  <a:srgbClr val="374151"/>
                </a:solidFill>
                <a:latin typeface="Aptos"/>
                <a:ea typeface="Aptos"/>
                <a:cs typeface="Aptos"/>
              </a:rPr>
              <a:t>We score the pipeline at three artifacts: the generated plan, the realized scene, and the runnable task execution. Each result graph later corresponds to one of these checks.</a:t>
            </a:r>
          </a:p>
        </p:txBody>
      </p:sp>
      <p:sp>
        <p:nvSpPr>
          <p:cNvPr id="27" name="Rectangle 26">
            <a:extLst>
              <a:ext uri="{FF2B5EF4-FFF2-40B4-BE49-F238E27FC236}">
                <a16:creationId xmlns:a16="http://schemas.microsoft.com/office/drawing/2014/main" id="{6291E98D-5D29-4F8A-B414-C2EC87BD64A7}"/>
              </a:ext>
            </a:extLst>
          </p:cNvPr>
          <p:cNvSpPr>
            <a:spLocks noGrp="1"/>
          </p:cNvSpPr>
          <p:nvPr/>
        </p:nvSpPr>
        <p:spPr>
          <a:xfrm>
            <a:off x="542925" y="2076450"/>
            <a:ext cx="3476625" cy="2952750"/>
          </a:xfrm>
          <a:prstGeom prst="rect">
            <a:avLst/>
          </a:prstGeom>
          <a:solidFill>
            <a:srgbClr val="EEF4F9"/>
          </a:solidFill>
          <a:ln w="9525">
            <a:solidFill>
              <a:srgbClr val="0E7490"/>
            </a:solidFill>
            <a:prstDash val="solid"/>
          </a:ln>
        </p:spPr>
        <p:txBody>
          <a:bodyPr/>
          <a:lstStyle/>
          <a:p>
            <a:endParaRPr lang="en-US"/>
          </a:p>
        </p:txBody>
      </p:sp>
      <p:sp>
        <p:nvSpPr>
          <p:cNvPr id="28" name="Rectangle 27">
            <a:extLst>
              <a:ext uri="{FF2B5EF4-FFF2-40B4-BE49-F238E27FC236}">
                <a16:creationId xmlns:a16="http://schemas.microsoft.com/office/drawing/2014/main" id="{F1DDAE9D-BD60-404D-BFBD-705120A41062}"/>
              </a:ext>
            </a:extLst>
          </p:cNvPr>
          <p:cNvSpPr>
            <a:spLocks noGrp="1"/>
          </p:cNvSpPr>
          <p:nvPr/>
        </p:nvSpPr>
        <p:spPr>
          <a:xfrm>
            <a:off x="771525" y="2305050"/>
            <a:ext cx="30194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0E7490"/>
                </a:solidFill>
                <a:latin typeface="Aptos"/>
                <a:ea typeface="Aptos"/>
                <a:cs typeface="Aptos"/>
              </a:defRPr>
            </a:pPr>
            <a:r>
              <a:rPr sz="1800" b="1">
                <a:solidFill>
                  <a:srgbClr val="0E7490"/>
                </a:solidFill>
                <a:latin typeface="Aptos"/>
                <a:ea typeface="Aptos"/>
                <a:cs typeface="Aptos"/>
              </a:rPr>
              <a:t>1 · Plan alignment</a:t>
            </a:r>
          </a:p>
        </p:txBody>
      </p:sp>
      <p:sp>
        <p:nvSpPr>
          <p:cNvPr id="29" name="Rectangle 28">
            <a:extLst>
              <a:ext uri="{FF2B5EF4-FFF2-40B4-BE49-F238E27FC236}">
                <a16:creationId xmlns:a16="http://schemas.microsoft.com/office/drawing/2014/main" id="{A0396C8D-40FF-4329-8BB0-2EE9FDAC8652}"/>
              </a:ext>
            </a:extLst>
          </p:cNvPr>
          <p:cNvSpPr>
            <a:spLocks noGrp="1"/>
          </p:cNvSpPr>
          <p:nvPr/>
        </p:nvSpPr>
        <p:spPr>
          <a:xfrm>
            <a:off x="771525" y="2647950"/>
            <a:ext cx="3019425"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374151"/>
                </a:solidFill>
                <a:latin typeface="Aptos"/>
                <a:ea typeface="Aptos"/>
                <a:cs typeface="Aptos"/>
              </a:defRPr>
            </a:pPr>
            <a:r>
              <a:rPr sz="1200" b="0">
                <a:solidFill>
                  <a:srgbClr val="374151"/>
                </a:solidFill>
                <a:latin typeface="Aptos"/>
                <a:ea typeface="Aptos"/>
                <a:cs typeface="Aptos"/>
              </a:rPr>
              <a:t>Scenario card → typed plan</a:t>
            </a:r>
          </a:p>
        </p:txBody>
      </p:sp>
      <p:sp>
        <p:nvSpPr>
          <p:cNvPr id="30" name="Rectangle 29">
            <a:extLst>
              <a:ext uri="{FF2B5EF4-FFF2-40B4-BE49-F238E27FC236}">
                <a16:creationId xmlns:a16="http://schemas.microsoft.com/office/drawing/2014/main" id="{9E4F5DE8-8DA0-4522-8EE2-0BB9E18B74E2}"/>
              </a:ext>
            </a:extLst>
          </p:cNvPr>
          <p:cNvSpPr>
            <a:spLocks noGrp="1"/>
          </p:cNvSpPr>
          <p:nvPr/>
        </p:nvSpPr>
        <p:spPr>
          <a:xfrm>
            <a:off x="809625" y="321945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0E7490"/>
                </a:solidFill>
                <a:latin typeface="Aptos"/>
                <a:ea typeface="Aptos"/>
                <a:cs typeface="Aptos"/>
              </a:defRPr>
            </a:pPr>
            <a:r>
              <a:rPr sz="1200" b="1">
                <a:solidFill>
                  <a:srgbClr val="0E7490"/>
                </a:solidFill>
                <a:latin typeface="Aptos"/>
                <a:ea typeface="Aptos"/>
                <a:cs typeface="Aptos"/>
              </a:rPr>
              <a:t>•</a:t>
            </a:r>
          </a:p>
        </p:txBody>
      </p:sp>
      <p:sp>
        <p:nvSpPr>
          <p:cNvPr id="31" name="Rectangle 30">
            <a:extLst>
              <a:ext uri="{FF2B5EF4-FFF2-40B4-BE49-F238E27FC236}">
                <a16:creationId xmlns:a16="http://schemas.microsoft.com/office/drawing/2014/main" id="{A46D05D1-91D1-4A2D-A98A-8E719AFB7B28}"/>
              </a:ext>
            </a:extLst>
          </p:cNvPr>
          <p:cNvSpPr>
            <a:spLocks noGrp="1"/>
          </p:cNvSpPr>
          <p:nvPr/>
        </p:nvSpPr>
        <p:spPr>
          <a:xfrm>
            <a:off x="1000125" y="321945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Object coverage: did it create the expected objects?</a:t>
            </a:r>
          </a:p>
        </p:txBody>
      </p:sp>
      <p:sp>
        <p:nvSpPr>
          <p:cNvPr id="32" name="Rectangle 31">
            <a:extLst>
              <a:ext uri="{FF2B5EF4-FFF2-40B4-BE49-F238E27FC236}">
                <a16:creationId xmlns:a16="http://schemas.microsoft.com/office/drawing/2014/main" id="{A48E2FC6-8B7D-4340-92D4-2FC98F5C5922}"/>
              </a:ext>
            </a:extLst>
          </p:cNvPr>
          <p:cNvSpPr>
            <a:spLocks noGrp="1"/>
          </p:cNvSpPr>
          <p:nvPr/>
        </p:nvSpPr>
        <p:spPr>
          <a:xfrm>
            <a:off x="809625" y="3629025"/>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0E7490"/>
                </a:solidFill>
                <a:latin typeface="Aptos"/>
                <a:ea typeface="Aptos"/>
                <a:cs typeface="Aptos"/>
              </a:defRPr>
            </a:pPr>
            <a:r>
              <a:rPr sz="1200" b="1">
                <a:solidFill>
                  <a:srgbClr val="0E7490"/>
                </a:solidFill>
                <a:latin typeface="Aptos"/>
                <a:ea typeface="Aptos"/>
                <a:cs typeface="Aptos"/>
              </a:rPr>
              <a:t>•</a:t>
            </a:r>
          </a:p>
        </p:txBody>
      </p:sp>
      <p:sp>
        <p:nvSpPr>
          <p:cNvPr id="33" name="Rectangle 32">
            <a:extLst>
              <a:ext uri="{FF2B5EF4-FFF2-40B4-BE49-F238E27FC236}">
                <a16:creationId xmlns:a16="http://schemas.microsoft.com/office/drawing/2014/main" id="{DFDF82B4-2B03-432F-A2A1-ECAE33429DCC}"/>
              </a:ext>
            </a:extLst>
          </p:cNvPr>
          <p:cNvSpPr>
            <a:spLocks noGrp="1"/>
          </p:cNvSpPr>
          <p:nvPr/>
        </p:nvSpPr>
        <p:spPr>
          <a:xfrm>
            <a:off x="1000125" y="3629025"/>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Task fidelity: faithful / compromise / missed / invalid</a:t>
            </a:r>
          </a:p>
        </p:txBody>
      </p:sp>
      <p:sp>
        <p:nvSpPr>
          <p:cNvPr id="34" name="Rectangle 33">
            <a:extLst>
              <a:ext uri="{FF2B5EF4-FFF2-40B4-BE49-F238E27FC236}">
                <a16:creationId xmlns:a16="http://schemas.microsoft.com/office/drawing/2014/main" id="{29E82225-9284-407E-8680-787208513B4A}"/>
              </a:ext>
            </a:extLst>
          </p:cNvPr>
          <p:cNvSpPr>
            <a:spLocks noGrp="1"/>
          </p:cNvSpPr>
          <p:nvPr/>
        </p:nvSpPr>
        <p:spPr>
          <a:xfrm>
            <a:off x="809625" y="403860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0E7490"/>
                </a:solidFill>
                <a:latin typeface="Aptos"/>
                <a:ea typeface="Aptos"/>
                <a:cs typeface="Aptos"/>
              </a:defRPr>
            </a:pPr>
            <a:r>
              <a:rPr sz="1200" b="1">
                <a:solidFill>
                  <a:srgbClr val="0E7490"/>
                </a:solidFill>
                <a:latin typeface="Aptos"/>
                <a:ea typeface="Aptos"/>
                <a:cs typeface="Aptos"/>
              </a:rPr>
              <a:t>•</a:t>
            </a:r>
          </a:p>
        </p:txBody>
      </p:sp>
      <p:sp>
        <p:nvSpPr>
          <p:cNvPr id="35" name="Rectangle 34">
            <a:extLst>
              <a:ext uri="{FF2B5EF4-FFF2-40B4-BE49-F238E27FC236}">
                <a16:creationId xmlns:a16="http://schemas.microsoft.com/office/drawing/2014/main" id="{C9A0721A-9D2D-4B1D-ACDA-44DA12C21C60}"/>
              </a:ext>
            </a:extLst>
          </p:cNvPr>
          <p:cNvSpPr>
            <a:spLocks noGrp="1"/>
          </p:cNvSpPr>
          <p:nvPr/>
        </p:nvSpPr>
        <p:spPr>
          <a:xfrm>
            <a:off x="1000125" y="403860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Structural validity: no dangling refs, supported primitive kinds</a:t>
            </a:r>
          </a:p>
        </p:txBody>
      </p:sp>
      <p:sp>
        <p:nvSpPr>
          <p:cNvPr id="36" name="Rectangle 35">
            <a:extLst>
              <a:ext uri="{FF2B5EF4-FFF2-40B4-BE49-F238E27FC236}">
                <a16:creationId xmlns:a16="http://schemas.microsoft.com/office/drawing/2014/main" id="{80066F11-3813-477B-A7C0-6FFF97BA9CC5}"/>
              </a:ext>
            </a:extLst>
          </p:cNvPr>
          <p:cNvSpPr>
            <a:spLocks noGrp="1"/>
          </p:cNvSpPr>
          <p:nvPr/>
        </p:nvSpPr>
        <p:spPr>
          <a:xfrm>
            <a:off x="4305300" y="2076450"/>
            <a:ext cx="3476625" cy="2952750"/>
          </a:xfrm>
          <a:prstGeom prst="rect">
            <a:avLst/>
          </a:prstGeom>
          <a:solidFill>
            <a:srgbClr val="EEF4F9"/>
          </a:solidFill>
          <a:ln w="9525">
            <a:solidFill>
              <a:srgbClr val="1F7A99"/>
            </a:solidFill>
            <a:prstDash val="solid"/>
          </a:ln>
        </p:spPr>
        <p:txBody>
          <a:bodyPr/>
          <a:lstStyle/>
          <a:p>
            <a:endParaRPr lang="en-US"/>
          </a:p>
        </p:txBody>
      </p:sp>
      <p:sp>
        <p:nvSpPr>
          <p:cNvPr id="37" name="Rectangle 36">
            <a:extLst>
              <a:ext uri="{FF2B5EF4-FFF2-40B4-BE49-F238E27FC236}">
                <a16:creationId xmlns:a16="http://schemas.microsoft.com/office/drawing/2014/main" id="{DDDE00A7-606B-46B3-BCCA-AC3C4B6D704F}"/>
              </a:ext>
            </a:extLst>
          </p:cNvPr>
          <p:cNvSpPr>
            <a:spLocks noGrp="1"/>
          </p:cNvSpPr>
          <p:nvPr/>
        </p:nvSpPr>
        <p:spPr>
          <a:xfrm>
            <a:off x="4533900" y="2305050"/>
            <a:ext cx="30194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F7A99"/>
                </a:solidFill>
                <a:latin typeface="Aptos"/>
                <a:ea typeface="Aptos"/>
                <a:cs typeface="Aptos"/>
              </a:defRPr>
            </a:pPr>
            <a:r>
              <a:rPr sz="1800" b="1" dirty="0">
                <a:solidFill>
                  <a:srgbClr val="1F7A99"/>
                </a:solidFill>
                <a:latin typeface="Aptos"/>
                <a:ea typeface="Aptos"/>
                <a:cs typeface="Aptos"/>
              </a:rPr>
              <a:t>2 · Scene </a:t>
            </a:r>
            <a:r>
              <a:rPr lang="en-US" sz="1800" b="1" dirty="0">
                <a:solidFill>
                  <a:srgbClr val="1F7A99"/>
                </a:solidFill>
                <a:latin typeface="Aptos"/>
                <a:ea typeface="Aptos"/>
                <a:cs typeface="Aptos"/>
              </a:rPr>
              <a:t>Rendering</a:t>
            </a:r>
            <a:endParaRPr sz="1800" b="1" dirty="0">
              <a:solidFill>
                <a:srgbClr val="1F7A99"/>
              </a:solidFill>
              <a:latin typeface="Aptos"/>
              <a:ea typeface="Aptos"/>
              <a:cs typeface="Aptos"/>
            </a:endParaRPr>
          </a:p>
        </p:txBody>
      </p:sp>
      <p:sp>
        <p:nvSpPr>
          <p:cNvPr id="38" name="Rectangle 37">
            <a:extLst>
              <a:ext uri="{FF2B5EF4-FFF2-40B4-BE49-F238E27FC236}">
                <a16:creationId xmlns:a16="http://schemas.microsoft.com/office/drawing/2014/main" id="{068C72B0-8ACC-4D41-BBB1-545EC4EC212B}"/>
              </a:ext>
            </a:extLst>
          </p:cNvPr>
          <p:cNvSpPr>
            <a:spLocks noGrp="1"/>
          </p:cNvSpPr>
          <p:nvPr/>
        </p:nvSpPr>
        <p:spPr>
          <a:xfrm>
            <a:off x="4533900" y="2647950"/>
            <a:ext cx="3019425"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374151"/>
                </a:solidFill>
                <a:latin typeface="Aptos"/>
                <a:ea typeface="Aptos"/>
                <a:cs typeface="Aptos"/>
              </a:defRPr>
            </a:pPr>
            <a:r>
              <a:rPr sz="1200" b="0">
                <a:solidFill>
                  <a:srgbClr val="374151"/>
                </a:solidFill>
                <a:latin typeface="Aptos"/>
                <a:ea typeface="Aptos"/>
                <a:cs typeface="Aptos"/>
              </a:rPr>
              <a:t>Typed plan → spatial scene</a:t>
            </a:r>
          </a:p>
        </p:txBody>
      </p:sp>
      <p:sp>
        <p:nvSpPr>
          <p:cNvPr id="39" name="Rectangle 38">
            <a:extLst>
              <a:ext uri="{FF2B5EF4-FFF2-40B4-BE49-F238E27FC236}">
                <a16:creationId xmlns:a16="http://schemas.microsoft.com/office/drawing/2014/main" id="{56A95A61-B8FB-4EA5-ACE3-D7BFB9118DF6}"/>
              </a:ext>
            </a:extLst>
          </p:cNvPr>
          <p:cNvSpPr>
            <a:spLocks noGrp="1"/>
          </p:cNvSpPr>
          <p:nvPr/>
        </p:nvSpPr>
        <p:spPr>
          <a:xfrm>
            <a:off x="4572000" y="321945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F7A99"/>
                </a:solidFill>
                <a:latin typeface="Aptos"/>
                <a:ea typeface="Aptos"/>
                <a:cs typeface="Aptos"/>
              </a:defRPr>
            </a:pPr>
            <a:r>
              <a:rPr sz="1200" b="1">
                <a:solidFill>
                  <a:srgbClr val="1F7A99"/>
                </a:solidFill>
                <a:latin typeface="Aptos"/>
                <a:ea typeface="Aptos"/>
                <a:cs typeface="Aptos"/>
              </a:rPr>
              <a:t>•</a:t>
            </a:r>
          </a:p>
        </p:txBody>
      </p:sp>
      <p:sp>
        <p:nvSpPr>
          <p:cNvPr id="40" name="Rectangle 39">
            <a:extLst>
              <a:ext uri="{FF2B5EF4-FFF2-40B4-BE49-F238E27FC236}">
                <a16:creationId xmlns:a16="http://schemas.microsoft.com/office/drawing/2014/main" id="{CE95C83C-25E8-4CA5-AF74-CC65F783B83E}"/>
              </a:ext>
            </a:extLst>
          </p:cNvPr>
          <p:cNvSpPr>
            <a:spLocks noGrp="1"/>
          </p:cNvSpPr>
          <p:nvPr/>
        </p:nvSpPr>
        <p:spPr>
          <a:xfrm>
            <a:off x="4762500" y="321945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Object realization: are objects recognizable?</a:t>
            </a:r>
          </a:p>
        </p:txBody>
      </p:sp>
      <p:sp>
        <p:nvSpPr>
          <p:cNvPr id="41" name="Rectangle 40">
            <a:extLst>
              <a:ext uri="{FF2B5EF4-FFF2-40B4-BE49-F238E27FC236}">
                <a16:creationId xmlns:a16="http://schemas.microsoft.com/office/drawing/2014/main" id="{03BF2337-E7EF-46E0-86CB-5D22A2316C36}"/>
              </a:ext>
            </a:extLst>
          </p:cNvPr>
          <p:cNvSpPr>
            <a:spLocks noGrp="1"/>
          </p:cNvSpPr>
          <p:nvPr/>
        </p:nvSpPr>
        <p:spPr>
          <a:xfrm>
            <a:off x="4572000" y="3629025"/>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F7A99"/>
                </a:solidFill>
                <a:latin typeface="Aptos"/>
                <a:ea typeface="Aptos"/>
                <a:cs typeface="Aptos"/>
              </a:defRPr>
            </a:pPr>
            <a:r>
              <a:rPr sz="1200" b="1">
                <a:solidFill>
                  <a:srgbClr val="1F7A99"/>
                </a:solidFill>
                <a:latin typeface="Aptos"/>
                <a:ea typeface="Aptos"/>
                <a:cs typeface="Aptos"/>
              </a:rPr>
              <a:t>•</a:t>
            </a:r>
          </a:p>
        </p:txBody>
      </p:sp>
      <p:sp>
        <p:nvSpPr>
          <p:cNvPr id="42" name="Rectangle 41">
            <a:extLst>
              <a:ext uri="{FF2B5EF4-FFF2-40B4-BE49-F238E27FC236}">
                <a16:creationId xmlns:a16="http://schemas.microsoft.com/office/drawing/2014/main" id="{309ACF6E-702E-4A66-B632-62EBDA48B140}"/>
              </a:ext>
            </a:extLst>
          </p:cNvPr>
          <p:cNvSpPr>
            <a:spLocks noGrp="1"/>
          </p:cNvSpPr>
          <p:nvPr/>
        </p:nvSpPr>
        <p:spPr>
          <a:xfrm>
            <a:off x="4762500" y="3629025"/>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Spatial plausibility: reachable, grounded, non-overlapping?</a:t>
            </a:r>
          </a:p>
        </p:txBody>
      </p:sp>
      <p:sp>
        <p:nvSpPr>
          <p:cNvPr id="43" name="Rectangle 42">
            <a:extLst>
              <a:ext uri="{FF2B5EF4-FFF2-40B4-BE49-F238E27FC236}">
                <a16:creationId xmlns:a16="http://schemas.microsoft.com/office/drawing/2014/main" id="{C10ACBC0-C211-44E1-9616-55F6106B91A8}"/>
              </a:ext>
            </a:extLst>
          </p:cNvPr>
          <p:cNvSpPr>
            <a:spLocks noGrp="1"/>
          </p:cNvSpPr>
          <p:nvPr/>
        </p:nvSpPr>
        <p:spPr>
          <a:xfrm>
            <a:off x="4572000" y="403860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F7A99"/>
                </a:solidFill>
                <a:latin typeface="Aptos"/>
                <a:ea typeface="Aptos"/>
                <a:cs typeface="Aptos"/>
              </a:defRPr>
            </a:pPr>
            <a:r>
              <a:rPr sz="1200" b="1">
                <a:solidFill>
                  <a:srgbClr val="1F7A99"/>
                </a:solidFill>
                <a:latin typeface="Aptos"/>
                <a:ea typeface="Aptos"/>
                <a:cs typeface="Aptos"/>
              </a:rPr>
              <a:t>•</a:t>
            </a:r>
          </a:p>
        </p:txBody>
      </p:sp>
      <p:sp>
        <p:nvSpPr>
          <p:cNvPr id="44" name="Rectangle 43">
            <a:extLst>
              <a:ext uri="{FF2B5EF4-FFF2-40B4-BE49-F238E27FC236}">
                <a16:creationId xmlns:a16="http://schemas.microsoft.com/office/drawing/2014/main" id="{6F64A5B6-E64A-4D85-8F0E-5B9A865E4C0A}"/>
              </a:ext>
            </a:extLst>
          </p:cNvPr>
          <p:cNvSpPr>
            <a:spLocks noGrp="1"/>
          </p:cNvSpPr>
          <p:nvPr/>
        </p:nvSpPr>
        <p:spPr>
          <a:xfrm>
            <a:off x="4762500" y="403860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Context sufficiency: does it read as the intended setting?</a:t>
            </a:r>
          </a:p>
        </p:txBody>
      </p:sp>
      <p:sp>
        <p:nvSpPr>
          <p:cNvPr id="45" name="Rectangle 44">
            <a:extLst>
              <a:ext uri="{FF2B5EF4-FFF2-40B4-BE49-F238E27FC236}">
                <a16:creationId xmlns:a16="http://schemas.microsoft.com/office/drawing/2014/main" id="{96975536-472E-405D-93DF-31BBCF6899C3}"/>
              </a:ext>
            </a:extLst>
          </p:cNvPr>
          <p:cNvSpPr>
            <a:spLocks noGrp="1"/>
          </p:cNvSpPr>
          <p:nvPr/>
        </p:nvSpPr>
        <p:spPr>
          <a:xfrm>
            <a:off x="8067675" y="2076450"/>
            <a:ext cx="3476625" cy="2952750"/>
          </a:xfrm>
          <a:prstGeom prst="rect">
            <a:avLst/>
          </a:prstGeom>
          <a:solidFill>
            <a:srgbClr val="EEF4F9"/>
          </a:solidFill>
          <a:ln w="9525">
            <a:solidFill>
              <a:srgbClr val="2F6B33"/>
            </a:solidFill>
            <a:prstDash val="solid"/>
          </a:ln>
        </p:spPr>
        <p:txBody>
          <a:bodyPr/>
          <a:lstStyle/>
          <a:p>
            <a:endParaRPr lang="en-US"/>
          </a:p>
        </p:txBody>
      </p:sp>
      <p:sp>
        <p:nvSpPr>
          <p:cNvPr id="46" name="Rectangle 45">
            <a:extLst>
              <a:ext uri="{FF2B5EF4-FFF2-40B4-BE49-F238E27FC236}">
                <a16:creationId xmlns:a16="http://schemas.microsoft.com/office/drawing/2014/main" id="{39BD496D-4E90-4CC0-A720-CF84CE64D7F1}"/>
              </a:ext>
            </a:extLst>
          </p:cNvPr>
          <p:cNvSpPr>
            <a:spLocks noGrp="1"/>
          </p:cNvSpPr>
          <p:nvPr/>
        </p:nvSpPr>
        <p:spPr>
          <a:xfrm>
            <a:off x="8296275" y="2305050"/>
            <a:ext cx="30194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F6B33"/>
                </a:solidFill>
                <a:latin typeface="Aptos"/>
                <a:ea typeface="Aptos"/>
                <a:cs typeface="Aptos"/>
              </a:defRPr>
            </a:pPr>
            <a:r>
              <a:rPr sz="1800" b="1">
                <a:solidFill>
                  <a:srgbClr val="2F6B33"/>
                </a:solidFill>
                <a:latin typeface="Aptos"/>
                <a:ea typeface="Aptos"/>
                <a:cs typeface="Aptos"/>
              </a:rPr>
              <a:t>3 · Runtime support</a:t>
            </a:r>
          </a:p>
        </p:txBody>
      </p:sp>
      <p:sp>
        <p:nvSpPr>
          <p:cNvPr id="47" name="Rectangle 46">
            <a:extLst>
              <a:ext uri="{FF2B5EF4-FFF2-40B4-BE49-F238E27FC236}">
                <a16:creationId xmlns:a16="http://schemas.microsoft.com/office/drawing/2014/main" id="{A4DA1E55-7EC2-4D95-8089-B24953363C90}"/>
              </a:ext>
            </a:extLst>
          </p:cNvPr>
          <p:cNvSpPr>
            <a:spLocks noGrp="1"/>
          </p:cNvSpPr>
          <p:nvPr/>
        </p:nvSpPr>
        <p:spPr>
          <a:xfrm>
            <a:off x="8296275" y="2647950"/>
            <a:ext cx="3019425" cy="457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374151"/>
                </a:solidFill>
                <a:latin typeface="Aptos"/>
                <a:ea typeface="Aptos"/>
                <a:cs typeface="Aptos"/>
              </a:defRPr>
            </a:pPr>
            <a:r>
              <a:rPr sz="1200" b="0">
                <a:solidFill>
                  <a:srgbClr val="374151"/>
                </a:solidFill>
                <a:latin typeface="Aptos"/>
                <a:ea typeface="Aptos"/>
                <a:cs typeface="Aptos"/>
              </a:rPr>
              <a:t>Scene → roleplay interaction</a:t>
            </a:r>
          </a:p>
        </p:txBody>
      </p:sp>
      <p:sp>
        <p:nvSpPr>
          <p:cNvPr id="48" name="Rectangle 47">
            <a:extLst>
              <a:ext uri="{FF2B5EF4-FFF2-40B4-BE49-F238E27FC236}">
                <a16:creationId xmlns:a16="http://schemas.microsoft.com/office/drawing/2014/main" id="{6285C578-25FA-4311-A15F-F4DFF312BA37}"/>
              </a:ext>
            </a:extLst>
          </p:cNvPr>
          <p:cNvSpPr>
            <a:spLocks noGrp="1"/>
          </p:cNvSpPr>
          <p:nvPr/>
        </p:nvSpPr>
        <p:spPr>
          <a:xfrm>
            <a:off x="8334375" y="321945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2F6B33"/>
                </a:solidFill>
                <a:latin typeface="Aptos"/>
                <a:ea typeface="Aptos"/>
                <a:cs typeface="Aptos"/>
              </a:defRPr>
            </a:pPr>
            <a:r>
              <a:rPr sz="1200" b="1">
                <a:solidFill>
                  <a:srgbClr val="2F6B33"/>
                </a:solidFill>
                <a:latin typeface="Aptos"/>
                <a:ea typeface="Aptos"/>
                <a:cs typeface="Aptos"/>
              </a:rPr>
              <a:t>•</a:t>
            </a:r>
          </a:p>
        </p:txBody>
      </p:sp>
      <p:sp>
        <p:nvSpPr>
          <p:cNvPr id="49" name="Rectangle 48">
            <a:extLst>
              <a:ext uri="{FF2B5EF4-FFF2-40B4-BE49-F238E27FC236}">
                <a16:creationId xmlns:a16="http://schemas.microsoft.com/office/drawing/2014/main" id="{5E76F72E-E190-468F-9A3A-647C11F8B53D}"/>
              </a:ext>
            </a:extLst>
          </p:cNvPr>
          <p:cNvSpPr>
            <a:spLocks noGrp="1"/>
          </p:cNvSpPr>
          <p:nvPr/>
        </p:nvSpPr>
        <p:spPr>
          <a:xfrm>
            <a:off x="8524875" y="321945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dirty="0">
                <a:solidFill>
                  <a:srgbClr val="374151"/>
                </a:solidFill>
                <a:latin typeface="Aptos"/>
                <a:ea typeface="Aptos"/>
                <a:cs typeface="Aptos"/>
              </a:rPr>
              <a:t>Affordance instrumentation: can the learner perform the </a:t>
            </a:r>
            <a:r>
              <a:rPr lang="en-US" sz="1073" b="0" dirty="0">
                <a:solidFill>
                  <a:srgbClr val="374151"/>
                </a:solidFill>
                <a:latin typeface="Aptos"/>
                <a:ea typeface="Aptos"/>
                <a:cs typeface="Aptos"/>
              </a:rPr>
              <a:t>intended </a:t>
            </a:r>
            <a:r>
              <a:rPr lang="en-US" sz="1073" dirty="0">
                <a:solidFill>
                  <a:srgbClr val="374151"/>
                </a:solidFill>
                <a:latin typeface="Aptos"/>
                <a:ea typeface="Aptos"/>
                <a:cs typeface="Aptos"/>
              </a:rPr>
              <a:t>action? </a:t>
            </a:r>
            <a:endParaRPr sz="1073" b="0" dirty="0">
              <a:solidFill>
                <a:srgbClr val="374151"/>
              </a:solidFill>
              <a:latin typeface="Aptos"/>
              <a:ea typeface="Aptos"/>
              <a:cs typeface="Aptos"/>
            </a:endParaRPr>
          </a:p>
        </p:txBody>
      </p:sp>
      <p:sp>
        <p:nvSpPr>
          <p:cNvPr id="50" name="Rectangle 49">
            <a:extLst>
              <a:ext uri="{FF2B5EF4-FFF2-40B4-BE49-F238E27FC236}">
                <a16:creationId xmlns:a16="http://schemas.microsoft.com/office/drawing/2014/main" id="{F60ED1D8-737C-4015-B812-2F24FDFCA775}"/>
              </a:ext>
            </a:extLst>
          </p:cNvPr>
          <p:cNvSpPr>
            <a:spLocks noGrp="1"/>
          </p:cNvSpPr>
          <p:nvPr/>
        </p:nvSpPr>
        <p:spPr>
          <a:xfrm>
            <a:off x="8334375" y="3629025"/>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2F6B33"/>
                </a:solidFill>
                <a:latin typeface="Aptos"/>
                <a:ea typeface="Aptos"/>
                <a:cs typeface="Aptos"/>
              </a:defRPr>
            </a:pPr>
            <a:r>
              <a:rPr sz="1200" b="1">
                <a:solidFill>
                  <a:srgbClr val="2F6B33"/>
                </a:solidFill>
                <a:latin typeface="Aptos"/>
                <a:ea typeface="Aptos"/>
                <a:cs typeface="Aptos"/>
              </a:rPr>
              <a:t>•</a:t>
            </a:r>
          </a:p>
        </p:txBody>
      </p:sp>
      <p:sp>
        <p:nvSpPr>
          <p:cNvPr id="51" name="Rectangle 50">
            <a:extLst>
              <a:ext uri="{FF2B5EF4-FFF2-40B4-BE49-F238E27FC236}">
                <a16:creationId xmlns:a16="http://schemas.microsoft.com/office/drawing/2014/main" id="{73778B78-A887-4E55-A571-0B68BD39CD65}"/>
              </a:ext>
            </a:extLst>
          </p:cNvPr>
          <p:cNvSpPr>
            <a:spLocks noGrp="1"/>
          </p:cNvSpPr>
          <p:nvPr/>
        </p:nvSpPr>
        <p:spPr>
          <a:xfrm>
            <a:off x="8524875" y="3629025"/>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Task completion: yes / partial / no after driving the task</a:t>
            </a:r>
          </a:p>
        </p:txBody>
      </p:sp>
      <p:sp>
        <p:nvSpPr>
          <p:cNvPr id="52" name="Rectangle 51">
            <a:extLst>
              <a:ext uri="{FF2B5EF4-FFF2-40B4-BE49-F238E27FC236}">
                <a16:creationId xmlns:a16="http://schemas.microsoft.com/office/drawing/2014/main" id="{79861679-1413-43CE-8A26-29E82236146A}"/>
              </a:ext>
            </a:extLst>
          </p:cNvPr>
          <p:cNvSpPr>
            <a:spLocks noGrp="1"/>
          </p:cNvSpPr>
          <p:nvPr/>
        </p:nvSpPr>
        <p:spPr>
          <a:xfrm>
            <a:off x="8334375" y="4038600"/>
            <a:ext cx="171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2F6B33"/>
                </a:solidFill>
                <a:latin typeface="Aptos"/>
                <a:ea typeface="Aptos"/>
                <a:cs typeface="Aptos"/>
              </a:defRPr>
            </a:pPr>
            <a:r>
              <a:rPr sz="1200" b="1">
                <a:solidFill>
                  <a:srgbClr val="2F6B33"/>
                </a:solidFill>
                <a:latin typeface="Aptos"/>
                <a:ea typeface="Aptos"/>
                <a:cs typeface="Aptos"/>
              </a:rPr>
              <a:t>•</a:t>
            </a:r>
          </a:p>
        </p:txBody>
      </p:sp>
      <p:sp>
        <p:nvSpPr>
          <p:cNvPr id="53" name="Rectangle 52">
            <a:extLst>
              <a:ext uri="{FF2B5EF4-FFF2-40B4-BE49-F238E27FC236}">
                <a16:creationId xmlns:a16="http://schemas.microsoft.com/office/drawing/2014/main" id="{CED80792-FCCC-447F-B5D5-1A2723B4D06C}"/>
              </a:ext>
            </a:extLst>
          </p:cNvPr>
          <p:cNvSpPr>
            <a:spLocks noGrp="1"/>
          </p:cNvSpPr>
          <p:nvPr/>
        </p:nvSpPr>
        <p:spPr>
          <a:xfrm>
            <a:off x="8524875" y="4038600"/>
            <a:ext cx="27908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73" b="0">
                <a:solidFill>
                  <a:srgbClr val="374151"/>
                </a:solidFill>
                <a:latin typeface="Aptos"/>
                <a:ea typeface="Aptos"/>
                <a:cs typeface="Aptos"/>
              </a:defRPr>
            </a:pPr>
            <a:r>
              <a:rPr sz="1073" b="0">
                <a:solidFill>
                  <a:srgbClr val="374151"/>
                </a:solidFill>
                <a:latin typeface="Aptos"/>
                <a:ea typeface="Aptos"/>
                <a:cs typeface="Aptos"/>
              </a:rPr>
              <a:t>Latency: planning time from app logs; SAM3D time from output timestamps</a:t>
            </a:r>
          </a:p>
        </p:txBody>
      </p:sp>
    </p:spTree>
    <p:extLst>
      <p:ext uri="{BB962C8B-B14F-4D97-AF65-F5344CB8AC3E}">
        <p14:creationId xmlns:p14="http://schemas.microsoft.com/office/powerpoint/2010/main" val="782931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709236-AE36-4842-851E-7F81D0561809}"/>
              </a:ext>
            </a:extLst>
          </p:cNvPr>
          <p:cNvSpPr>
            <a:spLocks noGrp="1"/>
          </p:cNvSpPr>
          <p:nvPr/>
        </p:nvSpPr>
        <p:spPr>
          <a:xfrm>
            <a:off x="502920" y="457200"/>
            <a:ext cx="548640" cy="548640"/>
          </a:xfrm>
          <a:prstGeom prst="ellipse">
            <a:avLst/>
          </a:prstGeom>
          <a:solidFill>
            <a:srgbClr val="065A82"/>
          </a:solidFill>
        </p:spPr>
        <p:txBody>
          <a:bodyPr/>
          <a:lstStyle/>
          <a:p>
            <a:endParaRPr lang="en-US"/>
          </a:p>
        </p:txBody>
      </p:sp>
      <p:sp>
        <p:nvSpPr>
          <p:cNvPr id="3" name="Text 1">
            <a:extLst>
              <a:ext uri="{FF2B5EF4-FFF2-40B4-BE49-F238E27FC236}">
                <a16:creationId xmlns:a16="http://schemas.microsoft.com/office/drawing/2014/main" id="{FB3B6710-5029-4000-8833-F38ECF81BCD6}"/>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6</a:t>
            </a:r>
          </a:p>
        </p:txBody>
      </p:sp>
      <p:sp>
        <p:nvSpPr>
          <p:cNvPr id="4" name="Text 2">
            <a:extLst>
              <a:ext uri="{FF2B5EF4-FFF2-40B4-BE49-F238E27FC236}">
                <a16:creationId xmlns:a16="http://schemas.microsoft.com/office/drawing/2014/main" id="{F0460C54-1343-4A21-9D6A-58A4B07672B8}"/>
              </a:ext>
            </a:extLst>
          </p:cNvPr>
          <p:cNvSpPr>
            <a:spLocks noGrp="1"/>
          </p:cNvSpPr>
          <p:nvPr/>
        </p:nvSpPr>
        <p:spPr>
          <a:xfrm>
            <a:off x="1234440" y="457200"/>
            <a:ext cx="10332720" cy="548640"/>
          </a:xfrm>
          <a:prstGeom prst="rect">
            <a:avLst/>
          </a:prstGeom>
          <a:noFill/>
        </p:spPr>
        <p:txBody>
          <a:bodyPr wrap="square" lIns="0" tIns="0" rIns="0" bIns="0" anchor="ctr"/>
          <a:lstStyle/>
          <a:p>
            <a:pPr marL="0" indent="0">
              <a:buNone/>
            </a:pPr>
            <a:r>
              <a:rPr sz="2700" b="1">
                <a:solidFill>
                  <a:srgbClr val="1F2937"/>
                </a:solidFill>
                <a:latin typeface="Georgia"/>
                <a:ea typeface="Georgia"/>
                <a:cs typeface="Georgia"/>
              </a:rPr>
              <a:t>Results: from card to plan</a:t>
            </a:r>
          </a:p>
        </p:txBody>
      </p:sp>
      <p:sp>
        <p:nvSpPr>
          <p:cNvPr id="5" name="Text 3">
            <a:extLst>
              <a:ext uri="{FF2B5EF4-FFF2-40B4-BE49-F238E27FC236}">
                <a16:creationId xmlns:a16="http://schemas.microsoft.com/office/drawing/2014/main" id="{59E9DFF4-F1F6-4441-A449-776113F38ECB}"/>
              </a:ext>
            </a:extLst>
          </p:cNvPr>
          <p:cNvSpPr>
            <a:spLocks noGrp="1"/>
          </p:cNvSpPr>
          <p:nvPr/>
        </p:nvSpPr>
        <p:spPr>
          <a:xfrm>
            <a:off x="548640" y="1207008"/>
            <a:ext cx="7315200" cy="274320"/>
          </a:xfrm>
          <a:prstGeom prst="rect">
            <a:avLst/>
          </a:prstGeom>
          <a:noFill/>
        </p:spPr>
        <p:txBody>
          <a:bodyPr wrap="square" lIns="0" tIns="0" rIns="0" bIns="0" anchor="ctr"/>
          <a:lstStyle/>
          <a:p>
            <a:pPr marL="0" indent="0">
              <a:buNone/>
            </a:pPr>
            <a:r>
              <a:rPr sz="1150" i="1">
                <a:solidFill>
                  <a:srgbClr val="6B7280"/>
                </a:solidFill>
                <a:latin typeface="Calibri"/>
                <a:ea typeface="Calibri"/>
                <a:cs typeface="Calibri"/>
              </a:rPr>
              <a:t>Illustrative data — re-runs unchanged on the real exported logs</a:t>
            </a:r>
          </a:p>
        </p:txBody>
      </p:sp>
      <p:pic>
        <p:nvPicPr>
          <p:cNvPr id="6" name="Image 0"/>
          <p:cNvPicPr>
            <a:picLocks noChangeAspect="1"/>
          </p:cNvPicPr>
          <p:nvPr/>
        </p:nvPicPr>
        <p:blipFill>
          <a:blip r:embed="rId3"/>
          <a:stretch>
            <a:fillRect/>
          </a:stretch>
        </p:blipFill>
        <p:spPr>
          <a:xfrm>
            <a:off x="457200" y="1554480"/>
            <a:ext cx="7680960" cy="3465799"/>
          </a:xfrm>
          <a:prstGeom prst="rect">
            <a:avLst/>
          </a:prstGeom>
        </p:spPr>
      </p:pic>
      <p:sp>
        <p:nvSpPr>
          <p:cNvPr id="7" name="Text 4">
            <a:extLst>
              <a:ext uri="{FF2B5EF4-FFF2-40B4-BE49-F238E27FC236}">
                <a16:creationId xmlns:a16="http://schemas.microsoft.com/office/drawing/2014/main" id="{D43C4847-529D-4360-B342-FB251DF9E823}"/>
              </a:ext>
            </a:extLst>
          </p:cNvPr>
          <p:cNvSpPr>
            <a:spLocks noGrp="1"/>
          </p:cNvSpPr>
          <p:nvPr/>
        </p:nvSpPr>
        <p:spPr>
          <a:xfrm>
            <a:off x="8412480" y="1737360"/>
            <a:ext cx="3291840" cy="457200"/>
          </a:xfrm>
          <a:prstGeom prst="rect">
            <a:avLst/>
          </a:prstGeom>
          <a:noFill/>
        </p:spPr>
        <p:txBody>
          <a:bodyPr wrap="square" lIns="0" tIns="0" rIns="0" bIns="0" anchor="t"/>
          <a:lstStyle/>
          <a:p>
            <a:pPr marL="0" indent="0">
              <a:buNone/>
            </a:pPr>
            <a:r>
              <a:rPr sz="1350" b="1">
                <a:solidFill>
                  <a:srgbClr val="1F2937"/>
                </a:solidFill>
                <a:latin typeface="Calibri"/>
                <a:ea typeface="Calibri"/>
                <a:cs typeface="Calibri"/>
              </a:rPr>
              <a:t>Transactional scenes translate faithfully</a:t>
            </a:r>
          </a:p>
        </p:txBody>
      </p:sp>
      <p:sp>
        <p:nvSpPr>
          <p:cNvPr id="8" name="Text 5">
            <a:extLst>
              <a:ext uri="{FF2B5EF4-FFF2-40B4-BE49-F238E27FC236}">
                <a16:creationId xmlns:a16="http://schemas.microsoft.com/office/drawing/2014/main" id="{4BADC512-83CE-4783-B8EE-AC3021C0CCB7}"/>
              </a:ext>
            </a:extLst>
          </p:cNvPr>
          <p:cNvSpPr>
            <a:spLocks noGrp="1"/>
          </p:cNvSpPr>
          <p:nvPr/>
        </p:nvSpPr>
        <p:spPr>
          <a:xfrm>
            <a:off x="8412480" y="2194560"/>
            <a:ext cx="3291840" cy="731520"/>
          </a:xfrm>
          <a:prstGeom prst="rect">
            <a:avLst/>
          </a:prstGeom>
          <a:noFill/>
        </p:spPr>
        <p:txBody>
          <a:bodyPr wrap="square" lIns="0" tIns="0" rIns="0" bIns="0" anchor="t"/>
          <a:lstStyle/>
          <a:p>
            <a:pPr marL="0" indent="0">
              <a:lnSpc>
                <a:spcPct val="105000"/>
              </a:lnSpc>
              <a:buNone/>
            </a:pPr>
            <a:r>
              <a:rPr sz="1250">
                <a:solidFill>
                  <a:srgbClr val="6B7280"/>
                </a:solidFill>
                <a:latin typeface="Calibri"/>
                <a:ea typeface="Calibri"/>
                <a:cs typeface="Calibri"/>
              </a:rPr>
              <a:t>Order, Conv, Market are mostly green — the generator picks the right primitive.</a:t>
            </a:r>
          </a:p>
        </p:txBody>
      </p:sp>
      <p:sp>
        <p:nvSpPr>
          <p:cNvPr id="9" name="Text 6">
            <a:extLst>
              <a:ext uri="{FF2B5EF4-FFF2-40B4-BE49-F238E27FC236}">
                <a16:creationId xmlns:a16="http://schemas.microsoft.com/office/drawing/2014/main" id="{3266B6CD-59D6-4D14-812D-8A94B68C4125}"/>
              </a:ext>
            </a:extLst>
          </p:cNvPr>
          <p:cNvSpPr>
            <a:spLocks noGrp="1"/>
          </p:cNvSpPr>
          <p:nvPr/>
        </p:nvSpPr>
        <p:spPr>
          <a:xfrm>
            <a:off x="8412480" y="3017520"/>
            <a:ext cx="3291840" cy="457200"/>
          </a:xfrm>
          <a:prstGeom prst="rect">
            <a:avLst/>
          </a:prstGeom>
          <a:noFill/>
        </p:spPr>
        <p:txBody>
          <a:bodyPr wrap="square" lIns="0" tIns="0" rIns="0" bIns="0" anchor="t"/>
          <a:lstStyle/>
          <a:p>
            <a:pPr marL="0" indent="0">
              <a:buNone/>
            </a:pPr>
            <a:r>
              <a:rPr sz="1350" b="1">
                <a:solidFill>
                  <a:srgbClr val="1F2937"/>
                </a:solidFill>
                <a:latin typeface="Calibri"/>
                <a:ea typeface="Calibri"/>
                <a:cs typeface="Calibri"/>
              </a:rPr>
              <a:t>Loss is the vocabulary, not the LLM</a:t>
            </a:r>
          </a:p>
        </p:txBody>
      </p:sp>
      <p:sp>
        <p:nvSpPr>
          <p:cNvPr id="10" name="Text 7">
            <a:extLst>
              <a:ext uri="{FF2B5EF4-FFF2-40B4-BE49-F238E27FC236}">
                <a16:creationId xmlns:a16="http://schemas.microsoft.com/office/drawing/2014/main" id="{2E89AD4A-8F81-4871-B772-A6443E18C5A9}"/>
              </a:ext>
            </a:extLst>
          </p:cNvPr>
          <p:cNvSpPr>
            <a:spLocks noGrp="1"/>
          </p:cNvSpPr>
          <p:nvPr/>
        </p:nvSpPr>
        <p:spPr>
          <a:xfrm>
            <a:off x="8412480" y="3474720"/>
            <a:ext cx="3291840" cy="731520"/>
          </a:xfrm>
          <a:prstGeom prst="rect">
            <a:avLst/>
          </a:prstGeom>
          <a:noFill/>
        </p:spPr>
        <p:txBody>
          <a:bodyPr wrap="square" lIns="0" tIns="0" rIns="0" bIns="0" anchor="t"/>
          <a:lstStyle/>
          <a:p>
            <a:pPr marL="0" indent="0">
              <a:lnSpc>
                <a:spcPct val="105000"/>
              </a:lnSpc>
              <a:buNone/>
            </a:pPr>
            <a:r>
              <a:rPr sz="1250">
                <a:solidFill>
                  <a:srgbClr val="6B7280"/>
                </a:solidFill>
                <a:latin typeface="Calibri"/>
                <a:ea typeface="Calibri"/>
                <a:cs typeface="Calibri"/>
              </a:rPr>
              <a:t>Shrine / Station / TryOn are dominated by gray (not expressible) — only ~3 beats were generator misses.</a:t>
            </a:r>
          </a:p>
        </p:txBody>
      </p:sp>
      <p:sp>
        <p:nvSpPr>
          <p:cNvPr id="11" name="Text 8">
            <a:extLst>
              <a:ext uri="{FF2B5EF4-FFF2-40B4-BE49-F238E27FC236}">
                <a16:creationId xmlns:a16="http://schemas.microsoft.com/office/drawing/2014/main" id="{ABDAEE6C-B57F-4668-9AAD-8029AAA80F87}"/>
              </a:ext>
            </a:extLst>
          </p:cNvPr>
          <p:cNvSpPr>
            <a:spLocks noGrp="1"/>
          </p:cNvSpPr>
          <p:nvPr/>
        </p:nvSpPr>
        <p:spPr>
          <a:xfrm>
            <a:off x="8412480" y="4297680"/>
            <a:ext cx="3291840" cy="457200"/>
          </a:xfrm>
          <a:prstGeom prst="rect">
            <a:avLst/>
          </a:prstGeom>
          <a:noFill/>
        </p:spPr>
        <p:txBody>
          <a:bodyPr wrap="square" lIns="0" tIns="0" rIns="0" bIns="0" anchor="t"/>
          <a:lstStyle/>
          <a:p>
            <a:pPr marL="0" indent="0">
              <a:buNone/>
            </a:pPr>
            <a:r>
              <a:rPr sz="1350" b="1">
                <a:solidFill>
                  <a:srgbClr val="1F2937"/>
                </a:solidFill>
                <a:latin typeface="Calibri"/>
                <a:ea typeface="Calibri"/>
                <a:cs typeface="Calibri"/>
              </a:rPr>
              <a:t>This is the card–plan difference</a:t>
            </a:r>
          </a:p>
        </p:txBody>
      </p:sp>
      <p:sp>
        <p:nvSpPr>
          <p:cNvPr id="12" name="Text 9">
            <a:extLst>
              <a:ext uri="{FF2B5EF4-FFF2-40B4-BE49-F238E27FC236}">
                <a16:creationId xmlns:a16="http://schemas.microsoft.com/office/drawing/2014/main" id="{129A0E47-E6BC-447B-88A2-E4328D9956C3}"/>
              </a:ext>
            </a:extLst>
          </p:cNvPr>
          <p:cNvSpPr>
            <a:spLocks noGrp="1"/>
          </p:cNvSpPr>
          <p:nvPr/>
        </p:nvSpPr>
        <p:spPr>
          <a:xfrm>
            <a:off x="8412480" y="4754880"/>
            <a:ext cx="3291840" cy="731520"/>
          </a:xfrm>
          <a:prstGeom prst="rect">
            <a:avLst/>
          </a:prstGeom>
          <a:noFill/>
        </p:spPr>
        <p:txBody>
          <a:bodyPr wrap="square" lIns="0" tIns="0" rIns="0" bIns="0" anchor="t"/>
          <a:lstStyle/>
          <a:p>
            <a:pPr marL="0" indent="0">
              <a:lnSpc>
                <a:spcPct val="105000"/>
              </a:lnSpc>
              <a:buNone/>
            </a:pPr>
            <a:r>
              <a:rPr sz="1250">
                <a:solidFill>
                  <a:srgbClr val="6B7280"/>
                </a:solidFill>
                <a:latin typeface="Calibri"/>
                <a:ea typeface="Calibri"/>
                <a:cs typeface="Calibri"/>
              </a:rPr>
              <a:t>The gap between demanded and generated, split by cause.</a:t>
            </a:r>
          </a:p>
        </p:txBody>
      </p:sp>
      <p:sp>
        <p:nvSpPr>
          <p:cNvPr id="14" name="update-wipe">
            <a:extLst>
              <a:ext uri="{FF2B5EF4-FFF2-40B4-BE49-F238E27FC236}">
                <a16:creationId xmlns:a16="http://schemas.microsoft.com/office/drawing/2014/main" id="{CA0110D8-5C90-4744-90C1-BF368E14E839}"/>
              </a:ext>
            </a:extLst>
          </p:cNvPr>
          <p:cNvSpPr>
            <a:spLocks noGrp="1"/>
          </p:cNvSpPr>
          <p:nvPr/>
        </p:nvSpPr>
        <p:spPr>
          <a:xfrm>
            <a:off x="66502" y="285750"/>
            <a:ext cx="12192000" cy="6858000"/>
          </a:xfrm>
          <a:prstGeom prst="rect">
            <a:avLst/>
          </a:prstGeom>
          <a:solidFill>
            <a:srgbClr val="FFFFFF"/>
          </a:solidFill>
          <a:ln w="0">
            <a:solidFill>
              <a:srgbClr val="FFFFFF"/>
            </a:solidFill>
            <a:prstDash val="solid"/>
          </a:ln>
        </p:spPr>
        <p:txBody>
          <a:bodyPr/>
          <a:lstStyle/>
          <a:p>
            <a:endParaRPr lang="en-US"/>
          </a:p>
        </p:txBody>
      </p:sp>
      <p:sp>
        <p:nvSpPr>
          <p:cNvPr id="15" name="Oval 14">
            <a:extLst>
              <a:ext uri="{FF2B5EF4-FFF2-40B4-BE49-F238E27FC236}">
                <a16:creationId xmlns:a16="http://schemas.microsoft.com/office/drawing/2014/main" id="{41EF0FA0-F6C0-45CC-9229-CE47C1A6E55B}"/>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16" name="Rectangle 15">
            <a:extLst>
              <a:ext uri="{FF2B5EF4-FFF2-40B4-BE49-F238E27FC236}">
                <a16:creationId xmlns:a16="http://schemas.microsoft.com/office/drawing/2014/main" id="{9B337B85-E873-4A0F-B928-F762CBB0DE77}"/>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Georgia"/>
                <a:ea typeface="Georgia"/>
                <a:cs typeface="Georgia"/>
              </a:defRPr>
            </a:pPr>
            <a:r>
              <a:rPr sz="2250" b="1">
                <a:solidFill>
                  <a:srgbClr val="FFFFFF"/>
                </a:solidFill>
                <a:latin typeface="Georgia"/>
                <a:ea typeface="Georgia"/>
                <a:cs typeface="Georgia"/>
              </a:rPr>
              <a:t>6</a:t>
            </a:r>
          </a:p>
        </p:txBody>
      </p:sp>
      <p:sp>
        <p:nvSpPr>
          <p:cNvPr id="17" name="Rectangle 16">
            <a:extLst>
              <a:ext uri="{FF2B5EF4-FFF2-40B4-BE49-F238E27FC236}">
                <a16:creationId xmlns:a16="http://schemas.microsoft.com/office/drawing/2014/main" id="{E4F4776C-72BF-49BB-9C2A-0CD363CF891E}"/>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dirty="0">
                <a:solidFill>
                  <a:srgbClr val="1F2937"/>
                </a:solidFill>
                <a:latin typeface="Georgia"/>
                <a:ea typeface="Georgia"/>
                <a:cs typeface="Georgia"/>
              </a:rPr>
              <a:t>Results: </a:t>
            </a:r>
            <a:r>
              <a:rPr lang="en-US" sz="2850" b="1" dirty="0">
                <a:solidFill>
                  <a:srgbClr val="1F2937"/>
                </a:solidFill>
                <a:latin typeface="Georgia"/>
                <a:ea typeface="Georgia"/>
                <a:cs typeface="Georgia"/>
              </a:rPr>
              <a:t>plans are well aligned</a:t>
            </a:r>
            <a:endParaRPr sz="2850" b="1" dirty="0">
              <a:solidFill>
                <a:srgbClr val="1F2937"/>
              </a:solidFill>
              <a:latin typeface="Georgia"/>
              <a:ea typeface="Georgia"/>
              <a:cs typeface="Georgia"/>
            </a:endParaRPr>
          </a:p>
        </p:txBody>
      </p:sp>
      <p:sp>
        <p:nvSpPr>
          <p:cNvPr id="18" name="Rectangle 17">
            <a:extLst>
              <a:ext uri="{FF2B5EF4-FFF2-40B4-BE49-F238E27FC236}">
                <a16:creationId xmlns:a16="http://schemas.microsoft.com/office/drawing/2014/main" id="{7456192B-2B8D-4320-9BF0-83D9154DDC57}"/>
              </a:ext>
            </a:extLst>
          </p:cNvPr>
          <p:cNvSpPr>
            <a:spLocks noGrp="1"/>
          </p:cNvSpPr>
          <p:nvPr/>
        </p:nvSpPr>
        <p:spPr>
          <a:xfrm>
            <a:off x="542925" y="1295400"/>
            <a:ext cx="8953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Final eval set — generated tasks rated against each scenario card's desired interactions.</a:t>
            </a:r>
          </a:p>
        </p:txBody>
      </p:sp>
      <p:pic>
        <p:nvPicPr>
          <p:cNvPr id="19" name="Picture 18"/>
          <p:cNvPicPr>
            <a:picLocks noChangeAspect="1"/>
          </p:cNvPicPr>
          <p:nvPr/>
        </p:nvPicPr>
        <p:blipFill>
          <a:blip r:embed="rId4"/>
          <a:stretch/>
        </p:blipFill>
        <p:spPr>
          <a:xfrm>
            <a:off x="242176" y="2085420"/>
            <a:ext cx="8022949" cy="3765874"/>
          </a:xfrm>
          <a:prstGeom prst="rect">
            <a:avLst/>
          </a:prstGeom>
        </p:spPr>
      </p:pic>
      <p:sp>
        <p:nvSpPr>
          <p:cNvPr id="20" name="Rectangle 19">
            <a:extLst>
              <a:ext uri="{FF2B5EF4-FFF2-40B4-BE49-F238E27FC236}">
                <a16:creationId xmlns:a16="http://schemas.microsoft.com/office/drawing/2014/main" id="{96EEB776-D755-44E1-A70D-6CC953F59532}"/>
              </a:ext>
            </a:extLst>
          </p:cNvPr>
          <p:cNvSpPr>
            <a:spLocks noGrp="1"/>
          </p:cNvSpPr>
          <p:nvPr/>
        </p:nvSpPr>
        <p:spPr>
          <a:xfrm>
            <a:off x="8239125" y="1752600"/>
            <a:ext cx="3143250" cy="1047750"/>
          </a:xfrm>
          <a:prstGeom prst="rect">
            <a:avLst/>
          </a:prstGeom>
          <a:solidFill>
            <a:srgbClr val="EEF4F9"/>
          </a:solidFill>
          <a:ln w="9525">
            <a:solidFill>
              <a:srgbClr val="D6DEE8"/>
            </a:solidFill>
            <a:prstDash val="solid"/>
          </a:ln>
        </p:spPr>
        <p:txBody>
          <a:bodyPr/>
          <a:lstStyle/>
          <a:p>
            <a:endParaRPr lang="en-US"/>
          </a:p>
        </p:txBody>
      </p:sp>
      <p:sp>
        <p:nvSpPr>
          <p:cNvPr id="21" name="Rectangle 20">
            <a:extLst>
              <a:ext uri="{FF2B5EF4-FFF2-40B4-BE49-F238E27FC236}">
                <a16:creationId xmlns:a16="http://schemas.microsoft.com/office/drawing/2014/main" id="{9CA17364-C8EF-4FEB-88B4-7C9B75432234}"/>
              </a:ext>
            </a:extLst>
          </p:cNvPr>
          <p:cNvSpPr>
            <a:spLocks noGrp="1"/>
          </p:cNvSpPr>
          <p:nvPr/>
        </p:nvSpPr>
        <p:spPr>
          <a:xfrm>
            <a:off x="8467725" y="1981200"/>
            <a:ext cx="26860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0E7490"/>
                </a:solidFill>
                <a:latin typeface="Aptos"/>
                <a:ea typeface="Aptos"/>
                <a:cs typeface="Aptos"/>
              </a:defRPr>
            </a:pPr>
            <a:r>
              <a:rPr sz="1500" b="1">
                <a:solidFill>
                  <a:srgbClr val="0E7490"/>
                </a:solidFill>
                <a:latin typeface="Aptos"/>
                <a:ea typeface="Aptos"/>
                <a:cs typeface="Aptos"/>
              </a:rPr>
              <a:t>Evaluation point 1</a:t>
            </a:r>
          </a:p>
        </p:txBody>
      </p:sp>
      <p:sp>
        <p:nvSpPr>
          <p:cNvPr id="22" name="Rectangle 21">
            <a:extLst>
              <a:ext uri="{FF2B5EF4-FFF2-40B4-BE49-F238E27FC236}">
                <a16:creationId xmlns:a16="http://schemas.microsoft.com/office/drawing/2014/main" id="{A3FBBBDA-97A1-43E0-9E39-B47971B5D293}"/>
              </a:ext>
            </a:extLst>
          </p:cNvPr>
          <p:cNvSpPr>
            <a:spLocks noGrp="1"/>
          </p:cNvSpPr>
          <p:nvPr/>
        </p:nvSpPr>
        <p:spPr>
          <a:xfrm>
            <a:off x="8467725" y="2343150"/>
            <a:ext cx="26860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374151"/>
                </a:solidFill>
                <a:latin typeface="Aptos"/>
                <a:ea typeface="Aptos"/>
                <a:cs typeface="Aptos"/>
              </a:defRPr>
            </a:pPr>
            <a:r>
              <a:rPr sz="1275" b="0">
                <a:solidFill>
                  <a:srgbClr val="374151"/>
                </a:solidFill>
                <a:latin typeface="Aptos"/>
                <a:ea typeface="Aptos"/>
                <a:cs typeface="Aptos"/>
              </a:rPr>
              <a:t>Does the scenario card translate into the right objects and interaction primitives?</a:t>
            </a:r>
          </a:p>
        </p:txBody>
      </p:sp>
      <p:sp>
        <p:nvSpPr>
          <p:cNvPr id="23" name="Rectangle 22">
            <a:extLst>
              <a:ext uri="{FF2B5EF4-FFF2-40B4-BE49-F238E27FC236}">
                <a16:creationId xmlns:a16="http://schemas.microsoft.com/office/drawing/2014/main" id="{B53567B3-6A21-41C6-A62C-1401D2D1435F}"/>
              </a:ext>
            </a:extLst>
          </p:cNvPr>
          <p:cNvSpPr>
            <a:spLocks noGrp="1"/>
          </p:cNvSpPr>
          <p:nvPr/>
        </p:nvSpPr>
        <p:spPr>
          <a:xfrm>
            <a:off x="8334375" y="3067050"/>
            <a:ext cx="1381125"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2F6B33"/>
                </a:solidFill>
                <a:latin typeface="Aptos"/>
                <a:ea typeface="Aptos"/>
                <a:cs typeface="Aptos"/>
              </a:defRPr>
            </a:pPr>
            <a:r>
              <a:rPr sz="2550" b="1">
                <a:solidFill>
                  <a:srgbClr val="2F6B33"/>
                </a:solidFill>
                <a:latin typeface="Aptos"/>
                <a:ea typeface="Aptos"/>
                <a:cs typeface="Aptos"/>
              </a:rPr>
              <a:t>36/43</a:t>
            </a:r>
          </a:p>
        </p:txBody>
      </p:sp>
      <p:sp>
        <p:nvSpPr>
          <p:cNvPr id="24" name="Rectangle 23">
            <a:extLst>
              <a:ext uri="{FF2B5EF4-FFF2-40B4-BE49-F238E27FC236}">
                <a16:creationId xmlns:a16="http://schemas.microsoft.com/office/drawing/2014/main" id="{9EE39FED-B3D4-4A6C-BFDD-A28B1C7AB687}"/>
              </a:ext>
            </a:extLst>
          </p:cNvPr>
          <p:cNvSpPr>
            <a:spLocks noGrp="1"/>
          </p:cNvSpPr>
          <p:nvPr/>
        </p:nvSpPr>
        <p:spPr>
          <a:xfrm>
            <a:off x="8334375" y="3467100"/>
            <a:ext cx="17621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88" b="0">
                <a:solidFill>
                  <a:srgbClr val="667085"/>
                </a:solidFill>
                <a:latin typeface="Aptos"/>
                <a:ea typeface="Aptos"/>
                <a:cs typeface="Aptos"/>
              </a:defRPr>
            </a:pPr>
            <a:r>
              <a:rPr sz="1088" b="0">
                <a:solidFill>
                  <a:srgbClr val="667085"/>
                </a:solidFill>
                <a:latin typeface="Aptos"/>
                <a:ea typeface="Aptos"/>
                <a:cs typeface="Aptos"/>
              </a:rPr>
              <a:t>generated tasks rated faithful</a:t>
            </a:r>
          </a:p>
        </p:txBody>
      </p:sp>
      <p:sp>
        <p:nvSpPr>
          <p:cNvPr id="25" name="Rectangle 24">
            <a:extLst>
              <a:ext uri="{FF2B5EF4-FFF2-40B4-BE49-F238E27FC236}">
                <a16:creationId xmlns:a16="http://schemas.microsoft.com/office/drawing/2014/main" id="{EB692718-07FD-4238-A6D4-2B5FD682C9F7}"/>
              </a:ext>
            </a:extLst>
          </p:cNvPr>
          <p:cNvSpPr>
            <a:spLocks noGrp="1"/>
          </p:cNvSpPr>
          <p:nvPr/>
        </p:nvSpPr>
        <p:spPr>
          <a:xfrm>
            <a:off x="9906000" y="3067050"/>
            <a:ext cx="1381125"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075F80"/>
                </a:solidFill>
                <a:latin typeface="Aptos"/>
                <a:ea typeface="Aptos"/>
                <a:cs typeface="Aptos"/>
              </a:defRPr>
            </a:pPr>
            <a:r>
              <a:rPr sz="2550" b="1">
                <a:solidFill>
                  <a:srgbClr val="075F80"/>
                </a:solidFill>
                <a:latin typeface="Aptos"/>
                <a:ea typeface="Aptos"/>
                <a:cs typeface="Aptos"/>
              </a:rPr>
              <a:t>40/43</a:t>
            </a:r>
          </a:p>
        </p:txBody>
      </p:sp>
      <p:sp>
        <p:nvSpPr>
          <p:cNvPr id="26" name="Rectangle 25">
            <a:extLst>
              <a:ext uri="{FF2B5EF4-FFF2-40B4-BE49-F238E27FC236}">
                <a16:creationId xmlns:a16="http://schemas.microsoft.com/office/drawing/2014/main" id="{ED3A53C5-6D39-4F90-9643-37783AC8CEEF}"/>
              </a:ext>
            </a:extLst>
          </p:cNvPr>
          <p:cNvSpPr>
            <a:spLocks noGrp="1"/>
          </p:cNvSpPr>
          <p:nvPr/>
        </p:nvSpPr>
        <p:spPr>
          <a:xfrm>
            <a:off x="9906000" y="3467100"/>
            <a:ext cx="17621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88" b="0">
                <a:solidFill>
                  <a:srgbClr val="667085"/>
                </a:solidFill>
                <a:latin typeface="Aptos"/>
                <a:ea typeface="Aptos"/>
                <a:cs typeface="Aptos"/>
              </a:defRPr>
            </a:pPr>
            <a:r>
              <a:rPr sz="1088" b="0">
                <a:solidFill>
                  <a:srgbClr val="667085"/>
                </a:solidFill>
                <a:latin typeface="Aptos"/>
                <a:ea typeface="Aptos"/>
                <a:cs typeface="Aptos"/>
              </a:rPr>
              <a:t>faithful or acceptable compromise</a:t>
            </a:r>
          </a:p>
        </p:txBody>
      </p:sp>
      <p:sp>
        <p:nvSpPr>
          <p:cNvPr id="27" name="Rectangle 26">
            <a:extLst>
              <a:ext uri="{FF2B5EF4-FFF2-40B4-BE49-F238E27FC236}">
                <a16:creationId xmlns:a16="http://schemas.microsoft.com/office/drawing/2014/main" id="{808592FA-8B66-4B25-9640-9148BDA17DBF}"/>
              </a:ext>
            </a:extLst>
          </p:cNvPr>
          <p:cNvSpPr>
            <a:spLocks noGrp="1"/>
          </p:cNvSpPr>
          <p:nvPr/>
        </p:nvSpPr>
        <p:spPr>
          <a:xfrm>
            <a:off x="8334375" y="4095750"/>
            <a:ext cx="1381125"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C96B19"/>
                </a:solidFill>
                <a:latin typeface="Aptos"/>
                <a:ea typeface="Aptos"/>
                <a:cs typeface="Aptos"/>
              </a:defRPr>
            </a:pPr>
            <a:r>
              <a:rPr sz="2550" b="1">
                <a:solidFill>
                  <a:srgbClr val="C96B19"/>
                </a:solidFill>
                <a:latin typeface="Aptos"/>
                <a:ea typeface="Aptos"/>
                <a:cs typeface="Aptos"/>
              </a:rPr>
              <a:t>3</a:t>
            </a:r>
          </a:p>
        </p:txBody>
      </p:sp>
      <p:sp>
        <p:nvSpPr>
          <p:cNvPr id="28" name="Rectangle 27">
            <a:extLst>
              <a:ext uri="{FF2B5EF4-FFF2-40B4-BE49-F238E27FC236}">
                <a16:creationId xmlns:a16="http://schemas.microsoft.com/office/drawing/2014/main" id="{707A97CD-C34F-4841-AB86-C42FAB5284A9}"/>
              </a:ext>
            </a:extLst>
          </p:cNvPr>
          <p:cNvSpPr>
            <a:spLocks noGrp="1"/>
          </p:cNvSpPr>
          <p:nvPr/>
        </p:nvSpPr>
        <p:spPr>
          <a:xfrm>
            <a:off x="8334375" y="4495800"/>
            <a:ext cx="176212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88" b="0">
                <a:solidFill>
                  <a:srgbClr val="667085"/>
                </a:solidFill>
                <a:latin typeface="Aptos"/>
                <a:ea typeface="Aptos"/>
                <a:cs typeface="Aptos"/>
              </a:defRPr>
            </a:pPr>
            <a:r>
              <a:rPr sz="1088" b="0">
                <a:solidFill>
                  <a:srgbClr val="667085"/>
                </a:solidFill>
                <a:latin typeface="Aptos"/>
                <a:ea typeface="Aptos"/>
                <a:cs typeface="Aptos"/>
              </a:rPr>
              <a:t>invalid primitive mappings to explain in the failure analysis</a:t>
            </a:r>
          </a:p>
        </p:txBody>
      </p:sp>
      <p:sp>
        <p:nvSpPr>
          <p:cNvPr id="32" name="Rectangle 31">
            <a:extLst>
              <a:ext uri="{FF2B5EF4-FFF2-40B4-BE49-F238E27FC236}">
                <a16:creationId xmlns:a16="http://schemas.microsoft.com/office/drawing/2014/main" id="{8BE394A9-C797-4652-BB95-46EB2AD45E0E}"/>
              </a:ext>
            </a:extLst>
          </p:cNvPr>
          <p:cNvSpPr>
            <a:spLocks noGrp="1"/>
          </p:cNvSpPr>
          <p:nvPr/>
        </p:nvSpPr>
        <p:spPr>
          <a:xfrm>
            <a:off x="8096250" y="905741"/>
            <a:ext cx="3524250" cy="4686300"/>
          </a:xfrm>
          <a:prstGeom prst="rect">
            <a:avLst/>
          </a:prstGeom>
          <a:solidFill>
            <a:srgbClr val="FFFFFF"/>
          </a:solidFill>
          <a:ln w="0">
            <a:solidFill>
              <a:srgbClr val="FFFFFF"/>
            </a:solidFill>
            <a:prstDash val="solid"/>
          </a:ln>
        </p:spPr>
        <p:txBody>
          <a:bodyPr/>
          <a:lstStyle/>
          <a:p>
            <a:endParaRPr lang="en-US"/>
          </a:p>
        </p:txBody>
      </p:sp>
      <p:sp>
        <p:nvSpPr>
          <p:cNvPr id="36" name="Rectangle 35">
            <a:extLst>
              <a:ext uri="{FF2B5EF4-FFF2-40B4-BE49-F238E27FC236}">
                <a16:creationId xmlns:a16="http://schemas.microsoft.com/office/drawing/2014/main" id="{1A7BB834-9B30-46B7-A850-8B5F8671A701}"/>
              </a:ext>
            </a:extLst>
          </p:cNvPr>
          <p:cNvSpPr>
            <a:spLocks noGrp="1"/>
          </p:cNvSpPr>
          <p:nvPr/>
        </p:nvSpPr>
        <p:spPr>
          <a:xfrm>
            <a:off x="8334375" y="2149532"/>
            <a:ext cx="300037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F2937"/>
                </a:solidFill>
                <a:latin typeface="Aptos"/>
                <a:ea typeface="Aptos"/>
                <a:cs typeface="Aptos"/>
              </a:defRPr>
            </a:pPr>
            <a:r>
              <a:rPr sz="1275" b="1">
                <a:solidFill>
                  <a:srgbClr val="1F2937"/>
                </a:solidFill>
                <a:latin typeface="Aptos"/>
                <a:ea typeface="Aptos"/>
                <a:cs typeface="Aptos"/>
              </a:rPr>
              <a:t>Generated object ratings</a:t>
            </a:r>
          </a:p>
        </p:txBody>
      </p:sp>
      <p:sp>
        <p:nvSpPr>
          <p:cNvPr id="37" name="Rectangle 36">
            <a:extLst>
              <a:ext uri="{FF2B5EF4-FFF2-40B4-BE49-F238E27FC236}">
                <a16:creationId xmlns:a16="http://schemas.microsoft.com/office/drawing/2014/main" id="{D7EE9D8B-B040-42CA-9D7D-8BB0F8DD57B2}"/>
              </a:ext>
            </a:extLst>
          </p:cNvPr>
          <p:cNvSpPr>
            <a:spLocks noGrp="1"/>
          </p:cNvSpPr>
          <p:nvPr/>
        </p:nvSpPr>
        <p:spPr>
          <a:xfrm>
            <a:off x="8334375" y="2492432"/>
            <a:ext cx="2609850" cy="323850"/>
          </a:xfrm>
          <a:prstGeom prst="rect">
            <a:avLst/>
          </a:prstGeom>
          <a:solidFill>
            <a:srgbClr val="2F6B33"/>
          </a:solidFill>
          <a:ln w="0">
            <a:solidFill>
              <a:srgbClr val="2F6B33"/>
            </a:solidFill>
            <a:prstDash val="solid"/>
          </a:ln>
        </p:spPr>
        <p:txBody>
          <a:bodyPr/>
          <a:lstStyle/>
          <a:p>
            <a:endParaRPr lang="en-US"/>
          </a:p>
        </p:txBody>
      </p:sp>
      <p:sp>
        <p:nvSpPr>
          <p:cNvPr id="38" name="Rectangle 37">
            <a:extLst>
              <a:ext uri="{FF2B5EF4-FFF2-40B4-BE49-F238E27FC236}">
                <a16:creationId xmlns:a16="http://schemas.microsoft.com/office/drawing/2014/main" id="{6965328F-85B9-46E2-99E9-E43A9E77570F}"/>
              </a:ext>
            </a:extLst>
          </p:cNvPr>
          <p:cNvSpPr>
            <a:spLocks noGrp="1"/>
          </p:cNvSpPr>
          <p:nvPr/>
        </p:nvSpPr>
        <p:spPr>
          <a:xfrm>
            <a:off x="10944225" y="2492432"/>
            <a:ext cx="390525" cy="323850"/>
          </a:xfrm>
          <a:prstGeom prst="rect">
            <a:avLst/>
          </a:prstGeom>
          <a:solidFill>
            <a:srgbClr val="1F7A99"/>
          </a:solidFill>
          <a:ln w="0">
            <a:solidFill>
              <a:srgbClr val="1F7A99"/>
            </a:solidFill>
            <a:prstDash val="solid"/>
          </a:ln>
        </p:spPr>
        <p:txBody>
          <a:bodyPr/>
          <a:lstStyle/>
          <a:p>
            <a:endParaRPr lang="en-US"/>
          </a:p>
        </p:txBody>
      </p:sp>
      <p:sp>
        <p:nvSpPr>
          <p:cNvPr id="39" name="Rectangle 38">
            <a:extLst>
              <a:ext uri="{FF2B5EF4-FFF2-40B4-BE49-F238E27FC236}">
                <a16:creationId xmlns:a16="http://schemas.microsoft.com/office/drawing/2014/main" id="{5D3580AA-C2DB-4103-B221-B6ECE29606E8}"/>
              </a:ext>
            </a:extLst>
          </p:cNvPr>
          <p:cNvSpPr>
            <a:spLocks noGrp="1"/>
          </p:cNvSpPr>
          <p:nvPr/>
        </p:nvSpPr>
        <p:spPr>
          <a:xfrm>
            <a:off x="8458200" y="2578157"/>
            <a:ext cx="1352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FFFFFF"/>
                </a:solidFill>
                <a:latin typeface="Aptos"/>
                <a:ea typeface="Aptos"/>
                <a:cs typeface="Aptos"/>
              </a:defRPr>
            </a:pPr>
            <a:r>
              <a:rPr sz="975" b="1">
                <a:solidFill>
                  <a:srgbClr val="FFFFFF"/>
                </a:solidFill>
                <a:latin typeface="Aptos"/>
                <a:ea typeface="Aptos"/>
                <a:cs typeface="Aptos"/>
              </a:rPr>
              <a:t>42 expected</a:t>
            </a:r>
          </a:p>
        </p:txBody>
      </p:sp>
      <p:sp>
        <p:nvSpPr>
          <p:cNvPr id="40" name="Rectangle 39">
            <a:extLst>
              <a:ext uri="{FF2B5EF4-FFF2-40B4-BE49-F238E27FC236}">
                <a16:creationId xmlns:a16="http://schemas.microsoft.com/office/drawing/2014/main" id="{F06D253B-6B0B-4841-8BB2-B2210AF48BC7}"/>
              </a:ext>
            </a:extLst>
          </p:cNvPr>
          <p:cNvSpPr>
            <a:spLocks noGrp="1"/>
          </p:cNvSpPr>
          <p:nvPr/>
        </p:nvSpPr>
        <p:spPr>
          <a:xfrm>
            <a:off x="10944225" y="2578157"/>
            <a:ext cx="39052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Aptos"/>
                <a:ea typeface="Aptos"/>
                <a:cs typeface="Aptos"/>
              </a:defRPr>
            </a:pPr>
            <a:r>
              <a:rPr sz="975" b="1">
                <a:solidFill>
                  <a:srgbClr val="FFFFFF"/>
                </a:solidFill>
                <a:latin typeface="Aptos"/>
                <a:ea typeface="Aptos"/>
                <a:cs typeface="Aptos"/>
              </a:rPr>
              <a:t>4</a:t>
            </a:r>
          </a:p>
        </p:txBody>
      </p:sp>
      <p:sp>
        <p:nvSpPr>
          <p:cNvPr id="41" name="Rectangle 40">
            <a:extLst>
              <a:ext uri="{FF2B5EF4-FFF2-40B4-BE49-F238E27FC236}">
                <a16:creationId xmlns:a16="http://schemas.microsoft.com/office/drawing/2014/main" id="{9AE2D1B0-C06F-4001-9DFA-4F05B1663609}"/>
              </a:ext>
            </a:extLst>
          </p:cNvPr>
          <p:cNvSpPr>
            <a:spLocks noGrp="1"/>
          </p:cNvSpPr>
          <p:nvPr/>
        </p:nvSpPr>
        <p:spPr>
          <a:xfrm>
            <a:off x="8334375" y="2930582"/>
            <a:ext cx="933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2F6B33"/>
                </a:solidFill>
                <a:latin typeface="Aptos"/>
                <a:ea typeface="Aptos"/>
                <a:cs typeface="Aptos"/>
              </a:defRPr>
            </a:pPr>
            <a:r>
              <a:rPr sz="825" b="1">
                <a:solidFill>
                  <a:srgbClr val="2F6B33"/>
                </a:solidFill>
                <a:latin typeface="Aptos"/>
                <a:ea typeface="Aptos"/>
                <a:cs typeface="Aptos"/>
              </a:rPr>
              <a:t>expected</a:t>
            </a:r>
          </a:p>
        </p:txBody>
      </p:sp>
      <p:sp>
        <p:nvSpPr>
          <p:cNvPr id="42" name="Rectangle 41">
            <a:extLst>
              <a:ext uri="{FF2B5EF4-FFF2-40B4-BE49-F238E27FC236}">
                <a16:creationId xmlns:a16="http://schemas.microsoft.com/office/drawing/2014/main" id="{68FB18BD-6CB7-45D4-88CC-6B5D70D56EA3}"/>
              </a:ext>
            </a:extLst>
          </p:cNvPr>
          <p:cNvSpPr>
            <a:spLocks noGrp="1"/>
          </p:cNvSpPr>
          <p:nvPr/>
        </p:nvSpPr>
        <p:spPr>
          <a:xfrm>
            <a:off x="9239250" y="2930582"/>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1F7A99"/>
                </a:solidFill>
                <a:latin typeface="Aptos"/>
                <a:ea typeface="Aptos"/>
                <a:cs typeface="Aptos"/>
              </a:defRPr>
            </a:pPr>
            <a:r>
              <a:rPr sz="825" b="1">
                <a:solidFill>
                  <a:srgbClr val="1F7A99"/>
                </a:solidFill>
                <a:latin typeface="Aptos"/>
                <a:ea typeface="Aptos"/>
                <a:cs typeface="Aptos"/>
              </a:rPr>
              <a:t>acceptable</a:t>
            </a:r>
          </a:p>
        </p:txBody>
      </p:sp>
      <p:sp>
        <p:nvSpPr>
          <p:cNvPr id="43" name="Rectangle 42">
            <a:extLst>
              <a:ext uri="{FF2B5EF4-FFF2-40B4-BE49-F238E27FC236}">
                <a16:creationId xmlns:a16="http://schemas.microsoft.com/office/drawing/2014/main" id="{3027024B-A8AF-4849-9751-6DAE167B4115}"/>
              </a:ext>
            </a:extLst>
          </p:cNvPr>
          <p:cNvSpPr>
            <a:spLocks noGrp="1"/>
          </p:cNvSpPr>
          <p:nvPr/>
        </p:nvSpPr>
        <p:spPr>
          <a:xfrm>
            <a:off x="10287000" y="2930582"/>
            <a:ext cx="1047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667085"/>
                </a:solidFill>
                <a:latin typeface="Aptos"/>
                <a:ea typeface="Aptos"/>
                <a:cs typeface="Aptos"/>
              </a:defRPr>
            </a:pPr>
            <a:r>
              <a:rPr sz="825" b="1">
                <a:solidFill>
                  <a:srgbClr val="667085"/>
                </a:solidFill>
                <a:latin typeface="Aptos"/>
                <a:ea typeface="Aptos"/>
                <a:cs typeface="Aptos"/>
              </a:rPr>
              <a:t>0 hallucinated</a:t>
            </a:r>
          </a:p>
        </p:txBody>
      </p:sp>
      <p:sp>
        <p:nvSpPr>
          <p:cNvPr id="44" name="Rectangle 43">
            <a:extLst>
              <a:ext uri="{FF2B5EF4-FFF2-40B4-BE49-F238E27FC236}">
                <a16:creationId xmlns:a16="http://schemas.microsoft.com/office/drawing/2014/main" id="{CBDF0F65-7A48-4CD2-B138-3F812E9D56CB}"/>
              </a:ext>
            </a:extLst>
          </p:cNvPr>
          <p:cNvSpPr>
            <a:spLocks noGrp="1"/>
          </p:cNvSpPr>
          <p:nvPr/>
        </p:nvSpPr>
        <p:spPr>
          <a:xfrm>
            <a:off x="8334375" y="3368732"/>
            <a:ext cx="3000375"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1F2937"/>
                </a:solidFill>
                <a:latin typeface="Aptos"/>
                <a:ea typeface="Aptos"/>
                <a:cs typeface="Aptos"/>
              </a:defRPr>
            </a:pPr>
            <a:r>
              <a:rPr sz="1275" b="1">
                <a:solidFill>
                  <a:srgbClr val="1F2937"/>
                </a:solidFill>
                <a:latin typeface="Aptos"/>
                <a:ea typeface="Aptos"/>
                <a:cs typeface="Aptos"/>
              </a:rPr>
              <a:t>Validation gate</a:t>
            </a:r>
          </a:p>
        </p:txBody>
      </p:sp>
      <p:sp>
        <p:nvSpPr>
          <p:cNvPr id="45" name="Rectangle 44">
            <a:extLst>
              <a:ext uri="{FF2B5EF4-FFF2-40B4-BE49-F238E27FC236}">
                <a16:creationId xmlns:a16="http://schemas.microsoft.com/office/drawing/2014/main" id="{D8B2FB19-9A51-4A58-847F-D9C4103B334C}"/>
              </a:ext>
            </a:extLst>
          </p:cNvPr>
          <p:cNvSpPr>
            <a:spLocks noGrp="1"/>
          </p:cNvSpPr>
          <p:nvPr/>
        </p:nvSpPr>
        <p:spPr>
          <a:xfrm>
            <a:off x="8334375" y="3692582"/>
            <a:ext cx="838200" cy="552450"/>
          </a:xfrm>
          <a:prstGeom prst="rect">
            <a:avLst/>
          </a:prstGeom>
          <a:solidFill>
            <a:srgbClr val="2F6B33"/>
          </a:solidFill>
          <a:ln w="0">
            <a:solidFill>
              <a:srgbClr val="2F6B33"/>
            </a:solidFill>
            <a:prstDash val="solid"/>
          </a:ln>
        </p:spPr>
        <p:txBody>
          <a:bodyPr/>
          <a:lstStyle/>
          <a:p>
            <a:endParaRPr lang="en-US"/>
          </a:p>
        </p:txBody>
      </p:sp>
      <p:sp>
        <p:nvSpPr>
          <p:cNvPr id="46" name="Rectangle 45">
            <a:extLst>
              <a:ext uri="{FF2B5EF4-FFF2-40B4-BE49-F238E27FC236}">
                <a16:creationId xmlns:a16="http://schemas.microsoft.com/office/drawing/2014/main" id="{2D719143-FCD6-43AA-8BDA-8BEF6B127C74}"/>
              </a:ext>
            </a:extLst>
          </p:cNvPr>
          <p:cNvSpPr>
            <a:spLocks noGrp="1"/>
          </p:cNvSpPr>
          <p:nvPr/>
        </p:nvSpPr>
        <p:spPr>
          <a:xfrm>
            <a:off x="8334375" y="3768782"/>
            <a:ext cx="8382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a:ea typeface="Aptos"/>
                <a:cs typeface="Aptos"/>
              </a:defRPr>
            </a:pPr>
            <a:r>
              <a:rPr sz="2100" b="1">
                <a:solidFill>
                  <a:srgbClr val="FFFFFF"/>
                </a:solidFill>
                <a:latin typeface="Aptos"/>
                <a:ea typeface="Aptos"/>
                <a:cs typeface="Aptos"/>
              </a:rPr>
              <a:t>9/9</a:t>
            </a:r>
          </a:p>
        </p:txBody>
      </p:sp>
      <p:sp>
        <p:nvSpPr>
          <p:cNvPr id="47" name="Rectangle 46">
            <a:extLst>
              <a:ext uri="{FF2B5EF4-FFF2-40B4-BE49-F238E27FC236}">
                <a16:creationId xmlns:a16="http://schemas.microsoft.com/office/drawing/2014/main" id="{63B3ED4A-AE41-4E46-9F02-EFC0D74448B5}"/>
              </a:ext>
            </a:extLst>
          </p:cNvPr>
          <p:cNvSpPr>
            <a:spLocks noGrp="1"/>
          </p:cNvSpPr>
          <p:nvPr/>
        </p:nvSpPr>
        <p:spPr>
          <a:xfrm>
            <a:off x="9334500" y="3711632"/>
            <a:ext cx="1952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374151"/>
                </a:solidFill>
                <a:latin typeface="Aptos"/>
                <a:ea typeface="Aptos"/>
                <a:cs typeface="Aptos"/>
              </a:defRPr>
            </a:pPr>
            <a:r>
              <a:rPr sz="1065" b="0">
                <a:solidFill>
                  <a:srgbClr val="374151"/>
                </a:solidFill>
                <a:latin typeface="Aptos"/>
                <a:ea typeface="Aptos"/>
                <a:cs typeface="Aptos"/>
              </a:rPr>
              <a:t>exported scenarios produced validated typed plans</a:t>
            </a:r>
          </a:p>
        </p:txBody>
      </p:sp>
      <p:sp>
        <p:nvSpPr>
          <p:cNvPr id="48" name="Rectangle 47">
            <a:extLst>
              <a:ext uri="{FF2B5EF4-FFF2-40B4-BE49-F238E27FC236}">
                <a16:creationId xmlns:a16="http://schemas.microsoft.com/office/drawing/2014/main" id="{F1350040-F5EC-4A64-B499-114E53CF115A}"/>
              </a:ext>
            </a:extLst>
          </p:cNvPr>
          <p:cNvSpPr>
            <a:spLocks noGrp="1"/>
          </p:cNvSpPr>
          <p:nvPr/>
        </p:nvSpPr>
        <p:spPr>
          <a:xfrm>
            <a:off x="9334500" y="4054532"/>
            <a:ext cx="19526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67085"/>
                </a:solidFill>
                <a:latin typeface="Aptos"/>
                <a:ea typeface="Aptos"/>
                <a:cs typeface="Aptos"/>
              </a:defRPr>
            </a:pPr>
            <a:r>
              <a:rPr sz="938" b="0">
                <a:solidFill>
                  <a:srgbClr val="667085"/>
                </a:solidFill>
                <a:latin typeface="Aptos"/>
                <a:ea typeface="Aptos"/>
                <a:cs typeface="Aptos"/>
              </a:rPr>
              <a:t>Validation is structural, not semantic.</a:t>
            </a:r>
          </a:p>
        </p:txBody>
      </p:sp>
      <p:sp>
        <p:nvSpPr>
          <p:cNvPr id="49" name="Rectangle 48">
            <a:extLst>
              <a:ext uri="{FF2B5EF4-FFF2-40B4-BE49-F238E27FC236}">
                <a16:creationId xmlns:a16="http://schemas.microsoft.com/office/drawing/2014/main" id="{7F32BBD1-191B-450A-BAE6-22142A1CBB68}"/>
              </a:ext>
            </a:extLst>
          </p:cNvPr>
          <p:cNvSpPr>
            <a:spLocks noGrp="1"/>
          </p:cNvSpPr>
          <p:nvPr/>
        </p:nvSpPr>
        <p:spPr>
          <a:xfrm>
            <a:off x="8334375" y="4587932"/>
            <a:ext cx="3000375" cy="1200150"/>
          </a:xfrm>
          <a:prstGeom prst="rect">
            <a:avLst/>
          </a:prstGeom>
          <a:solidFill>
            <a:srgbClr val="F7FAFC"/>
          </a:solidFill>
          <a:ln w="9525">
            <a:solidFill>
              <a:srgbClr val="D6DEE8"/>
            </a:solidFill>
            <a:prstDash val="solid"/>
          </a:ln>
        </p:spPr>
        <p:txBody>
          <a:bodyPr/>
          <a:lstStyle/>
          <a:p>
            <a:endParaRPr lang="en-US"/>
          </a:p>
        </p:txBody>
      </p:sp>
      <p:sp>
        <p:nvSpPr>
          <p:cNvPr id="50" name="Rectangle 49">
            <a:extLst>
              <a:ext uri="{FF2B5EF4-FFF2-40B4-BE49-F238E27FC236}">
                <a16:creationId xmlns:a16="http://schemas.microsoft.com/office/drawing/2014/main" id="{04F3C83B-E6D0-49C6-9E48-42A6DA6BD458}"/>
              </a:ext>
            </a:extLst>
          </p:cNvPr>
          <p:cNvSpPr>
            <a:spLocks noGrp="1"/>
          </p:cNvSpPr>
          <p:nvPr/>
        </p:nvSpPr>
        <p:spPr>
          <a:xfrm>
            <a:off x="8524875" y="4740332"/>
            <a:ext cx="781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F6B33"/>
                </a:solidFill>
                <a:latin typeface="Aptos"/>
                <a:ea typeface="Aptos"/>
                <a:cs typeface="Aptos"/>
              </a:defRPr>
            </a:pPr>
            <a:r>
              <a:rPr sz="1875" b="1">
                <a:solidFill>
                  <a:srgbClr val="2F6B33"/>
                </a:solidFill>
                <a:latin typeface="Aptos"/>
                <a:ea typeface="Aptos"/>
                <a:cs typeface="Aptos"/>
              </a:rPr>
              <a:t>36/43</a:t>
            </a:r>
          </a:p>
        </p:txBody>
      </p:sp>
      <p:sp>
        <p:nvSpPr>
          <p:cNvPr id="51" name="Rectangle 50">
            <a:extLst>
              <a:ext uri="{FF2B5EF4-FFF2-40B4-BE49-F238E27FC236}">
                <a16:creationId xmlns:a16="http://schemas.microsoft.com/office/drawing/2014/main" id="{199ACADB-B5B1-4D01-88DB-3BD944C26B8A}"/>
              </a:ext>
            </a:extLst>
          </p:cNvPr>
          <p:cNvSpPr>
            <a:spLocks noGrp="1"/>
          </p:cNvSpPr>
          <p:nvPr/>
        </p:nvSpPr>
        <p:spPr>
          <a:xfrm>
            <a:off x="9315450" y="4778432"/>
            <a:ext cx="17621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67085"/>
                </a:solidFill>
                <a:latin typeface="Aptos"/>
                <a:ea typeface="Aptos"/>
                <a:cs typeface="Aptos"/>
              </a:defRPr>
            </a:pPr>
            <a:r>
              <a:rPr sz="938" b="0">
                <a:solidFill>
                  <a:srgbClr val="667085"/>
                </a:solidFill>
                <a:latin typeface="Aptos"/>
                <a:ea typeface="Aptos"/>
                <a:cs typeface="Aptos"/>
              </a:rPr>
              <a:t>task mappings faithful</a:t>
            </a:r>
          </a:p>
        </p:txBody>
      </p:sp>
      <p:sp>
        <p:nvSpPr>
          <p:cNvPr id="52" name="Rectangle 51">
            <a:extLst>
              <a:ext uri="{FF2B5EF4-FFF2-40B4-BE49-F238E27FC236}">
                <a16:creationId xmlns:a16="http://schemas.microsoft.com/office/drawing/2014/main" id="{BE96AECD-E367-4FAD-9316-C19CBCA50801}"/>
              </a:ext>
            </a:extLst>
          </p:cNvPr>
          <p:cNvSpPr>
            <a:spLocks noGrp="1"/>
          </p:cNvSpPr>
          <p:nvPr/>
        </p:nvSpPr>
        <p:spPr>
          <a:xfrm>
            <a:off x="8524875" y="5064182"/>
            <a:ext cx="7810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75F80"/>
                </a:solidFill>
                <a:latin typeface="Aptos"/>
                <a:ea typeface="Aptos"/>
                <a:cs typeface="Aptos"/>
              </a:defRPr>
            </a:pPr>
            <a:r>
              <a:rPr lang="en-US" sz="1875" b="1" dirty="0">
                <a:solidFill>
                  <a:srgbClr val="075F80"/>
                </a:solidFill>
                <a:latin typeface="Aptos"/>
                <a:ea typeface="Aptos"/>
                <a:cs typeface="Aptos"/>
              </a:rPr>
              <a:t>  </a:t>
            </a:r>
            <a:r>
              <a:rPr sz="1875" b="1" dirty="0">
                <a:solidFill>
                  <a:srgbClr val="075F80"/>
                </a:solidFill>
                <a:latin typeface="Aptos"/>
                <a:ea typeface="Aptos"/>
                <a:cs typeface="Aptos"/>
              </a:rPr>
              <a:t>4/43</a:t>
            </a:r>
          </a:p>
        </p:txBody>
      </p:sp>
      <p:sp>
        <p:nvSpPr>
          <p:cNvPr id="53" name="Rectangle 52">
            <a:extLst>
              <a:ext uri="{FF2B5EF4-FFF2-40B4-BE49-F238E27FC236}">
                <a16:creationId xmlns:a16="http://schemas.microsoft.com/office/drawing/2014/main" id="{EBA5F797-8FBF-483A-9F98-FD1CC35E0328}"/>
              </a:ext>
            </a:extLst>
          </p:cNvPr>
          <p:cNvSpPr>
            <a:spLocks noGrp="1"/>
          </p:cNvSpPr>
          <p:nvPr/>
        </p:nvSpPr>
        <p:spPr>
          <a:xfrm>
            <a:off x="9315450" y="5102282"/>
            <a:ext cx="17621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667085"/>
                </a:solidFill>
                <a:latin typeface="Aptos"/>
                <a:ea typeface="Aptos"/>
                <a:cs typeface="Aptos"/>
              </a:defRPr>
            </a:pPr>
            <a:r>
              <a:rPr lang="en-US" sz="938" dirty="0">
                <a:solidFill>
                  <a:srgbClr val="667085"/>
                </a:solidFill>
                <a:latin typeface="Aptos"/>
                <a:ea typeface="Aptos"/>
                <a:cs typeface="Aptos"/>
              </a:rPr>
              <a:t>c</a:t>
            </a:r>
            <a:r>
              <a:rPr sz="938" b="0" dirty="0">
                <a:solidFill>
                  <a:srgbClr val="667085"/>
                </a:solidFill>
                <a:latin typeface="Aptos"/>
                <a:ea typeface="Aptos"/>
                <a:cs typeface="Aptos"/>
              </a:rPr>
              <a:t>ompromise</a:t>
            </a:r>
            <a:r>
              <a:rPr lang="en-US" sz="938" b="0" dirty="0">
                <a:solidFill>
                  <a:srgbClr val="667085"/>
                </a:solidFill>
                <a:latin typeface="Aptos"/>
                <a:ea typeface="Aptos"/>
                <a:cs typeface="Aptos"/>
              </a:rPr>
              <a:t>d / partial</a:t>
            </a:r>
            <a:endParaRPr sz="938" b="0" dirty="0">
              <a:solidFill>
                <a:srgbClr val="667085"/>
              </a:solidFill>
              <a:latin typeface="Aptos"/>
              <a:ea typeface="Aptos"/>
              <a:cs typeface="Aptos"/>
            </a:endParaRPr>
          </a:p>
        </p:txBody>
      </p:sp>
      <p:sp>
        <p:nvSpPr>
          <p:cNvPr id="54" name="Rectangle 53">
            <a:extLst>
              <a:ext uri="{FF2B5EF4-FFF2-40B4-BE49-F238E27FC236}">
                <a16:creationId xmlns:a16="http://schemas.microsoft.com/office/drawing/2014/main" id="{32EA1CD6-D551-44CB-A69C-C4BBDA54857E}"/>
              </a:ext>
            </a:extLst>
          </p:cNvPr>
          <p:cNvSpPr>
            <a:spLocks noGrp="1"/>
          </p:cNvSpPr>
          <p:nvPr/>
        </p:nvSpPr>
        <p:spPr>
          <a:xfrm>
            <a:off x="8607720" y="5400437"/>
            <a:ext cx="7810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C96B19"/>
                </a:solidFill>
                <a:latin typeface="Aptos"/>
                <a:ea typeface="Aptos"/>
                <a:cs typeface="Aptos"/>
              </a:defRPr>
            </a:pPr>
            <a:r>
              <a:rPr lang="en-US" sz="1880" b="1" dirty="0">
                <a:solidFill>
                  <a:srgbClr val="C96B19"/>
                </a:solidFill>
                <a:latin typeface="Aptos"/>
                <a:ea typeface="Aptos"/>
                <a:cs typeface="Aptos"/>
              </a:rPr>
              <a:t>3/43</a:t>
            </a:r>
            <a:endParaRPr sz="1880" b="1" dirty="0">
              <a:solidFill>
                <a:srgbClr val="C96B19"/>
              </a:solidFill>
              <a:latin typeface="Aptos"/>
              <a:ea typeface="Aptos"/>
              <a:cs typeface="Aptos"/>
            </a:endParaRPr>
          </a:p>
        </p:txBody>
      </p:sp>
      <p:sp>
        <p:nvSpPr>
          <p:cNvPr id="55" name="Rectangle 54">
            <a:extLst>
              <a:ext uri="{FF2B5EF4-FFF2-40B4-BE49-F238E27FC236}">
                <a16:creationId xmlns:a16="http://schemas.microsoft.com/office/drawing/2014/main" id="{1F81D23F-808F-4EDF-944C-516C1012DFB9}"/>
              </a:ext>
            </a:extLst>
          </p:cNvPr>
          <p:cNvSpPr>
            <a:spLocks noGrp="1"/>
          </p:cNvSpPr>
          <p:nvPr/>
        </p:nvSpPr>
        <p:spPr>
          <a:xfrm>
            <a:off x="9315450" y="5397557"/>
            <a:ext cx="176212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667085"/>
                </a:solidFill>
                <a:latin typeface="Aptos"/>
                <a:ea typeface="Aptos"/>
                <a:cs typeface="Aptos"/>
              </a:defRPr>
            </a:pPr>
            <a:r>
              <a:rPr lang="en-US" sz="900" b="0" dirty="0">
                <a:solidFill>
                  <a:srgbClr val="667085"/>
                </a:solidFill>
                <a:latin typeface="Aptos"/>
                <a:ea typeface="Aptos"/>
                <a:cs typeface="Aptos"/>
              </a:rPr>
              <a:t>Invalid </a:t>
            </a:r>
            <a:r>
              <a:rPr sz="900" b="0" dirty="0">
                <a:solidFill>
                  <a:srgbClr val="667085"/>
                </a:solidFill>
                <a:latin typeface="Aptos"/>
                <a:ea typeface="Aptos"/>
                <a:cs typeface="Aptos"/>
              </a:rPr>
              <a:t>primitive mappings</a:t>
            </a:r>
          </a:p>
        </p:txBody>
      </p:sp>
    </p:spTree>
    <p:extLst>
      <p:ext uri="{BB962C8B-B14F-4D97-AF65-F5344CB8AC3E}">
        <p14:creationId xmlns:p14="http://schemas.microsoft.com/office/powerpoint/2010/main" val="388007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1FDF796-0D16-7C83-E417-5FCA56DEF916}"/>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dirty="0">
                <a:solidFill>
                  <a:srgbClr val="1F2937"/>
                </a:solidFill>
                <a:latin typeface="Georgia"/>
                <a:ea typeface="Georgia"/>
                <a:cs typeface="Georgia"/>
              </a:rPr>
              <a:t>Results</a:t>
            </a:r>
            <a:r>
              <a:rPr lang="en-US" sz="2850" b="1" dirty="0">
                <a:solidFill>
                  <a:srgbClr val="1F2937"/>
                </a:solidFill>
                <a:latin typeface="Georgia"/>
                <a:ea typeface="Georgia"/>
                <a:cs typeface="Georgia"/>
              </a:rPr>
              <a:t>: scenes look and play OK</a:t>
            </a:r>
            <a:endParaRPr sz="2850" b="1" dirty="0">
              <a:solidFill>
                <a:srgbClr val="1F2937"/>
              </a:solidFill>
              <a:latin typeface="Georgia"/>
              <a:ea typeface="Georgia"/>
              <a:cs typeface="Georgia"/>
            </a:endParaRPr>
          </a:p>
        </p:txBody>
      </p:sp>
      <p:sp>
        <p:nvSpPr>
          <p:cNvPr id="3" name="Oval 2">
            <a:extLst>
              <a:ext uri="{FF2B5EF4-FFF2-40B4-BE49-F238E27FC236}">
                <a16:creationId xmlns:a16="http://schemas.microsoft.com/office/drawing/2014/main" id="{2C38FAE8-3BF1-1854-3A3E-D49E23D43877}"/>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4" name="Rectangle 3">
            <a:extLst>
              <a:ext uri="{FF2B5EF4-FFF2-40B4-BE49-F238E27FC236}">
                <a16:creationId xmlns:a16="http://schemas.microsoft.com/office/drawing/2014/main" id="{DF0818F8-FDAC-DB91-7EA5-AE290E5722AD}"/>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Aptos"/>
                <a:ea typeface="Aptos"/>
                <a:cs typeface="Aptos"/>
              </a:defRPr>
            </a:pPr>
            <a:r>
              <a:rPr sz="2250" b="1" dirty="0">
                <a:solidFill>
                  <a:srgbClr val="FFFFFF"/>
                </a:solidFill>
                <a:latin typeface="Aptos"/>
                <a:ea typeface="Aptos"/>
                <a:cs typeface="Aptos"/>
              </a:rPr>
              <a:t>7</a:t>
            </a:r>
          </a:p>
        </p:txBody>
      </p:sp>
      <p:pic>
        <p:nvPicPr>
          <p:cNvPr id="5" name="Picture 4">
            <a:extLst>
              <a:ext uri="{FF2B5EF4-FFF2-40B4-BE49-F238E27FC236}">
                <a16:creationId xmlns:a16="http://schemas.microsoft.com/office/drawing/2014/main" id="{04812101-3649-ED31-2F74-01C8CB0A9586}"/>
              </a:ext>
            </a:extLst>
          </p:cNvPr>
          <p:cNvPicPr>
            <a:picLocks noChangeAspect="1"/>
          </p:cNvPicPr>
          <p:nvPr/>
        </p:nvPicPr>
        <p:blipFill>
          <a:blip r:embed="rId2"/>
          <a:stretch/>
        </p:blipFill>
        <p:spPr>
          <a:xfrm>
            <a:off x="771525" y="1302700"/>
            <a:ext cx="10046523" cy="4715715"/>
          </a:xfrm>
          <a:prstGeom prst="rect">
            <a:avLst/>
          </a:prstGeom>
        </p:spPr>
      </p:pic>
      <p:sp>
        <p:nvSpPr>
          <p:cNvPr id="6" name="Rectangle 5">
            <a:extLst>
              <a:ext uri="{FF2B5EF4-FFF2-40B4-BE49-F238E27FC236}">
                <a16:creationId xmlns:a16="http://schemas.microsoft.com/office/drawing/2014/main" id="{7E7493AA-43D6-7DC1-EC80-128C4049AFEC}"/>
              </a:ext>
            </a:extLst>
          </p:cNvPr>
          <p:cNvSpPr>
            <a:spLocks noGrp="1"/>
          </p:cNvSpPr>
          <p:nvPr/>
        </p:nvSpPr>
        <p:spPr>
          <a:xfrm>
            <a:off x="2888880" y="5631024"/>
            <a:ext cx="5288074" cy="914400"/>
          </a:xfrm>
          <a:prstGeom prst="rect">
            <a:avLst/>
          </a:prstGeom>
          <a:solidFill>
            <a:srgbClr val="EEF4F9"/>
          </a:solidFill>
          <a:ln w="9525">
            <a:solidFill>
              <a:srgbClr val="D6DEE8"/>
            </a:solidFill>
            <a:prstDash val="solid"/>
          </a:ln>
        </p:spPr>
        <p:txBody>
          <a:bodyPr/>
          <a:lstStyle/>
          <a:p>
            <a:endParaRPr lang="en-US"/>
          </a:p>
        </p:txBody>
      </p:sp>
      <p:sp>
        <p:nvSpPr>
          <p:cNvPr id="7" name="Rectangle 6">
            <a:extLst>
              <a:ext uri="{FF2B5EF4-FFF2-40B4-BE49-F238E27FC236}">
                <a16:creationId xmlns:a16="http://schemas.microsoft.com/office/drawing/2014/main" id="{D1D79900-1DE6-66C5-3ED9-76DF68F2704D}"/>
              </a:ext>
            </a:extLst>
          </p:cNvPr>
          <p:cNvSpPr>
            <a:spLocks noGrp="1"/>
          </p:cNvSpPr>
          <p:nvPr/>
        </p:nvSpPr>
        <p:spPr>
          <a:xfrm>
            <a:off x="3033454" y="5715171"/>
            <a:ext cx="51435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374151"/>
                </a:solidFill>
                <a:latin typeface="Aptos"/>
                <a:ea typeface="Aptos"/>
                <a:cs typeface="Aptos"/>
              </a:defRPr>
            </a:pPr>
            <a:r>
              <a:rPr sz="1500" b="0" dirty="0">
                <a:solidFill>
                  <a:srgbClr val="374151"/>
                </a:solidFill>
                <a:latin typeface="Aptos"/>
                <a:ea typeface="Aptos"/>
                <a:cs typeface="Aptos"/>
              </a:rPr>
              <a:t>object/context/spatial plausibility are often s</a:t>
            </a:r>
            <a:r>
              <a:rPr lang="en-US" sz="1500" b="0" dirty="0">
                <a:solidFill>
                  <a:srgbClr val="374151"/>
                </a:solidFill>
                <a:latin typeface="Aptos"/>
                <a:ea typeface="Aptos"/>
                <a:cs typeface="Aptos"/>
              </a:rPr>
              <a:t>t</a:t>
            </a:r>
            <a:r>
              <a:rPr sz="1500" b="0" dirty="0">
                <a:solidFill>
                  <a:srgbClr val="374151"/>
                </a:solidFill>
                <a:latin typeface="Aptos"/>
                <a:ea typeface="Aptos"/>
                <a:cs typeface="Aptos"/>
              </a:rPr>
              <a:t>able, but affordance instrumentation and task completion are more frequently partial.</a:t>
            </a:r>
          </a:p>
        </p:txBody>
      </p:sp>
    </p:spTree>
    <p:extLst>
      <p:ext uri="{BB962C8B-B14F-4D97-AF65-F5344CB8AC3E}">
        <p14:creationId xmlns:p14="http://schemas.microsoft.com/office/powerpoint/2010/main" val="3504929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4A5DE7F8-5E91-4CB4-B30E-06CB2192881C}"/>
              </a:ext>
            </a:extLst>
          </p:cNvPr>
          <p:cNvSpPr>
            <a:spLocks noGrp="1"/>
          </p:cNvSpPr>
          <p:nvPr/>
        </p:nvSpPr>
        <p:spPr>
          <a:xfrm>
            <a:off x="502920" y="457200"/>
            <a:ext cx="548640" cy="548640"/>
          </a:xfrm>
          <a:prstGeom prst="ellipse">
            <a:avLst/>
          </a:prstGeom>
          <a:solidFill>
            <a:srgbClr val="1C7293"/>
          </a:solidFill>
        </p:spPr>
        <p:txBody>
          <a:bodyPr/>
          <a:lstStyle/>
          <a:p>
            <a:endParaRPr lang="en-US"/>
          </a:p>
        </p:txBody>
      </p:sp>
      <p:sp>
        <p:nvSpPr>
          <p:cNvPr id="3" name="Text 1">
            <a:extLst>
              <a:ext uri="{FF2B5EF4-FFF2-40B4-BE49-F238E27FC236}">
                <a16:creationId xmlns:a16="http://schemas.microsoft.com/office/drawing/2014/main" id="{132BD64D-ED9E-46CD-8B7F-4D87B3013103}"/>
              </a:ext>
            </a:extLst>
          </p:cNvPr>
          <p:cNvSpPr>
            <a:spLocks noGrp="1"/>
          </p:cNvSpPr>
          <p:nvPr/>
        </p:nvSpPr>
        <p:spPr>
          <a:xfrm>
            <a:off x="502920" y="457200"/>
            <a:ext cx="548640" cy="548640"/>
          </a:xfrm>
          <a:prstGeom prst="rect">
            <a:avLst/>
          </a:prstGeom>
          <a:noFill/>
        </p:spPr>
        <p:txBody>
          <a:bodyPr wrap="square" anchor="ctr"/>
          <a:lstStyle/>
          <a:p>
            <a:pPr marL="0" indent="0" algn="ctr">
              <a:buNone/>
            </a:pPr>
            <a:r>
              <a:rPr sz="2200" b="1">
                <a:solidFill>
                  <a:srgbClr val="FFFFFF"/>
                </a:solidFill>
                <a:latin typeface="Georgia"/>
                <a:ea typeface="Georgia"/>
                <a:cs typeface="Georgia"/>
              </a:rPr>
              <a:t>8</a:t>
            </a:r>
          </a:p>
        </p:txBody>
      </p:sp>
      <p:sp>
        <p:nvSpPr>
          <p:cNvPr id="4" name="Text 2">
            <a:extLst>
              <a:ext uri="{FF2B5EF4-FFF2-40B4-BE49-F238E27FC236}">
                <a16:creationId xmlns:a16="http://schemas.microsoft.com/office/drawing/2014/main" id="{BD652ECE-9F9C-4E0A-B9F6-749F63E480DE}"/>
              </a:ext>
            </a:extLst>
          </p:cNvPr>
          <p:cNvSpPr>
            <a:spLocks noGrp="1"/>
          </p:cNvSpPr>
          <p:nvPr/>
        </p:nvSpPr>
        <p:spPr>
          <a:xfrm>
            <a:off x="1234440" y="457200"/>
            <a:ext cx="10058400" cy="548640"/>
          </a:xfrm>
          <a:prstGeom prst="rect">
            <a:avLst/>
          </a:prstGeom>
          <a:noFill/>
        </p:spPr>
        <p:txBody>
          <a:bodyPr wrap="square" lIns="0" tIns="0" rIns="0" bIns="0" anchor="ctr"/>
          <a:lstStyle/>
          <a:p>
            <a:pPr marL="0" indent="0">
              <a:buNone/>
            </a:pPr>
            <a:r>
              <a:rPr sz="2600" b="1">
                <a:solidFill>
                  <a:srgbClr val="FFFFFF"/>
                </a:solidFill>
                <a:latin typeface="Georgia"/>
                <a:ea typeface="Georgia"/>
                <a:cs typeface="Georgia"/>
              </a:rPr>
              <a:t>Achieved vs. intended — and what's next</a:t>
            </a:r>
          </a:p>
        </p:txBody>
      </p:sp>
      <p:sp>
        <p:nvSpPr>
          <p:cNvPr id="5" name="Text 3">
            <a:extLst>
              <a:ext uri="{FF2B5EF4-FFF2-40B4-BE49-F238E27FC236}">
                <a16:creationId xmlns:a16="http://schemas.microsoft.com/office/drawing/2014/main" id="{51345BFA-5DC6-422F-8599-43F01EB28BFA}"/>
              </a:ext>
            </a:extLst>
          </p:cNvPr>
          <p:cNvSpPr>
            <a:spLocks noGrp="1"/>
          </p:cNvSpPr>
          <p:nvPr/>
        </p:nvSpPr>
        <p:spPr>
          <a:xfrm>
            <a:off x="548640" y="1371600"/>
            <a:ext cx="11064240" cy="1005840"/>
          </a:xfrm>
          <a:prstGeom prst="rect">
            <a:avLst/>
          </a:prstGeom>
          <a:noFill/>
        </p:spPr>
        <p:txBody>
          <a:bodyPr wrap="square" anchor="t"/>
          <a:lstStyle/>
          <a:p>
            <a:pPr marL="0" indent="0">
              <a:lnSpc>
                <a:spcPct val="115000"/>
              </a:lnSpc>
              <a:buNone/>
            </a:pPr>
            <a:r>
              <a:rPr sz="1600">
                <a:solidFill>
                  <a:srgbClr val="CADCFC"/>
                </a:solidFill>
                <a:latin typeface="Calibri"/>
                <a:ea typeface="Calibri"/>
                <a:cs typeface="Calibri"/>
              </a:rPr>
              <a:t>We set out to generate runnable spatial roleplay scenes on Vision Pro, and the pipeline closes end-to-end: description → typed plan → reconstructed objects → interactable scene.</a:t>
            </a:r>
          </a:p>
        </p:txBody>
      </p:sp>
      <p:sp>
        <p:nvSpPr>
          <p:cNvPr id="6" name="Shape 4">
            <a:extLst>
              <a:ext uri="{FF2B5EF4-FFF2-40B4-BE49-F238E27FC236}">
                <a16:creationId xmlns:a16="http://schemas.microsoft.com/office/drawing/2014/main" id="{513F9EF2-1BC1-423F-BBA9-82BF4870BD8A}"/>
              </a:ext>
            </a:extLst>
          </p:cNvPr>
          <p:cNvSpPr>
            <a:spLocks noGrp="1"/>
          </p:cNvSpPr>
          <p:nvPr/>
        </p:nvSpPr>
        <p:spPr>
          <a:xfrm>
            <a:off x="548640" y="2606040"/>
            <a:ext cx="11064240" cy="1051560"/>
          </a:xfrm>
          <a:prstGeom prst="roundRect">
            <a:avLst>
              <a:gd name="adj" fmla="val 5217"/>
            </a:avLst>
          </a:prstGeom>
          <a:solidFill>
            <a:srgbClr val="2C3566"/>
          </a:solidFill>
          <a:ln w="12700">
            <a:solidFill>
              <a:srgbClr val="1C7293"/>
            </a:solidFill>
            <a:prstDash val="solid"/>
          </a:ln>
        </p:spPr>
        <p:txBody>
          <a:bodyPr/>
          <a:lstStyle/>
          <a:p>
            <a:endParaRPr lang="en-US"/>
          </a:p>
        </p:txBody>
      </p:sp>
      <p:sp>
        <p:nvSpPr>
          <p:cNvPr id="7" name="Text 5">
            <a:extLst>
              <a:ext uri="{FF2B5EF4-FFF2-40B4-BE49-F238E27FC236}">
                <a16:creationId xmlns:a16="http://schemas.microsoft.com/office/drawing/2014/main" id="{10D6DAD0-5E84-46FD-940F-8FBB6EC3728E}"/>
              </a:ext>
            </a:extLst>
          </p:cNvPr>
          <p:cNvSpPr>
            <a:spLocks noGrp="1"/>
          </p:cNvSpPr>
          <p:nvPr/>
        </p:nvSpPr>
        <p:spPr>
          <a:xfrm>
            <a:off x="777240" y="2724912"/>
            <a:ext cx="3383280" cy="822960"/>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Two fundamental gaps</a:t>
            </a:r>
          </a:p>
        </p:txBody>
      </p:sp>
      <p:sp>
        <p:nvSpPr>
          <p:cNvPr id="8" name="Text 6">
            <a:extLst>
              <a:ext uri="{FF2B5EF4-FFF2-40B4-BE49-F238E27FC236}">
                <a16:creationId xmlns:a16="http://schemas.microsoft.com/office/drawing/2014/main" id="{9D06CBFB-A7C4-41F2-97ED-8CC6019B79E4}"/>
              </a:ext>
            </a:extLst>
          </p:cNvPr>
          <p:cNvSpPr>
            <a:spLocks noGrp="1"/>
          </p:cNvSpPr>
          <p:nvPr/>
        </p:nvSpPr>
        <p:spPr>
          <a:xfrm>
            <a:off x="4297680" y="2724912"/>
            <a:ext cx="7132320" cy="822960"/>
          </a:xfrm>
          <a:prstGeom prst="rect">
            <a:avLst/>
          </a:prstGeom>
          <a:noFill/>
        </p:spPr>
        <p:txBody>
          <a:bodyPr wrap="square" lIns="0" tIns="0" rIns="0" bIns="0" anchor="ctr"/>
          <a:lstStyle/>
          <a:p>
            <a:pPr marL="0" indent="0">
              <a:lnSpc>
                <a:spcPct val="105000"/>
              </a:lnSpc>
              <a:buNone/>
            </a:pPr>
            <a:r>
              <a:rPr sz="1350">
                <a:solidFill>
                  <a:srgbClr val="CADCFC"/>
                </a:solidFill>
                <a:latin typeface="Calibri"/>
                <a:ea typeface="Calibri"/>
                <a:cs typeface="Calibri"/>
              </a:rPr>
              <a:t>Locomotion and bidirectional exchange recur across scenes — no gesture fixes them; they name the next primitives to add.</a:t>
            </a:r>
          </a:p>
        </p:txBody>
      </p:sp>
      <p:sp>
        <p:nvSpPr>
          <p:cNvPr id="9" name="Shape 7">
            <a:extLst>
              <a:ext uri="{FF2B5EF4-FFF2-40B4-BE49-F238E27FC236}">
                <a16:creationId xmlns:a16="http://schemas.microsoft.com/office/drawing/2014/main" id="{E9881585-EEC4-4672-9702-AE9500161A63}"/>
              </a:ext>
            </a:extLst>
          </p:cNvPr>
          <p:cNvSpPr>
            <a:spLocks noGrp="1"/>
          </p:cNvSpPr>
          <p:nvPr/>
        </p:nvSpPr>
        <p:spPr>
          <a:xfrm>
            <a:off x="548640" y="3794760"/>
            <a:ext cx="11064240" cy="1051560"/>
          </a:xfrm>
          <a:prstGeom prst="roundRect">
            <a:avLst>
              <a:gd name="adj" fmla="val 5217"/>
            </a:avLst>
          </a:prstGeom>
          <a:solidFill>
            <a:srgbClr val="2C3566"/>
          </a:solidFill>
          <a:ln w="12700">
            <a:solidFill>
              <a:srgbClr val="1C7293"/>
            </a:solidFill>
            <a:prstDash val="solid"/>
          </a:ln>
        </p:spPr>
        <p:txBody>
          <a:bodyPr/>
          <a:lstStyle/>
          <a:p>
            <a:endParaRPr lang="en-US"/>
          </a:p>
        </p:txBody>
      </p:sp>
      <p:sp>
        <p:nvSpPr>
          <p:cNvPr id="10" name="Text 8">
            <a:extLst>
              <a:ext uri="{FF2B5EF4-FFF2-40B4-BE49-F238E27FC236}">
                <a16:creationId xmlns:a16="http://schemas.microsoft.com/office/drawing/2014/main" id="{B136BAFE-C71C-4121-97F6-34EB1DCCF4EB}"/>
              </a:ext>
            </a:extLst>
          </p:cNvPr>
          <p:cNvSpPr>
            <a:spLocks noGrp="1"/>
          </p:cNvSpPr>
          <p:nvPr/>
        </p:nvSpPr>
        <p:spPr>
          <a:xfrm>
            <a:off x="777240" y="3913632"/>
            <a:ext cx="3383280" cy="822960"/>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The binding constraint</a:t>
            </a:r>
          </a:p>
        </p:txBody>
      </p:sp>
      <p:sp>
        <p:nvSpPr>
          <p:cNvPr id="11" name="Text 9">
            <a:extLst>
              <a:ext uri="{FF2B5EF4-FFF2-40B4-BE49-F238E27FC236}">
                <a16:creationId xmlns:a16="http://schemas.microsoft.com/office/drawing/2014/main" id="{0607A143-4915-4D2A-8C49-09AD4D015F73}"/>
              </a:ext>
            </a:extLst>
          </p:cNvPr>
          <p:cNvSpPr>
            <a:spLocks noGrp="1"/>
          </p:cNvSpPr>
          <p:nvPr/>
        </p:nvSpPr>
        <p:spPr>
          <a:xfrm>
            <a:off x="4297680" y="3913632"/>
            <a:ext cx="7132320" cy="822960"/>
          </a:xfrm>
          <a:prstGeom prst="rect">
            <a:avLst/>
          </a:prstGeom>
          <a:noFill/>
        </p:spPr>
        <p:txBody>
          <a:bodyPr wrap="square" lIns="0" tIns="0" rIns="0" bIns="0" anchor="ctr"/>
          <a:lstStyle/>
          <a:p>
            <a:pPr marL="0" indent="0">
              <a:lnSpc>
                <a:spcPct val="105000"/>
              </a:lnSpc>
              <a:buNone/>
            </a:pPr>
            <a:r>
              <a:rPr sz="1350">
                <a:solidFill>
                  <a:srgbClr val="CADCFC"/>
                </a:solidFill>
                <a:latin typeface="Calibri"/>
                <a:ea typeface="Calibri"/>
                <a:cs typeface="Calibri"/>
              </a:rPr>
              <a:t>Generation is reliable; expressibility and asset realization are where it breaks — the work to innovate next.</a:t>
            </a:r>
          </a:p>
        </p:txBody>
      </p:sp>
      <p:sp>
        <p:nvSpPr>
          <p:cNvPr id="12" name="Shape 10">
            <a:extLst>
              <a:ext uri="{FF2B5EF4-FFF2-40B4-BE49-F238E27FC236}">
                <a16:creationId xmlns:a16="http://schemas.microsoft.com/office/drawing/2014/main" id="{4E2EB615-B162-4602-B8BE-85B2595AA3A0}"/>
              </a:ext>
            </a:extLst>
          </p:cNvPr>
          <p:cNvSpPr>
            <a:spLocks noGrp="1"/>
          </p:cNvSpPr>
          <p:nvPr/>
        </p:nvSpPr>
        <p:spPr>
          <a:xfrm>
            <a:off x="548640" y="4983480"/>
            <a:ext cx="11064240" cy="1051560"/>
          </a:xfrm>
          <a:prstGeom prst="roundRect">
            <a:avLst>
              <a:gd name="adj" fmla="val 5217"/>
            </a:avLst>
          </a:prstGeom>
          <a:solidFill>
            <a:srgbClr val="2C3566"/>
          </a:solidFill>
          <a:ln w="12700">
            <a:solidFill>
              <a:srgbClr val="1C7293"/>
            </a:solidFill>
            <a:prstDash val="solid"/>
          </a:ln>
        </p:spPr>
        <p:txBody>
          <a:bodyPr/>
          <a:lstStyle/>
          <a:p>
            <a:endParaRPr lang="en-US"/>
          </a:p>
        </p:txBody>
      </p:sp>
      <p:sp>
        <p:nvSpPr>
          <p:cNvPr id="13" name="Text 11">
            <a:extLst>
              <a:ext uri="{FF2B5EF4-FFF2-40B4-BE49-F238E27FC236}">
                <a16:creationId xmlns:a16="http://schemas.microsoft.com/office/drawing/2014/main" id="{7A426466-0E2E-4F75-A8D5-706DF81A64A5}"/>
              </a:ext>
            </a:extLst>
          </p:cNvPr>
          <p:cNvSpPr>
            <a:spLocks noGrp="1"/>
          </p:cNvSpPr>
          <p:nvPr/>
        </p:nvSpPr>
        <p:spPr>
          <a:xfrm>
            <a:off x="777240" y="5102352"/>
            <a:ext cx="3383280" cy="822960"/>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Honest scope</a:t>
            </a:r>
          </a:p>
        </p:txBody>
      </p:sp>
      <p:sp>
        <p:nvSpPr>
          <p:cNvPr id="14" name="Text 12">
            <a:extLst>
              <a:ext uri="{FF2B5EF4-FFF2-40B4-BE49-F238E27FC236}">
                <a16:creationId xmlns:a16="http://schemas.microsoft.com/office/drawing/2014/main" id="{709F1CCB-AF5C-4189-8FB8-0EAF588E50CA}"/>
              </a:ext>
            </a:extLst>
          </p:cNvPr>
          <p:cNvSpPr>
            <a:spLocks noGrp="1"/>
          </p:cNvSpPr>
          <p:nvPr/>
        </p:nvSpPr>
        <p:spPr>
          <a:xfrm>
            <a:off x="4297680" y="5102352"/>
            <a:ext cx="7132320" cy="822960"/>
          </a:xfrm>
          <a:prstGeom prst="rect">
            <a:avLst/>
          </a:prstGeom>
          <a:noFill/>
        </p:spPr>
        <p:txBody>
          <a:bodyPr wrap="square" lIns="0" tIns="0" rIns="0" bIns="0" anchor="ctr"/>
          <a:lstStyle/>
          <a:p>
            <a:pPr marL="0" indent="0">
              <a:lnSpc>
                <a:spcPct val="105000"/>
              </a:lnSpc>
              <a:buNone/>
            </a:pPr>
            <a:r>
              <a:rPr sz="1350">
                <a:solidFill>
                  <a:srgbClr val="CADCFC"/>
                </a:solidFill>
                <a:latin typeface="Calibri"/>
                <a:ea typeface="Calibri"/>
                <a:cs typeface="Calibri"/>
              </a:rPr>
              <a:t>Ceremonial gestures (bow, clap) are a vocabulary scope gap, not a Vision Pro limit — cheap to extend.</a:t>
            </a:r>
          </a:p>
        </p:txBody>
      </p:sp>
      <p:sp>
        <p:nvSpPr>
          <p:cNvPr id="15" name="update-wipe">
            <a:extLst>
              <a:ext uri="{FF2B5EF4-FFF2-40B4-BE49-F238E27FC236}">
                <a16:creationId xmlns:a16="http://schemas.microsoft.com/office/drawing/2014/main" id="{CFF11C40-8837-4FE7-9392-43AFBDE08925}"/>
              </a:ext>
            </a:extLst>
          </p:cNvPr>
          <p:cNvSpPr>
            <a:spLocks noGrp="1"/>
          </p:cNvSpPr>
          <p:nvPr/>
        </p:nvSpPr>
        <p:spPr>
          <a:xfrm>
            <a:off x="0" y="0"/>
            <a:ext cx="12192000" cy="6858000"/>
          </a:xfrm>
          <a:prstGeom prst="rect">
            <a:avLst/>
          </a:prstGeom>
          <a:solidFill>
            <a:srgbClr val="25306A"/>
          </a:solidFill>
          <a:ln w="0">
            <a:solidFill>
              <a:srgbClr val="25306A"/>
            </a:solidFill>
            <a:prstDash val="solid"/>
          </a:ln>
        </p:spPr>
        <p:txBody>
          <a:bodyPr/>
          <a:lstStyle/>
          <a:p>
            <a:endParaRPr lang="en-US"/>
          </a:p>
        </p:txBody>
      </p:sp>
      <p:sp>
        <p:nvSpPr>
          <p:cNvPr id="16" name="Oval 15">
            <a:extLst>
              <a:ext uri="{FF2B5EF4-FFF2-40B4-BE49-F238E27FC236}">
                <a16:creationId xmlns:a16="http://schemas.microsoft.com/office/drawing/2014/main" id="{FF7EAF5B-D844-44AD-8210-3EF636A56398}"/>
              </a:ext>
            </a:extLst>
          </p:cNvPr>
          <p:cNvSpPr>
            <a:spLocks noGrp="1"/>
          </p:cNvSpPr>
          <p:nvPr/>
        </p:nvSpPr>
        <p:spPr>
          <a:xfrm>
            <a:off x="495300" y="466725"/>
            <a:ext cx="552450" cy="552450"/>
          </a:xfrm>
          <a:prstGeom prst="ellipse">
            <a:avLst/>
          </a:prstGeom>
          <a:solidFill>
            <a:srgbClr val="1988A7"/>
          </a:solidFill>
          <a:ln w="0">
            <a:solidFill>
              <a:srgbClr val="1988A7"/>
            </a:solidFill>
            <a:prstDash val="solid"/>
          </a:ln>
        </p:spPr>
        <p:txBody>
          <a:bodyPr/>
          <a:lstStyle/>
          <a:p>
            <a:endParaRPr lang="en-US"/>
          </a:p>
        </p:txBody>
      </p:sp>
      <p:sp>
        <p:nvSpPr>
          <p:cNvPr id="17" name="Rectangle 16">
            <a:extLst>
              <a:ext uri="{FF2B5EF4-FFF2-40B4-BE49-F238E27FC236}">
                <a16:creationId xmlns:a16="http://schemas.microsoft.com/office/drawing/2014/main" id="{3F72DB7B-432F-4474-A1CD-CC193EA62CE5}"/>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Georgia"/>
                <a:ea typeface="Georgia"/>
                <a:cs typeface="Georgia"/>
              </a:defRPr>
            </a:pPr>
            <a:r>
              <a:rPr sz="2250" b="1">
                <a:solidFill>
                  <a:srgbClr val="FFFFFF"/>
                </a:solidFill>
                <a:latin typeface="Georgia"/>
                <a:ea typeface="Georgia"/>
                <a:cs typeface="Georgia"/>
              </a:rPr>
              <a:t>8</a:t>
            </a:r>
          </a:p>
        </p:txBody>
      </p:sp>
      <p:sp>
        <p:nvSpPr>
          <p:cNvPr id="18" name="Rectangle 17">
            <a:extLst>
              <a:ext uri="{FF2B5EF4-FFF2-40B4-BE49-F238E27FC236}">
                <a16:creationId xmlns:a16="http://schemas.microsoft.com/office/drawing/2014/main" id="{1B40D996-0431-429E-AADD-AE055F879E66}"/>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FFFFFF"/>
                </a:solidFill>
                <a:latin typeface="Georgia"/>
                <a:ea typeface="Georgia"/>
                <a:cs typeface="Georgia"/>
              </a:defRPr>
            </a:pPr>
            <a:r>
              <a:rPr sz="2850" b="1">
                <a:solidFill>
                  <a:srgbClr val="FFFFFF"/>
                </a:solidFill>
                <a:latin typeface="Georgia"/>
                <a:ea typeface="Georgia"/>
                <a:cs typeface="Georgia"/>
              </a:rPr>
              <a:t>Achieved vs. intended — and what’s next</a:t>
            </a:r>
          </a:p>
        </p:txBody>
      </p:sp>
      <p:sp>
        <p:nvSpPr>
          <p:cNvPr id="19" name="Rectangle 18">
            <a:extLst>
              <a:ext uri="{FF2B5EF4-FFF2-40B4-BE49-F238E27FC236}">
                <a16:creationId xmlns:a16="http://schemas.microsoft.com/office/drawing/2014/main" id="{7C1B1934-EDBE-430B-87F4-B57447C51803}"/>
              </a:ext>
            </a:extLst>
          </p:cNvPr>
          <p:cNvSpPr>
            <a:spLocks noGrp="1"/>
          </p:cNvSpPr>
          <p:nvPr/>
        </p:nvSpPr>
        <p:spPr>
          <a:xfrm>
            <a:off x="542925" y="1428750"/>
            <a:ext cx="10668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DBEAFE"/>
                </a:solidFill>
                <a:latin typeface="Aptos"/>
                <a:ea typeface="Aptos"/>
                <a:cs typeface="Aptos"/>
              </a:defRPr>
            </a:pPr>
            <a:r>
              <a:rPr sz="1650" b="0">
                <a:solidFill>
                  <a:srgbClr val="DBEAFE"/>
                </a:solidFill>
                <a:latin typeface="Aptos"/>
                <a:ea typeface="Aptos"/>
                <a:cs typeface="Aptos"/>
              </a:rPr>
              <a:t>We set out to generate runnable spatial roleplay scenes on Vision Pro. The pipeline closes end-to-end, but the evaluation shows exactly where it stops feeling like the intended roleplay.</a:t>
            </a:r>
          </a:p>
        </p:txBody>
      </p:sp>
      <p:sp>
        <p:nvSpPr>
          <p:cNvPr id="20" name="Rectangle 19">
            <a:extLst>
              <a:ext uri="{FF2B5EF4-FFF2-40B4-BE49-F238E27FC236}">
                <a16:creationId xmlns:a16="http://schemas.microsoft.com/office/drawing/2014/main" id="{039A71B3-C8D1-4722-8028-CB760EB2F6EA}"/>
              </a:ext>
            </a:extLst>
          </p:cNvPr>
          <p:cNvSpPr>
            <a:spLocks noGrp="1"/>
          </p:cNvSpPr>
          <p:nvPr/>
        </p:nvSpPr>
        <p:spPr>
          <a:xfrm>
            <a:off x="542925" y="2457450"/>
            <a:ext cx="11077575" cy="971550"/>
          </a:xfrm>
          <a:prstGeom prst="rect">
            <a:avLst/>
          </a:prstGeom>
          <a:solidFill>
            <a:srgbClr val="303A78"/>
          </a:solidFill>
          <a:ln w="9525">
            <a:solidFill>
              <a:srgbClr val="1789AC"/>
            </a:solidFill>
            <a:prstDash val="solid"/>
          </a:ln>
        </p:spPr>
        <p:txBody>
          <a:bodyPr/>
          <a:lstStyle/>
          <a:p>
            <a:endParaRPr lang="en-US"/>
          </a:p>
        </p:txBody>
      </p:sp>
      <p:sp>
        <p:nvSpPr>
          <p:cNvPr id="21" name="Rectangle 20">
            <a:extLst>
              <a:ext uri="{FF2B5EF4-FFF2-40B4-BE49-F238E27FC236}">
                <a16:creationId xmlns:a16="http://schemas.microsoft.com/office/drawing/2014/main" id="{0EB76392-2EA6-4A05-8C84-38ECA7E748E0}"/>
              </a:ext>
            </a:extLst>
          </p:cNvPr>
          <p:cNvSpPr>
            <a:spLocks noGrp="1"/>
          </p:cNvSpPr>
          <p:nvPr/>
        </p:nvSpPr>
        <p:spPr>
          <a:xfrm>
            <a:off x="771525" y="26289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What worked</a:t>
            </a:r>
          </a:p>
        </p:txBody>
      </p:sp>
      <p:sp>
        <p:nvSpPr>
          <p:cNvPr id="22" name="Rectangle 21">
            <a:extLst>
              <a:ext uri="{FF2B5EF4-FFF2-40B4-BE49-F238E27FC236}">
                <a16:creationId xmlns:a16="http://schemas.microsoft.com/office/drawing/2014/main" id="{FF66A60C-A06A-427F-9606-6BB29118572D}"/>
              </a:ext>
            </a:extLst>
          </p:cNvPr>
          <p:cNvSpPr>
            <a:spLocks noGrp="1"/>
          </p:cNvSpPr>
          <p:nvPr/>
        </p:nvSpPr>
        <p:spPr>
          <a:xfrm>
            <a:off x="771525" y="29527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38" b="0">
                <a:solidFill>
                  <a:srgbClr val="D9E2FF"/>
                </a:solidFill>
                <a:latin typeface="Aptos"/>
                <a:ea typeface="Aptos"/>
                <a:cs typeface="Aptos"/>
              </a:defRPr>
            </a:pPr>
            <a:r>
              <a:rPr sz="1238" b="0">
                <a:solidFill>
                  <a:srgbClr val="D9E2FF"/>
                </a:solidFill>
                <a:latin typeface="Aptos"/>
                <a:ea typeface="Aptos"/>
                <a:cs typeface="Aptos"/>
              </a:rPr>
              <a:t>Scenario cards usually became valid typed plans: 40/43 generated tasks were faithful or acceptable compromises. LLM planning was not the main bottleneck.</a:t>
            </a:r>
          </a:p>
        </p:txBody>
      </p:sp>
      <p:sp>
        <p:nvSpPr>
          <p:cNvPr id="23" name="Rectangle 22">
            <a:extLst>
              <a:ext uri="{FF2B5EF4-FFF2-40B4-BE49-F238E27FC236}">
                <a16:creationId xmlns:a16="http://schemas.microsoft.com/office/drawing/2014/main" id="{5889F34E-3582-4F59-80EC-7E9BC08CC4C7}"/>
              </a:ext>
            </a:extLst>
          </p:cNvPr>
          <p:cNvSpPr>
            <a:spLocks noGrp="1"/>
          </p:cNvSpPr>
          <p:nvPr/>
        </p:nvSpPr>
        <p:spPr>
          <a:xfrm>
            <a:off x="542925" y="3676650"/>
            <a:ext cx="11077575" cy="971550"/>
          </a:xfrm>
          <a:prstGeom prst="rect">
            <a:avLst/>
          </a:prstGeom>
          <a:solidFill>
            <a:srgbClr val="303A78"/>
          </a:solidFill>
          <a:ln w="9525">
            <a:solidFill>
              <a:srgbClr val="1789AC"/>
            </a:solidFill>
            <a:prstDash val="solid"/>
          </a:ln>
        </p:spPr>
        <p:txBody>
          <a:bodyPr/>
          <a:lstStyle/>
          <a:p>
            <a:endParaRPr lang="en-US"/>
          </a:p>
        </p:txBody>
      </p:sp>
      <p:sp>
        <p:nvSpPr>
          <p:cNvPr id="24" name="Rectangle 23">
            <a:extLst>
              <a:ext uri="{FF2B5EF4-FFF2-40B4-BE49-F238E27FC236}">
                <a16:creationId xmlns:a16="http://schemas.microsoft.com/office/drawing/2014/main" id="{65BEBCBD-07F9-46D7-A050-66BB9E8EE1A3}"/>
              </a:ext>
            </a:extLst>
          </p:cNvPr>
          <p:cNvSpPr>
            <a:spLocks noGrp="1"/>
          </p:cNvSpPr>
          <p:nvPr/>
        </p:nvSpPr>
        <p:spPr>
          <a:xfrm>
            <a:off x="771525" y="38481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What broke</a:t>
            </a:r>
          </a:p>
        </p:txBody>
      </p:sp>
      <p:sp>
        <p:nvSpPr>
          <p:cNvPr id="25" name="Rectangle 24">
            <a:extLst>
              <a:ext uri="{FF2B5EF4-FFF2-40B4-BE49-F238E27FC236}">
                <a16:creationId xmlns:a16="http://schemas.microsoft.com/office/drawing/2014/main" id="{014C02ED-7066-4F1B-83B1-FEADF1E4DA90}"/>
              </a:ext>
            </a:extLst>
          </p:cNvPr>
          <p:cNvSpPr>
            <a:spLocks noGrp="1"/>
          </p:cNvSpPr>
          <p:nvPr/>
        </p:nvSpPr>
        <p:spPr>
          <a:xfrm>
            <a:off x="771525" y="41719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38" b="0">
                <a:solidFill>
                  <a:srgbClr val="D9E2FF"/>
                </a:solidFill>
                <a:latin typeface="Aptos"/>
                <a:ea typeface="Aptos"/>
                <a:cs typeface="Aptos"/>
              </a:defRPr>
            </a:pPr>
            <a:r>
              <a:rPr sz="1238" b="0">
                <a:solidFill>
                  <a:srgbClr val="D9E2FF"/>
                </a:solidFill>
                <a:latin typeface="Aptos"/>
                <a:ea typeface="Aptos"/>
                <a:cs typeface="Aptos"/>
              </a:rPr>
              <a:t>Realization and interaction instrumentation lagged the plan: visual/spatial cues were often partial, and task completion depended on brittle affordance wiring.</a:t>
            </a:r>
          </a:p>
        </p:txBody>
      </p:sp>
      <p:sp>
        <p:nvSpPr>
          <p:cNvPr id="26" name="Rectangle 25">
            <a:extLst>
              <a:ext uri="{FF2B5EF4-FFF2-40B4-BE49-F238E27FC236}">
                <a16:creationId xmlns:a16="http://schemas.microsoft.com/office/drawing/2014/main" id="{985BE0AF-1E2C-4F82-B1AC-53559E319ECE}"/>
              </a:ext>
            </a:extLst>
          </p:cNvPr>
          <p:cNvSpPr>
            <a:spLocks noGrp="1"/>
          </p:cNvSpPr>
          <p:nvPr/>
        </p:nvSpPr>
        <p:spPr>
          <a:xfrm>
            <a:off x="542925" y="4895850"/>
            <a:ext cx="11077575" cy="971550"/>
          </a:xfrm>
          <a:prstGeom prst="rect">
            <a:avLst/>
          </a:prstGeom>
          <a:solidFill>
            <a:srgbClr val="303A78"/>
          </a:solidFill>
          <a:ln w="9525">
            <a:solidFill>
              <a:srgbClr val="1789AC"/>
            </a:solidFill>
            <a:prstDash val="solid"/>
          </a:ln>
        </p:spPr>
        <p:txBody>
          <a:bodyPr/>
          <a:lstStyle/>
          <a:p>
            <a:endParaRPr lang="en-US"/>
          </a:p>
        </p:txBody>
      </p:sp>
      <p:sp>
        <p:nvSpPr>
          <p:cNvPr id="27" name="Rectangle 26">
            <a:extLst>
              <a:ext uri="{FF2B5EF4-FFF2-40B4-BE49-F238E27FC236}">
                <a16:creationId xmlns:a16="http://schemas.microsoft.com/office/drawing/2014/main" id="{AC1609D5-AD9B-4233-A24B-238F00629845}"/>
              </a:ext>
            </a:extLst>
          </p:cNvPr>
          <p:cNvSpPr>
            <a:spLocks noGrp="1"/>
          </p:cNvSpPr>
          <p:nvPr/>
        </p:nvSpPr>
        <p:spPr>
          <a:xfrm>
            <a:off x="771525" y="50673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What needs innovation</a:t>
            </a:r>
          </a:p>
        </p:txBody>
      </p:sp>
      <p:sp>
        <p:nvSpPr>
          <p:cNvPr id="28" name="Rectangle 27">
            <a:extLst>
              <a:ext uri="{FF2B5EF4-FFF2-40B4-BE49-F238E27FC236}">
                <a16:creationId xmlns:a16="http://schemas.microsoft.com/office/drawing/2014/main" id="{C688150D-67DE-4EB4-BF24-AEF28142DE5B}"/>
              </a:ext>
            </a:extLst>
          </p:cNvPr>
          <p:cNvSpPr>
            <a:spLocks noGrp="1"/>
          </p:cNvSpPr>
          <p:nvPr/>
        </p:nvSpPr>
        <p:spPr>
          <a:xfrm>
            <a:off x="771525" y="53911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38" b="0">
                <a:solidFill>
                  <a:srgbClr val="D9E2FF"/>
                </a:solidFill>
                <a:latin typeface="Aptos"/>
                <a:ea typeface="Aptos"/>
                <a:cs typeface="Aptos"/>
              </a:defRPr>
            </a:pPr>
            <a:r>
              <a:rPr sz="1238" b="0">
                <a:solidFill>
                  <a:srgbClr val="D9E2FF"/>
                </a:solidFill>
                <a:latin typeface="Aptos"/>
                <a:ea typeface="Aptos"/>
                <a:cs typeface="Aptos"/>
              </a:rPr>
              <a:t>Better reach-scale layout, richer gesture primitives, exchange/locomotion models, and cached reconstruction assets are the path from prototype to deployable system.</a:t>
            </a:r>
          </a:p>
        </p:txBody>
      </p:sp>
      <p:sp>
        <p:nvSpPr>
          <p:cNvPr id="29" name="Rectangle 28">
            <a:extLst>
              <a:ext uri="{FF2B5EF4-FFF2-40B4-BE49-F238E27FC236}">
                <a16:creationId xmlns:a16="http://schemas.microsoft.com/office/drawing/2014/main" id="{530CCF60-27C0-4184-B49C-1974B4242EB9}"/>
              </a:ext>
            </a:extLst>
          </p:cNvPr>
          <p:cNvSpPr>
            <a:spLocks noGrp="1"/>
          </p:cNvSpPr>
          <p:nvPr/>
        </p:nvSpPr>
        <p:spPr>
          <a:xfrm>
            <a:off x="0" y="-10001"/>
            <a:ext cx="12192000" cy="6858000"/>
          </a:xfrm>
          <a:prstGeom prst="rect">
            <a:avLst/>
          </a:prstGeom>
          <a:solidFill>
            <a:srgbClr val="FFFFFF"/>
          </a:solidFill>
          <a:ln w="0">
            <a:solidFill>
              <a:srgbClr val="FFFFFF"/>
            </a:solidFill>
            <a:prstDash val="solid"/>
          </a:ln>
        </p:spPr>
        <p:txBody>
          <a:bodyPr/>
          <a:lstStyle/>
          <a:p>
            <a:endParaRPr lang="en-US"/>
          </a:p>
        </p:txBody>
      </p:sp>
      <p:sp>
        <p:nvSpPr>
          <p:cNvPr id="30" name="Oval 29">
            <a:extLst>
              <a:ext uri="{FF2B5EF4-FFF2-40B4-BE49-F238E27FC236}">
                <a16:creationId xmlns:a16="http://schemas.microsoft.com/office/drawing/2014/main" id="{0428D4F8-7A23-4DDD-B4ED-B6107E496F1A}"/>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31" name="Rectangle 30">
            <a:extLst>
              <a:ext uri="{FF2B5EF4-FFF2-40B4-BE49-F238E27FC236}">
                <a16:creationId xmlns:a16="http://schemas.microsoft.com/office/drawing/2014/main" id="{3E83B01A-59F4-44FB-932A-57DEE3C79465}"/>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Aptos"/>
                <a:ea typeface="Aptos"/>
                <a:cs typeface="Aptos"/>
              </a:defRPr>
            </a:pPr>
            <a:r>
              <a:rPr sz="2250" b="1">
                <a:solidFill>
                  <a:srgbClr val="FFFFFF"/>
                </a:solidFill>
                <a:latin typeface="Aptos"/>
                <a:ea typeface="Aptos"/>
                <a:cs typeface="Aptos"/>
              </a:rPr>
              <a:t>8</a:t>
            </a:r>
          </a:p>
        </p:txBody>
      </p:sp>
      <p:sp>
        <p:nvSpPr>
          <p:cNvPr id="32" name="Rectangle 31">
            <a:extLst>
              <a:ext uri="{FF2B5EF4-FFF2-40B4-BE49-F238E27FC236}">
                <a16:creationId xmlns:a16="http://schemas.microsoft.com/office/drawing/2014/main" id="{9A4A51EE-FFE5-485D-BA17-7762C8B81EFE}"/>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dirty="0">
                <a:solidFill>
                  <a:srgbClr val="1F2937"/>
                </a:solidFill>
                <a:latin typeface="Georgia"/>
                <a:ea typeface="Georgia"/>
                <a:cs typeface="Georgia"/>
              </a:rPr>
              <a:t>Results: </a:t>
            </a:r>
            <a:r>
              <a:rPr lang="en-US" sz="2850" b="1" dirty="0">
                <a:solidFill>
                  <a:srgbClr val="1F2937"/>
                </a:solidFill>
                <a:latin typeface="Georgia"/>
                <a:ea typeface="Georgia"/>
                <a:cs typeface="Georgia"/>
              </a:rPr>
              <a:t>generation takes a little long but not terrible</a:t>
            </a:r>
            <a:endParaRPr sz="2850" b="1" dirty="0">
              <a:solidFill>
                <a:srgbClr val="1F2937"/>
              </a:solidFill>
              <a:latin typeface="Georgia"/>
              <a:ea typeface="Georgia"/>
              <a:cs typeface="Georgia"/>
            </a:endParaRPr>
          </a:p>
        </p:txBody>
      </p:sp>
      <p:sp>
        <p:nvSpPr>
          <p:cNvPr id="33" name="Rectangle 32">
            <a:extLst>
              <a:ext uri="{FF2B5EF4-FFF2-40B4-BE49-F238E27FC236}">
                <a16:creationId xmlns:a16="http://schemas.microsoft.com/office/drawing/2014/main" id="{43F5AF1D-9FFE-49E6-A50A-6E46DA2278CC}"/>
              </a:ext>
            </a:extLst>
          </p:cNvPr>
          <p:cNvSpPr>
            <a:spLocks noGrp="1"/>
          </p:cNvSpPr>
          <p:nvPr/>
        </p:nvSpPr>
        <p:spPr>
          <a:xfrm>
            <a:off x="666750" y="1333500"/>
            <a:ext cx="10668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F2937"/>
                </a:solidFill>
                <a:latin typeface="Aptos"/>
                <a:ea typeface="Aptos"/>
                <a:cs typeface="Aptos"/>
              </a:defRPr>
            </a:pPr>
            <a:r>
              <a:rPr sz="1875" b="1">
                <a:solidFill>
                  <a:srgbClr val="1F2937"/>
                </a:solidFill>
                <a:latin typeface="Aptos"/>
                <a:ea typeface="Aptos"/>
                <a:cs typeface="Aptos"/>
              </a:rPr>
              <a:t>SAM3D realization time: minutes, not seconds</a:t>
            </a:r>
          </a:p>
        </p:txBody>
      </p:sp>
      <p:sp>
        <p:nvSpPr>
          <p:cNvPr id="34" name="Rectangle 33">
            <a:extLst>
              <a:ext uri="{FF2B5EF4-FFF2-40B4-BE49-F238E27FC236}">
                <a16:creationId xmlns:a16="http://schemas.microsoft.com/office/drawing/2014/main" id="{A5676D9B-F2E5-4F67-8ECD-1871C7470E8D}"/>
              </a:ext>
            </a:extLst>
          </p:cNvPr>
          <p:cNvSpPr>
            <a:spLocks noGrp="1"/>
          </p:cNvSpPr>
          <p:nvPr/>
        </p:nvSpPr>
        <p:spPr>
          <a:xfrm>
            <a:off x="666750" y="1619250"/>
            <a:ext cx="10668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Recovered from output timestamps: reference.png → .usda. Labels show each object segment.</a:t>
            </a:r>
          </a:p>
        </p:txBody>
      </p:sp>
      <p:sp>
        <p:nvSpPr>
          <p:cNvPr id="35" name="Rectangle 34">
            <a:extLst>
              <a:ext uri="{FF2B5EF4-FFF2-40B4-BE49-F238E27FC236}">
                <a16:creationId xmlns:a16="http://schemas.microsoft.com/office/drawing/2014/main" id="{B9FAF0ED-9713-484D-AA1E-8FB1B39B53EE}"/>
              </a:ext>
            </a:extLst>
          </p:cNvPr>
          <p:cNvSpPr>
            <a:spLocks noGrp="1"/>
          </p:cNvSpPr>
          <p:nvPr/>
        </p:nvSpPr>
        <p:spPr>
          <a:xfrm>
            <a:off x="1333500" y="4791075"/>
            <a:ext cx="9715500" cy="9525"/>
          </a:xfrm>
          <a:prstGeom prst="rect">
            <a:avLst/>
          </a:prstGeom>
          <a:solidFill>
            <a:srgbClr val="D6DEE8"/>
          </a:solidFill>
          <a:ln w="0">
            <a:solidFill>
              <a:srgbClr val="D6DEE8"/>
            </a:solidFill>
            <a:prstDash val="solid"/>
          </a:ln>
        </p:spPr>
        <p:txBody>
          <a:bodyPr/>
          <a:lstStyle/>
          <a:p>
            <a:endParaRPr lang="en-US"/>
          </a:p>
        </p:txBody>
      </p:sp>
      <p:sp>
        <p:nvSpPr>
          <p:cNvPr id="36" name="Rectangle 35">
            <a:extLst>
              <a:ext uri="{FF2B5EF4-FFF2-40B4-BE49-F238E27FC236}">
                <a16:creationId xmlns:a16="http://schemas.microsoft.com/office/drawing/2014/main" id="{E3254097-EB92-4DC3-B1D2-D28CD4C83A42}"/>
              </a:ext>
            </a:extLst>
          </p:cNvPr>
          <p:cNvSpPr>
            <a:spLocks noGrp="1"/>
          </p:cNvSpPr>
          <p:nvPr/>
        </p:nvSpPr>
        <p:spPr>
          <a:xfrm>
            <a:off x="933450" y="4714875"/>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0</a:t>
            </a:r>
          </a:p>
        </p:txBody>
      </p:sp>
      <p:sp>
        <p:nvSpPr>
          <p:cNvPr id="37" name="Rectangle 36">
            <a:extLst>
              <a:ext uri="{FF2B5EF4-FFF2-40B4-BE49-F238E27FC236}">
                <a16:creationId xmlns:a16="http://schemas.microsoft.com/office/drawing/2014/main" id="{7C57461D-81A5-4231-8D0B-E709FF6769FF}"/>
              </a:ext>
            </a:extLst>
          </p:cNvPr>
          <p:cNvSpPr>
            <a:spLocks noGrp="1"/>
          </p:cNvSpPr>
          <p:nvPr/>
        </p:nvSpPr>
        <p:spPr>
          <a:xfrm>
            <a:off x="1333500" y="3981450"/>
            <a:ext cx="9715500" cy="9525"/>
          </a:xfrm>
          <a:prstGeom prst="rect">
            <a:avLst/>
          </a:prstGeom>
          <a:solidFill>
            <a:srgbClr val="D6DEE8"/>
          </a:solidFill>
          <a:ln w="0">
            <a:solidFill>
              <a:srgbClr val="D6DEE8"/>
            </a:solidFill>
            <a:prstDash val="solid"/>
          </a:ln>
        </p:spPr>
        <p:txBody>
          <a:bodyPr/>
          <a:lstStyle/>
          <a:p>
            <a:endParaRPr lang="en-US"/>
          </a:p>
        </p:txBody>
      </p:sp>
      <p:sp>
        <p:nvSpPr>
          <p:cNvPr id="38" name="Rectangle 37">
            <a:extLst>
              <a:ext uri="{FF2B5EF4-FFF2-40B4-BE49-F238E27FC236}">
                <a16:creationId xmlns:a16="http://schemas.microsoft.com/office/drawing/2014/main" id="{CFE42B63-582D-426A-8603-32F62D59671A}"/>
              </a:ext>
            </a:extLst>
          </p:cNvPr>
          <p:cNvSpPr>
            <a:spLocks noGrp="1"/>
          </p:cNvSpPr>
          <p:nvPr/>
        </p:nvSpPr>
        <p:spPr>
          <a:xfrm>
            <a:off x="933450" y="39052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2</a:t>
            </a:r>
          </a:p>
        </p:txBody>
      </p:sp>
      <p:sp>
        <p:nvSpPr>
          <p:cNvPr id="39" name="Rectangle 38">
            <a:extLst>
              <a:ext uri="{FF2B5EF4-FFF2-40B4-BE49-F238E27FC236}">
                <a16:creationId xmlns:a16="http://schemas.microsoft.com/office/drawing/2014/main" id="{7A525FCE-4AF5-483F-8DD7-F98BAA1C6A7B}"/>
              </a:ext>
            </a:extLst>
          </p:cNvPr>
          <p:cNvSpPr>
            <a:spLocks noGrp="1"/>
          </p:cNvSpPr>
          <p:nvPr/>
        </p:nvSpPr>
        <p:spPr>
          <a:xfrm>
            <a:off x="1333500" y="3171825"/>
            <a:ext cx="9715500" cy="9525"/>
          </a:xfrm>
          <a:prstGeom prst="rect">
            <a:avLst/>
          </a:prstGeom>
          <a:solidFill>
            <a:srgbClr val="D6DEE8"/>
          </a:solidFill>
          <a:ln w="0">
            <a:solidFill>
              <a:srgbClr val="D6DEE8"/>
            </a:solidFill>
            <a:prstDash val="solid"/>
          </a:ln>
        </p:spPr>
        <p:txBody>
          <a:bodyPr/>
          <a:lstStyle/>
          <a:p>
            <a:endParaRPr lang="en-US"/>
          </a:p>
        </p:txBody>
      </p:sp>
      <p:sp>
        <p:nvSpPr>
          <p:cNvPr id="40" name="Rectangle 39">
            <a:extLst>
              <a:ext uri="{FF2B5EF4-FFF2-40B4-BE49-F238E27FC236}">
                <a16:creationId xmlns:a16="http://schemas.microsoft.com/office/drawing/2014/main" id="{39445269-834D-470F-9427-B031268B45AE}"/>
              </a:ext>
            </a:extLst>
          </p:cNvPr>
          <p:cNvSpPr>
            <a:spLocks noGrp="1"/>
          </p:cNvSpPr>
          <p:nvPr/>
        </p:nvSpPr>
        <p:spPr>
          <a:xfrm>
            <a:off x="933450" y="3095625"/>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4</a:t>
            </a:r>
          </a:p>
        </p:txBody>
      </p:sp>
      <p:sp>
        <p:nvSpPr>
          <p:cNvPr id="41" name="Rectangle 40">
            <a:extLst>
              <a:ext uri="{FF2B5EF4-FFF2-40B4-BE49-F238E27FC236}">
                <a16:creationId xmlns:a16="http://schemas.microsoft.com/office/drawing/2014/main" id="{9A8E06B2-7E17-4179-A36A-15AAD48A521E}"/>
              </a:ext>
            </a:extLst>
          </p:cNvPr>
          <p:cNvSpPr>
            <a:spLocks noGrp="1"/>
          </p:cNvSpPr>
          <p:nvPr/>
        </p:nvSpPr>
        <p:spPr>
          <a:xfrm>
            <a:off x="1333500" y="2362200"/>
            <a:ext cx="9715500" cy="9525"/>
          </a:xfrm>
          <a:prstGeom prst="rect">
            <a:avLst/>
          </a:prstGeom>
          <a:solidFill>
            <a:srgbClr val="D6DEE8"/>
          </a:solidFill>
          <a:ln w="0">
            <a:solidFill>
              <a:srgbClr val="D6DEE8"/>
            </a:solidFill>
            <a:prstDash val="solid"/>
          </a:ln>
        </p:spPr>
        <p:txBody>
          <a:bodyPr/>
          <a:lstStyle/>
          <a:p>
            <a:endParaRPr lang="en-US"/>
          </a:p>
        </p:txBody>
      </p:sp>
      <p:sp>
        <p:nvSpPr>
          <p:cNvPr id="42" name="Rectangle 41">
            <a:extLst>
              <a:ext uri="{FF2B5EF4-FFF2-40B4-BE49-F238E27FC236}">
                <a16:creationId xmlns:a16="http://schemas.microsoft.com/office/drawing/2014/main" id="{17610FB6-1D81-4D3D-802F-0C49937B1CA7}"/>
              </a:ext>
            </a:extLst>
          </p:cNvPr>
          <p:cNvSpPr>
            <a:spLocks noGrp="1"/>
          </p:cNvSpPr>
          <p:nvPr/>
        </p:nvSpPr>
        <p:spPr>
          <a:xfrm>
            <a:off x="933450" y="228600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6</a:t>
            </a:r>
          </a:p>
        </p:txBody>
      </p:sp>
      <p:sp>
        <p:nvSpPr>
          <p:cNvPr id="43" name="Rectangle 42">
            <a:extLst>
              <a:ext uri="{FF2B5EF4-FFF2-40B4-BE49-F238E27FC236}">
                <a16:creationId xmlns:a16="http://schemas.microsoft.com/office/drawing/2014/main" id="{5E634AFD-5C08-46ED-9B4C-8499FDA11C95}"/>
              </a:ext>
            </a:extLst>
          </p:cNvPr>
          <p:cNvSpPr>
            <a:spLocks noGrp="1"/>
          </p:cNvSpPr>
          <p:nvPr/>
        </p:nvSpPr>
        <p:spPr>
          <a:xfrm>
            <a:off x="762000" y="3481388"/>
            <a:ext cx="419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minutes</a:t>
            </a:r>
          </a:p>
        </p:txBody>
      </p:sp>
      <p:sp>
        <p:nvSpPr>
          <p:cNvPr id="44" name="Rectangle 43">
            <a:extLst>
              <a:ext uri="{FF2B5EF4-FFF2-40B4-BE49-F238E27FC236}">
                <a16:creationId xmlns:a16="http://schemas.microsoft.com/office/drawing/2014/main" id="{5EEE49F9-92E1-45F3-8759-FF6DCB0524EB}"/>
              </a:ext>
            </a:extLst>
          </p:cNvPr>
          <p:cNvSpPr>
            <a:spLocks noGrp="1"/>
          </p:cNvSpPr>
          <p:nvPr/>
        </p:nvSpPr>
        <p:spPr>
          <a:xfrm>
            <a:off x="1762125" y="3957836"/>
            <a:ext cx="1428750" cy="833239"/>
          </a:xfrm>
          <a:prstGeom prst="rect">
            <a:avLst/>
          </a:prstGeom>
          <a:solidFill>
            <a:srgbClr val="0B6386"/>
          </a:solidFill>
          <a:ln w="6668">
            <a:solidFill>
              <a:srgbClr val="FFFFFF"/>
            </a:solidFill>
            <a:prstDash val="solid"/>
          </a:ln>
        </p:spPr>
        <p:txBody>
          <a:bodyPr/>
          <a:lstStyle/>
          <a:p>
            <a:endParaRPr lang="en-US"/>
          </a:p>
        </p:txBody>
      </p:sp>
      <p:sp>
        <p:nvSpPr>
          <p:cNvPr id="45" name="Rectangle 44">
            <a:extLst>
              <a:ext uri="{FF2B5EF4-FFF2-40B4-BE49-F238E27FC236}">
                <a16:creationId xmlns:a16="http://schemas.microsoft.com/office/drawing/2014/main" id="{86C85D17-4649-4B44-8839-9CA27D09AC7A}"/>
              </a:ext>
            </a:extLst>
          </p:cNvPr>
          <p:cNvSpPr>
            <a:spLocks noGrp="1"/>
          </p:cNvSpPr>
          <p:nvPr/>
        </p:nvSpPr>
        <p:spPr>
          <a:xfrm>
            <a:off x="1800225" y="398641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counter 2.1m</a:t>
            </a:r>
          </a:p>
        </p:txBody>
      </p:sp>
      <p:sp>
        <p:nvSpPr>
          <p:cNvPr id="46" name="Rectangle 45">
            <a:extLst>
              <a:ext uri="{FF2B5EF4-FFF2-40B4-BE49-F238E27FC236}">
                <a16:creationId xmlns:a16="http://schemas.microsoft.com/office/drawing/2014/main" id="{E06E60EA-B972-4A04-A0DF-97B09026AFF3}"/>
              </a:ext>
            </a:extLst>
          </p:cNvPr>
          <p:cNvSpPr>
            <a:spLocks noGrp="1"/>
          </p:cNvSpPr>
          <p:nvPr/>
        </p:nvSpPr>
        <p:spPr>
          <a:xfrm>
            <a:off x="1762125" y="3462615"/>
            <a:ext cx="1428750" cy="495221"/>
          </a:xfrm>
          <a:prstGeom prst="rect">
            <a:avLst/>
          </a:prstGeom>
          <a:solidFill>
            <a:srgbClr val="1F7A99"/>
          </a:solidFill>
          <a:ln w="6668">
            <a:solidFill>
              <a:srgbClr val="FFFFFF"/>
            </a:solidFill>
            <a:prstDash val="solid"/>
          </a:ln>
        </p:spPr>
        <p:txBody>
          <a:bodyPr/>
          <a:lstStyle/>
          <a:p>
            <a:endParaRPr lang="en-US"/>
          </a:p>
        </p:txBody>
      </p:sp>
      <p:sp>
        <p:nvSpPr>
          <p:cNvPr id="47" name="Rectangle 46">
            <a:extLst>
              <a:ext uri="{FF2B5EF4-FFF2-40B4-BE49-F238E27FC236}">
                <a16:creationId xmlns:a16="http://schemas.microsoft.com/office/drawing/2014/main" id="{DF25FACE-151E-4D41-8F96-DD609CECD7E6}"/>
              </a:ext>
            </a:extLst>
          </p:cNvPr>
          <p:cNvSpPr>
            <a:spLocks noGrp="1"/>
          </p:cNvSpPr>
          <p:nvPr/>
        </p:nvSpPr>
        <p:spPr>
          <a:xfrm>
            <a:off x="1800225" y="3491190"/>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wallet 1.2m</a:t>
            </a:r>
          </a:p>
        </p:txBody>
      </p:sp>
      <p:sp>
        <p:nvSpPr>
          <p:cNvPr id="48" name="Rectangle 47">
            <a:extLst>
              <a:ext uri="{FF2B5EF4-FFF2-40B4-BE49-F238E27FC236}">
                <a16:creationId xmlns:a16="http://schemas.microsoft.com/office/drawing/2014/main" id="{66E45951-A601-4A8E-95AC-C481C167860B}"/>
              </a:ext>
            </a:extLst>
          </p:cNvPr>
          <p:cNvSpPr>
            <a:spLocks noGrp="1"/>
          </p:cNvSpPr>
          <p:nvPr/>
        </p:nvSpPr>
        <p:spPr>
          <a:xfrm>
            <a:off x="1762125" y="3221077"/>
            <a:ext cx="1428750" cy="241538"/>
          </a:xfrm>
          <a:prstGeom prst="rect">
            <a:avLst/>
          </a:prstGeom>
          <a:solidFill>
            <a:srgbClr val="2D6A2E"/>
          </a:solidFill>
          <a:ln w="6668">
            <a:solidFill>
              <a:srgbClr val="FFFFFF"/>
            </a:solidFill>
            <a:prstDash val="solid"/>
          </a:ln>
        </p:spPr>
        <p:txBody>
          <a:bodyPr/>
          <a:lstStyle/>
          <a:p>
            <a:endParaRPr lang="en-US"/>
          </a:p>
        </p:txBody>
      </p:sp>
      <p:sp>
        <p:nvSpPr>
          <p:cNvPr id="49" name="Rectangle 48">
            <a:extLst>
              <a:ext uri="{FF2B5EF4-FFF2-40B4-BE49-F238E27FC236}">
                <a16:creationId xmlns:a16="http://schemas.microsoft.com/office/drawing/2014/main" id="{7D310FE5-12D3-44CE-A991-9C5138687D5E}"/>
              </a:ext>
            </a:extLst>
          </p:cNvPr>
          <p:cNvSpPr>
            <a:spLocks noGrp="1"/>
          </p:cNvSpPr>
          <p:nvPr/>
        </p:nvSpPr>
        <p:spPr>
          <a:xfrm>
            <a:off x="1800225" y="3249652"/>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basket 0.6m</a:t>
            </a:r>
          </a:p>
        </p:txBody>
      </p:sp>
      <p:sp>
        <p:nvSpPr>
          <p:cNvPr id="50" name="Rectangle 49">
            <a:extLst>
              <a:ext uri="{FF2B5EF4-FFF2-40B4-BE49-F238E27FC236}">
                <a16:creationId xmlns:a16="http://schemas.microsoft.com/office/drawing/2014/main" id="{D34F61AD-FEBD-4924-B858-E7B8A3BED69E}"/>
              </a:ext>
            </a:extLst>
          </p:cNvPr>
          <p:cNvSpPr>
            <a:spLocks noGrp="1"/>
          </p:cNvSpPr>
          <p:nvPr/>
        </p:nvSpPr>
        <p:spPr>
          <a:xfrm>
            <a:off x="1762125" y="2999780"/>
            <a:ext cx="1428750" cy="221297"/>
          </a:xfrm>
          <a:prstGeom prst="rect">
            <a:avLst/>
          </a:prstGeom>
          <a:solidFill>
            <a:srgbClr val="C96B19"/>
          </a:solidFill>
          <a:ln w="6668">
            <a:solidFill>
              <a:srgbClr val="FFFFFF"/>
            </a:solidFill>
            <a:prstDash val="solid"/>
          </a:ln>
        </p:spPr>
        <p:txBody>
          <a:bodyPr/>
          <a:lstStyle/>
          <a:p>
            <a:endParaRPr lang="en-US"/>
          </a:p>
        </p:txBody>
      </p:sp>
      <p:sp>
        <p:nvSpPr>
          <p:cNvPr id="51" name="Rectangle 50">
            <a:extLst>
              <a:ext uri="{FF2B5EF4-FFF2-40B4-BE49-F238E27FC236}">
                <a16:creationId xmlns:a16="http://schemas.microsoft.com/office/drawing/2014/main" id="{A6474B63-4038-4936-8D8C-D1CFD57AADCD}"/>
              </a:ext>
            </a:extLst>
          </p:cNvPr>
          <p:cNvSpPr>
            <a:spLocks noGrp="1"/>
          </p:cNvSpPr>
          <p:nvPr/>
        </p:nvSpPr>
        <p:spPr>
          <a:xfrm>
            <a:off x="1800225" y="3028355"/>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cashier 0.5m</a:t>
            </a:r>
          </a:p>
        </p:txBody>
      </p:sp>
      <p:sp>
        <p:nvSpPr>
          <p:cNvPr id="52" name="Rectangle 51">
            <a:extLst>
              <a:ext uri="{FF2B5EF4-FFF2-40B4-BE49-F238E27FC236}">
                <a16:creationId xmlns:a16="http://schemas.microsoft.com/office/drawing/2014/main" id="{58D90378-B3AD-4CD5-81BB-162D3E837E5D}"/>
              </a:ext>
            </a:extLst>
          </p:cNvPr>
          <p:cNvSpPr>
            <a:spLocks noGrp="1"/>
          </p:cNvSpPr>
          <p:nvPr/>
        </p:nvSpPr>
        <p:spPr>
          <a:xfrm>
            <a:off x="1762125" y="2777808"/>
            <a:ext cx="1428750" cy="221972"/>
          </a:xfrm>
          <a:prstGeom prst="rect">
            <a:avLst/>
          </a:prstGeom>
          <a:solidFill>
            <a:srgbClr val="748091"/>
          </a:solidFill>
          <a:ln w="6668">
            <a:solidFill>
              <a:srgbClr val="FFFFFF"/>
            </a:solidFill>
            <a:prstDash val="solid"/>
          </a:ln>
        </p:spPr>
        <p:txBody>
          <a:bodyPr/>
          <a:lstStyle/>
          <a:p>
            <a:endParaRPr lang="en-US"/>
          </a:p>
        </p:txBody>
      </p:sp>
      <p:sp>
        <p:nvSpPr>
          <p:cNvPr id="53" name="Rectangle 52">
            <a:extLst>
              <a:ext uri="{FF2B5EF4-FFF2-40B4-BE49-F238E27FC236}">
                <a16:creationId xmlns:a16="http://schemas.microsoft.com/office/drawing/2014/main" id="{7F139D0F-8D51-40B7-8CC7-EE3A7F80E1C5}"/>
              </a:ext>
            </a:extLst>
          </p:cNvPr>
          <p:cNvSpPr>
            <a:spLocks noGrp="1"/>
          </p:cNvSpPr>
          <p:nvPr/>
        </p:nvSpPr>
        <p:spPr>
          <a:xfrm>
            <a:off x="1800225" y="280638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chips 0.5m</a:t>
            </a:r>
          </a:p>
        </p:txBody>
      </p:sp>
      <p:sp>
        <p:nvSpPr>
          <p:cNvPr id="54" name="Rectangle 53">
            <a:extLst>
              <a:ext uri="{FF2B5EF4-FFF2-40B4-BE49-F238E27FC236}">
                <a16:creationId xmlns:a16="http://schemas.microsoft.com/office/drawing/2014/main" id="{61419E95-44B4-4282-BDAA-989552A4590C}"/>
              </a:ext>
            </a:extLst>
          </p:cNvPr>
          <p:cNvSpPr>
            <a:spLocks noGrp="1"/>
          </p:cNvSpPr>
          <p:nvPr/>
        </p:nvSpPr>
        <p:spPr>
          <a:xfrm>
            <a:off x="1762125" y="2577425"/>
            <a:ext cx="1428750" cy="200382"/>
          </a:xfrm>
          <a:prstGeom prst="rect">
            <a:avLst/>
          </a:prstGeom>
          <a:solidFill>
            <a:srgbClr val="9CA3AF"/>
          </a:solidFill>
          <a:ln w="6668">
            <a:solidFill>
              <a:srgbClr val="FFFFFF"/>
            </a:solidFill>
            <a:prstDash val="solid"/>
          </a:ln>
        </p:spPr>
        <p:txBody>
          <a:bodyPr/>
          <a:lstStyle/>
          <a:p>
            <a:endParaRPr lang="en-US"/>
          </a:p>
        </p:txBody>
      </p:sp>
      <p:sp>
        <p:nvSpPr>
          <p:cNvPr id="55" name="Rectangle 54">
            <a:extLst>
              <a:ext uri="{FF2B5EF4-FFF2-40B4-BE49-F238E27FC236}">
                <a16:creationId xmlns:a16="http://schemas.microsoft.com/office/drawing/2014/main" id="{99060045-10EF-4952-AF4A-20941741C3C4}"/>
              </a:ext>
            </a:extLst>
          </p:cNvPr>
          <p:cNvSpPr>
            <a:spLocks noGrp="1"/>
          </p:cNvSpPr>
          <p:nvPr/>
        </p:nvSpPr>
        <p:spPr>
          <a:xfrm>
            <a:off x="1790700" y="2586950"/>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terminal</a:t>
            </a:r>
          </a:p>
        </p:txBody>
      </p:sp>
      <p:sp>
        <p:nvSpPr>
          <p:cNvPr id="56" name="Rectangle 55">
            <a:extLst>
              <a:ext uri="{FF2B5EF4-FFF2-40B4-BE49-F238E27FC236}">
                <a16:creationId xmlns:a16="http://schemas.microsoft.com/office/drawing/2014/main" id="{066D97B7-ED1A-46B1-AE9B-C6CD1E45A6E6}"/>
              </a:ext>
            </a:extLst>
          </p:cNvPr>
          <p:cNvSpPr>
            <a:spLocks noGrp="1"/>
          </p:cNvSpPr>
          <p:nvPr/>
        </p:nvSpPr>
        <p:spPr>
          <a:xfrm>
            <a:off x="1762125" y="23812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5.5m</a:t>
            </a:r>
          </a:p>
        </p:txBody>
      </p:sp>
      <p:sp>
        <p:nvSpPr>
          <p:cNvPr id="57" name="Rectangle 56">
            <a:extLst>
              <a:ext uri="{FF2B5EF4-FFF2-40B4-BE49-F238E27FC236}">
                <a16:creationId xmlns:a16="http://schemas.microsoft.com/office/drawing/2014/main" id="{1BC230EB-E24B-4B28-8F3D-AD465B8AC3E7}"/>
              </a:ext>
            </a:extLst>
          </p:cNvPr>
          <p:cNvSpPr>
            <a:spLocks noGrp="1"/>
          </p:cNvSpPr>
          <p:nvPr/>
        </p:nvSpPr>
        <p:spPr>
          <a:xfrm>
            <a:off x="176212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Convenience</a:t>
            </a:r>
          </a:p>
        </p:txBody>
      </p:sp>
      <p:sp>
        <p:nvSpPr>
          <p:cNvPr id="58" name="Rectangle 57">
            <a:extLst>
              <a:ext uri="{FF2B5EF4-FFF2-40B4-BE49-F238E27FC236}">
                <a16:creationId xmlns:a16="http://schemas.microsoft.com/office/drawing/2014/main" id="{EA0D13FC-F691-4AF3-9C6C-BD1ADBA70D41}"/>
              </a:ext>
            </a:extLst>
          </p:cNvPr>
          <p:cNvSpPr>
            <a:spLocks noGrp="1"/>
          </p:cNvSpPr>
          <p:nvPr/>
        </p:nvSpPr>
        <p:spPr>
          <a:xfrm>
            <a:off x="176212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6 objects</a:t>
            </a:r>
          </a:p>
        </p:txBody>
      </p:sp>
      <p:sp>
        <p:nvSpPr>
          <p:cNvPr id="59" name="Rectangle 58">
            <a:extLst>
              <a:ext uri="{FF2B5EF4-FFF2-40B4-BE49-F238E27FC236}">
                <a16:creationId xmlns:a16="http://schemas.microsoft.com/office/drawing/2014/main" id="{2F54F298-DEF7-46C1-8844-117B42E93ECD}"/>
              </a:ext>
            </a:extLst>
          </p:cNvPr>
          <p:cNvSpPr>
            <a:spLocks noGrp="1"/>
          </p:cNvSpPr>
          <p:nvPr/>
        </p:nvSpPr>
        <p:spPr>
          <a:xfrm>
            <a:off x="3619500" y="4210844"/>
            <a:ext cx="1428750" cy="580231"/>
          </a:xfrm>
          <a:prstGeom prst="rect">
            <a:avLst/>
          </a:prstGeom>
          <a:solidFill>
            <a:srgbClr val="0B6386"/>
          </a:solidFill>
          <a:ln w="6668">
            <a:solidFill>
              <a:srgbClr val="FFFFFF"/>
            </a:solidFill>
            <a:prstDash val="solid"/>
          </a:ln>
        </p:spPr>
        <p:txBody>
          <a:bodyPr/>
          <a:lstStyle/>
          <a:p>
            <a:endParaRPr lang="en-US"/>
          </a:p>
        </p:txBody>
      </p:sp>
      <p:sp>
        <p:nvSpPr>
          <p:cNvPr id="60" name="Rectangle 59">
            <a:extLst>
              <a:ext uri="{FF2B5EF4-FFF2-40B4-BE49-F238E27FC236}">
                <a16:creationId xmlns:a16="http://schemas.microsoft.com/office/drawing/2014/main" id="{02CB9295-8E46-47D2-AE46-20BBC5118C90}"/>
              </a:ext>
            </a:extLst>
          </p:cNvPr>
          <p:cNvSpPr>
            <a:spLocks noGrp="1"/>
          </p:cNvSpPr>
          <p:nvPr/>
        </p:nvSpPr>
        <p:spPr>
          <a:xfrm>
            <a:off x="3657600" y="4239419"/>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fruit basket 1.4m</a:t>
            </a:r>
          </a:p>
        </p:txBody>
      </p:sp>
      <p:sp>
        <p:nvSpPr>
          <p:cNvPr id="61" name="Rectangle 60">
            <a:extLst>
              <a:ext uri="{FF2B5EF4-FFF2-40B4-BE49-F238E27FC236}">
                <a16:creationId xmlns:a16="http://schemas.microsoft.com/office/drawing/2014/main" id="{07E86FE9-7BC0-4092-AA1A-48C508D4EC32}"/>
              </a:ext>
            </a:extLst>
          </p:cNvPr>
          <p:cNvSpPr>
            <a:spLocks noGrp="1"/>
          </p:cNvSpPr>
          <p:nvPr/>
        </p:nvSpPr>
        <p:spPr>
          <a:xfrm>
            <a:off x="3619500" y="3898463"/>
            <a:ext cx="1428750" cy="312380"/>
          </a:xfrm>
          <a:prstGeom prst="rect">
            <a:avLst/>
          </a:prstGeom>
          <a:solidFill>
            <a:srgbClr val="1F7A99"/>
          </a:solidFill>
          <a:ln w="6668">
            <a:solidFill>
              <a:srgbClr val="FFFFFF"/>
            </a:solidFill>
            <a:prstDash val="solid"/>
          </a:ln>
        </p:spPr>
        <p:txBody>
          <a:bodyPr/>
          <a:lstStyle/>
          <a:p>
            <a:endParaRPr lang="en-US"/>
          </a:p>
        </p:txBody>
      </p:sp>
      <p:sp>
        <p:nvSpPr>
          <p:cNvPr id="62" name="Rectangle 61">
            <a:extLst>
              <a:ext uri="{FF2B5EF4-FFF2-40B4-BE49-F238E27FC236}">
                <a16:creationId xmlns:a16="http://schemas.microsoft.com/office/drawing/2014/main" id="{C70A58FB-2E2E-4D27-AC35-079D1C057EAA}"/>
              </a:ext>
            </a:extLst>
          </p:cNvPr>
          <p:cNvSpPr>
            <a:spLocks noGrp="1"/>
          </p:cNvSpPr>
          <p:nvPr/>
        </p:nvSpPr>
        <p:spPr>
          <a:xfrm>
            <a:off x="3657600" y="3927038"/>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apple 0.8m</a:t>
            </a:r>
          </a:p>
        </p:txBody>
      </p:sp>
      <p:sp>
        <p:nvSpPr>
          <p:cNvPr id="63" name="Rectangle 62">
            <a:extLst>
              <a:ext uri="{FF2B5EF4-FFF2-40B4-BE49-F238E27FC236}">
                <a16:creationId xmlns:a16="http://schemas.microsoft.com/office/drawing/2014/main" id="{0FCE63AF-57C7-4794-91BF-A214AB72EAF0}"/>
              </a:ext>
            </a:extLst>
          </p:cNvPr>
          <p:cNvSpPr>
            <a:spLocks noGrp="1"/>
          </p:cNvSpPr>
          <p:nvPr/>
        </p:nvSpPr>
        <p:spPr>
          <a:xfrm>
            <a:off x="3619500" y="3612396"/>
            <a:ext cx="1428750" cy="286068"/>
          </a:xfrm>
          <a:prstGeom prst="rect">
            <a:avLst/>
          </a:prstGeom>
          <a:solidFill>
            <a:srgbClr val="2D6A2E"/>
          </a:solidFill>
          <a:ln w="6668">
            <a:solidFill>
              <a:srgbClr val="FFFFFF"/>
            </a:solidFill>
            <a:prstDash val="solid"/>
          </a:ln>
        </p:spPr>
        <p:txBody>
          <a:bodyPr/>
          <a:lstStyle/>
          <a:p>
            <a:endParaRPr lang="en-US"/>
          </a:p>
        </p:txBody>
      </p:sp>
      <p:sp>
        <p:nvSpPr>
          <p:cNvPr id="64" name="Rectangle 63">
            <a:extLst>
              <a:ext uri="{FF2B5EF4-FFF2-40B4-BE49-F238E27FC236}">
                <a16:creationId xmlns:a16="http://schemas.microsoft.com/office/drawing/2014/main" id="{F15BEC31-7B20-4B0A-818B-5505B7FCC038}"/>
              </a:ext>
            </a:extLst>
          </p:cNvPr>
          <p:cNvSpPr>
            <a:spLocks noGrp="1"/>
          </p:cNvSpPr>
          <p:nvPr/>
        </p:nvSpPr>
        <p:spPr>
          <a:xfrm>
            <a:off x="3657600" y="364097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reader 0.7m</a:t>
            </a:r>
          </a:p>
        </p:txBody>
      </p:sp>
      <p:sp>
        <p:nvSpPr>
          <p:cNvPr id="65" name="Rectangle 64">
            <a:extLst>
              <a:ext uri="{FF2B5EF4-FFF2-40B4-BE49-F238E27FC236}">
                <a16:creationId xmlns:a16="http://schemas.microsoft.com/office/drawing/2014/main" id="{72FB7D3E-B886-45A8-B970-25332873E95F}"/>
              </a:ext>
            </a:extLst>
          </p:cNvPr>
          <p:cNvSpPr>
            <a:spLocks noGrp="1"/>
          </p:cNvSpPr>
          <p:nvPr/>
        </p:nvSpPr>
        <p:spPr>
          <a:xfrm>
            <a:off x="3619500" y="3390424"/>
            <a:ext cx="1428750" cy="221972"/>
          </a:xfrm>
          <a:prstGeom prst="rect">
            <a:avLst/>
          </a:prstGeom>
          <a:solidFill>
            <a:srgbClr val="C96B19"/>
          </a:solidFill>
          <a:ln w="6668">
            <a:solidFill>
              <a:srgbClr val="FFFFFF"/>
            </a:solidFill>
            <a:prstDash val="solid"/>
          </a:ln>
        </p:spPr>
        <p:txBody>
          <a:bodyPr/>
          <a:lstStyle/>
          <a:p>
            <a:endParaRPr lang="en-US"/>
          </a:p>
        </p:txBody>
      </p:sp>
      <p:sp>
        <p:nvSpPr>
          <p:cNvPr id="66" name="Rectangle 65">
            <a:extLst>
              <a:ext uri="{FF2B5EF4-FFF2-40B4-BE49-F238E27FC236}">
                <a16:creationId xmlns:a16="http://schemas.microsoft.com/office/drawing/2014/main" id="{BACBA890-3142-4931-8A03-5703376693D3}"/>
              </a:ext>
            </a:extLst>
          </p:cNvPr>
          <p:cNvSpPr>
            <a:spLocks noGrp="1"/>
          </p:cNvSpPr>
          <p:nvPr/>
        </p:nvSpPr>
        <p:spPr>
          <a:xfrm>
            <a:off x="3657600" y="3418999"/>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bag 0.5m</a:t>
            </a:r>
          </a:p>
        </p:txBody>
      </p:sp>
      <p:sp>
        <p:nvSpPr>
          <p:cNvPr id="67" name="Rectangle 66">
            <a:extLst>
              <a:ext uri="{FF2B5EF4-FFF2-40B4-BE49-F238E27FC236}">
                <a16:creationId xmlns:a16="http://schemas.microsoft.com/office/drawing/2014/main" id="{D12BDED6-F204-4EF3-A076-E94FC860DCA5}"/>
              </a:ext>
            </a:extLst>
          </p:cNvPr>
          <p:cNvSpPr>
            <a:spLocks noGrp="1"/>
          </p:cNvSpPr>
          <p:nvPr/>
        </p:nvSpPr>
        <p:spPr>
          <a:xfrm>
            <a:off x="3619500" y="3198812"/>
            <a:ext cx="1428750" cy="191611"/>
          </a:xfrm>
          <a:prstGeom prst="rect">
            <a:avLst/>
          </a:prstGeom>
          <a:solidFill>
            <a:srgbClr val="748091"/>
          </a:solidFill>
          <a:ln w="6668">
            <a:solidFill>
              <a:srgbClr val="FFFFFF"/>
            </a:solidFill>
            <a:prstDash val="solid"/>
          </a:ln>
        </p:spPr>
        <p:txBody>
          <a:bodyPr/>
          <a:lstStyle/>
          <a:p>
            <a:endParaRPr lang="en-US"/>
          </a:p>
        </p:txBody>
      </p:sp>
      <p:sp>
        <p:nvSpPr>
          <p:cNvPr id="68" name="Rectangle 67">
            <a:extLst>
              <a:ext uri="{FF2B5EF4-FFF2-40B4-BE49-F238E27FC236}">
                <a16:creationId xmlns:a16="http://schemas.microsoft.com/office/drawing/2014/main" id="{2C1A1CB6-D02E-4DE4-8C7C-1900330710B4}"/>
              </a:ext>
            </a:extLst>
          </p:cNvPr>
          <p:cNvSpPr>
            <a:spLocks noGrp="1"/>
          </p:cNvSpPr>
          <p:nvPr/>
        </p:nvSpPr>
        <p:spPr>
          <a:xfrm>
            <a:off x="3648075" y="3208337"/>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vendor</a:t>
            </a:r>
          </a:p>
        </p:txBody>
      </p:sp>
      <p:sp>
        <p:nvSpPr>
          <p:cNvPr id="69" name="Rectangle 68">
            <a:extLst>
              <a:ext uri="{FF2B5EF4-FFF2-40B4-BE49-F238E27FC236}">
                <a16:creationId xmlns:a16="http://schemas.microsoft.com/office/drawing/2014/main" id="{40714813-3E68-4912-B48E-EA08225FF18E}"/>
              </a:ext>
            </a:extLst>
          </p:cNvPr>
          <p:cNvSpPr>
            <a:spLocks noGrp="1"/>
          </p:cNvSpPr>
          <p:nvPr/>
        </p:nvSpPr>
        <p:spPr>
          <a:xfrm>
            <a:off x="3619500" y="2970212"/>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3.9m</a:t>
            </a:r>
          </a:p>
        </p:txBody>
      </p:sp>
      <p:sp>
        <p:nvSpPr>
          <p:cNvPr id="70" name="Rectangle 69">
            <a:extLst>
              <a:ext uri="{FF2B5EF4-FFF2-40B4-BE49-F238E27FC236}">
                <a16:creationId xmlns:a16="http://schemas.microsoft.com/office/drawing/2014/main" id="{3211C228-0E2C-4AB0-8B3A-C17BEA9255B1}"/>
              </a:ext>
            </a:extLst>
          </p:cNvPr>
          <p:cNvSpPr>
            <a:spLocks noGrp="1"/>
          </p:cNvSpPr>
          <p:nvPr/>
        </p:nvSpPr>
        <p:spPr>
          <a:xfrm>
            <a:off x="3619500"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Market</a:t>
            </a:r>
          </a:p>
        </p:txBody>
      </p:sp>
      <p:sp>
        <p:nvSpPr>
          <p:cNvPr id="71" name="Rectangle 70">
            <a:extLst>
              <a:ext uri="{FF2B5EF4-FFF2-40B4-BE49-F238E27FC236}">
                <a16:creationId xmlns:a16="http://schemas.microsoft.com/office/drawing/2014/main" id="{78EC76D9-DCAF-4A32-BEE4-D6ACA8C8557E}"/>
              </a:ext>
            </a:extLst>
          </p:cNvPr>
          <p:cNvSpPr>
            <a:spLocks noGrp="1"/>
          </p:cNvSpPr>
          <p:nvPr/>
        </p:nvSpPr>
        <p:spPr>
          <a:xfrm>
            <a:off x="3619500"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5 objects</a:t>
            </a:r>
          </a:p>
        </p:txBody>
      </p:sp>
      <p:sp>
        <p:nvSpPr>
          <p:cNvPr id="72" name="Rectangle 71">
            <a:extLst>
              <a:ext uri="{FF2B5EF4-FFF2-40B4-BE49-F238E27FC236}">
                <a16:creationId xmlns:a16="http://schemas.microsoft.com/office/drawing/2014/main" id="{95F46E63-BE47-4061-B05A-706CE2A922C0}"/>
              </a:ext>
            </a:extLst>
          </p:cNvPr>
          <p:cNvSpPr>
            <a:spLocks noGrp="1"/>
          </p:cNvSpPr>
          <p:nvPr/>
        </p:nvSpPr>
        <p:spPr>
          <a:xfrm>
            <a:off x="5476875" y="4389636"/>
            <a:ext cx="1428750" cy="401439"/>
          </a:xfrm>
          <a:prstGeom prst="rect">
            <a:avLst/>
          </a:prstGeom>
          <a:solidFill>
            <a:srgbClr val="0B6386"/>
          </a:solidFill>
          <a:ln w="6668">
            <a:solidFill>
              <a:srgbClr val="FFFFFF"/>
            </a:solidFill>
            <a:prstDash val="solid"/>
          </a:ln>
        </p:spPr>
        <p:txBody>
          <a:bodyPr/>
          <a:lstStyle/>
          <a:p>
            <a:endParaRPr lang="en-US"/>
          </a:p>
        </p:txBody>
      </p:sp>
      <p:sp>
        <p:nvSpPr>
          <p:cNvPr id="73" name="Rectangle 72">
            <a:extLst>
              <a:ext uri="{FF2B5EF4-FFF2-40B4-BE49-F238E27FC236}">
                <a16:creationId xmlns:a16="http://schemas.microsoft.com/office/drawing/2014/main" id="{F0170FDB-689D-41AA-B583-51906702786B}"/>
              </a:ext>
            </a:extLst>
          </p:cNvPr>
          <p:cNvSpPr>
            <a:spLocks noGrp="1"/>
          </p:cNvSpPr>
          <p:nvPr/>
        </p:nvSpPr>
        <p:spPr>
          <a:xfrm>
            <a:off x="5514975" y="441821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basin 1.0m</a:t>
            </a:r>
          </a:p>
        </p:txBody>
      </p:sp>
      <p:sp>
        <p:nvSpPr>
          <p:cNvPr id="74" name="Rectangle 73">
            <a:extLst>
              <a:ext uri="{FF2B5EF4-FFF2-40B4-BE49-F238E27FC236}">
                <a16:creationId xmlns:a16="http://schemas.microsoft.com/office/drawing/2014/main" id="{F836C24C-218A-4CCD-AC30-E1E91541C1F4}"/>
              </a:ext>
            </a:extLst>
          </p:cNvPr>
          <p:cNvSpPr>
            <a:spLocks noGrp="1"/>
          </p:cNvSpPr>
          <p:nvPr/>
        </p:nvSpPr>
        <p:spPr>
          <a:xfrm>
            <a:off x="5476875" y="4011811"/>
            <a:ext cx="1428750" cy="377825"/>
          </a:xfrm>
          <a:prstGeom prst="rect">
            <a:avLst/>
          </a:prstGeom>
          <a:solidFill>
            <a:srgbClr val="1F7A99"/>
          </a:solidFill>
          <a:ln w="6668">
            <a:solidFill>
              <a:srgbClr val="FFFFFF"/>
            </a:solidFill>
            <a:prstDash val="solid"/>
          </a:ln>
        </p:spPr>
        <p:txBody>
          <a:bodyPr/>
          <a:lstStyle/>
          <a:p>
            <a:endParaRPr lang="en-US"/>
          </a:p>
        </p:txBody>
      </p:sp>
      <p:sp>
        <p:nvSpPr>
          <p:cNvPr id="75" name="Rectangle 74">
            <a:extLst>
              <a:ext uri="{FF2B5EF4-FFF2-40B4-BE49-F238E27FC236}">
                <a16:creationId xmlns:a16="http://schemas.microsoft.com/office/drawing/2014/main" id="{41D30070-C26C-41B3-B9A5-F004A96F8FB6}"/>
              </a:ext>
            </a:extLst>
          </p:cNvPr>
          <p:cNvSpPr>
            <a:spLocks noGrp="1"/>
          </p:cNvSpPr>
          <p:nvPr/>
        </p:nvSpPr>
        <p:spPr>
          <a:xfrm>
            <a:off x="5514975" y="4040386"/>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box 0.9m</a:t>
            </a:r>
          </a:p>
        </p:txBody>
      </p:sp>
      <p:sp>
        <p:nvSpPr>
          <p:cNvPr id="76" name="Rectangle 75">
            <a:extLst>
              <a:ext uri="{FF2B5EF4-FFF2-40B4-BE49-F238E27FC236}">
                <a16:creationId xmlns:a16="http://schemas.microsoft.com/office/drawing/2014/main" id="{8D00A572-5CB4-4E19-93A2-926FFF2B1852}"/>
              </a:ext>
            </a:extLst>
          </p:cNvPr>
          <p:cNvSpPr>
            <a:spLocks noGrp="1"/>
          </p:cNvSpPr>
          <p:nvPr/>
        </p:nvSpPr>
        <p:spPr>
          <a:xfrm>
            <a:off x="5476875" y="3823573"/>
            <a:ext cx="1428750" cy="188238"/>
          </a:xfrm>
          <a:prstGeom prst="rect">
            <a:avLst/>
          </a:prstGeom>
          <a:solidFill>
            <a:srgbClr val="2D6A2E"/>
          </a:solidFill>
          <a:ln w="6668">
            <a:solidFill>
              <a:srgbClr val="FFFFFF"/>
            </a:solidFill>
            <a:prstDash val="solid"/>
          </a:ln>
        </p:spPr>
        <p:txBody>
          <a:bodyPr/>
          <a:lstStyle/>
          <a:p>
            <a:endParaRPr lang="en-US"/>
          </a:p>
        </p:txBody>
      </p:sp>
      <p:sp>
        <p:nvSpPr>
          <p:cNvPr id="77" name="Rectangle 76">
            <a:extLst>
              <a:ext uri="{FF2B5EF4-FFF2-40B4-BE49-F238E27FC236}">
                <a16:creationId xmlns:a16="http://schemas.microsoft.com/office/drawing/2014/main" id="{D22EA88D-CDA6-429C-A977-3A1274853B41}"/>
              </a:ext>
            </a:extLst>
          </p:cNvPr>
          <p:cNvSpPr>
            <a:spLocks noGrp="1"/>
          </p:cNvSpPr>
          <p:nvPr/>
        </p:nvSpPr>
        <p:spPr>
          <a:xfrm>
            <a:off x="5505450" y="3833098"/>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tray</a:t>
            </a:r>
          </a:p>
        </p:txBody>
      </p:sp>
      <p:sp>
        <p:nvSpPr>
          <p:cNvPr id="78" name="Rectangle 77">
            <a:extLst>
              <a:ext uri="{FF2B5EF4-FFF2-40B4-BE49-F238E27FC236}">
                <a16:creationId xmlns:a16="http://schemas.microsoft.com/office/drawing/2014/main" id="{F31F583B-A84C-4E8B-85E9-0B6E9AD7783F}"/>
              </a:ext>
            </a:extLst>
          </p:cNvPr>
          <p:cNvSpPr>
            <a:spLocks noGrp="1"/>
          </p:cNvSpPr>
          <p:nvPr/>
        </p:nvSpPr>
        <p:spPr>
          <a:xfrm>
            <a:off x="5476875" y="3665696"/>
            <a:ext cx="1428750" cy="157877"/>
          </a:xfrm>
          <a:prstGeom prst="rect">
            <a:avLst/>
          </a:prstGeom>
          <a:solidFill>
            <a:srgbClr val="C96B19"/>
          </a:solidFill>
          <a:ln w="6668">
            <a:solidFill>
              <a:srgbClr val="FFFFFF"/>
            </a:solidFill>
            <a:prstDash val="solid"/>
          </a:ln>
        </p:spPr>
        <p:txBody>
          <a:bodyPr/>
          <a:lstStyle/>
          <a:p>
            <a:endParaRPr lang="en-US"/>
          </a:p>
        </p:txBody>
      </p:sp>
      <p:sp>
        <p:nvSpPr>
          <p:cNvPr id="79" name="Rectangle 78">
            <a:extLst>
              <a:ext uri="{FF2B5EF4-FFF2-40B4-BE49-F238E27FC236}">
                <a16:creationId xmlns:a16="http://schemas.microsoft.com/office/drawing/2014/main" id="{BB78B546-3821-47B2-8788-3DE9103CA210}"/>
              </a:ext>
            </a:extLst>
          </p:cNvPr>
          <p:cNvSpPr>
            <a:spLocks noGrp="1"/>
          </p:cNvSpPr>
          <p:nvPr/>
        </p:nvSpPr>
        <p:spPr>
          <a:xfrm>
            <a:off x="5505450" y="3675221"/>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ladle</a:t>
            </a:r>
          </a:p>
        </p:txBody>
      </p:sp>
      <p:sp>
        <p:nvSpPr>
          <p:cNvPr id="80" name="Rectangle 79">
            <a:extLst>
              <a:ext uri="{FF2B5EF4-FFF2-40B4-BE49-F238E27FC236}">
                <a16:creationId xmlns:a16="http://schemas.microsoft.com/office/drawing/2014/main" id="{701BC476-289A-4CD0-88BA-986FBB1A9366}"/>
              </a:ext>
            </a:extLst>
          </p:cNvPr>
          <p:cNvSpPr>
            <a:spLocks noGrp="1"/>
          </p:cNvSpPr>
          <p:nvPr/>
        </p:nvSpPr>
        <p:spPr>
          <a:xfrm>
            <a:off x="5476875" y="3437096"/>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2.8m</a:t>
            </a:r>
          </a:p>
        </p:txBody>
      </p:sp>
      <p:sp>
        <p:nvSpPr>
          <p:cNvPr id="81" name="Rectangle 80">
            <a:extLst>
              <a:ext uri="{FF2B5EF4-FFF2-40B4-BE49-F238E27FC236}">
                <a16:creationId xmlns:a16="http://schemas.microsoft.com/office/drawing/2014/main" id="{C50CDF5A-CD10-4932-ABB7-CCD612AFCE45}"/>
              </a:ext>
            </a:extLst>
          </p:cNvPr>
          <p:cNvSpPr>
            <a:spLocks noGrp="1"/>
          </p:cNvSpPr>
          <p:nvPr/>
        </p:nvSpPr>
        <p:spPr>
          <a:xfrm>
            <a:off x="547687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Shrine</a:t>
            </a:r>
          </a:p>
        </p:txBody>
      </p:sp>
      <p:sp>
        <p:nvSpPr>
          <p:cNvPr id="82" name="Rectangle 81">
            <a:extLst>
              <a:ext uri="{FF2B5EF4-FFF2-40B4-BE49-F238E27FC236}">
                <a16:creationId xmlns:a16="http://schemas.microsoft.com/office/drawing/2014/main" id="{CC3FC52B-9870-4877-9358-8F60357F4FFB}"/>
              </a:ext>
            </a:extLst>
          </p:cNvPr>
          <p:cNvSpPr>
            <a:spLocks noGrp="1"/>
          </p:cNvSpPr>
          <p:nvPr/>
        </p:nvSpPr>
        <p:spPr>
          <a:xfrm>
            <a:off x="547687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4 objects</a:t>
            </a:r>
          </a:p>
        </p:txBody>
      </p:sp>
      <p:sp>
        <p:nvSpPr>
          <p:cNvPr id="83" name="Rectangle 82">
            <a:extLst>
              <a:ext uri="{FF2B5EF4-FFF2-40B4-BE49-F238E27FC236}">
                <a16:creationId xmlns:a16="http://schemas.microsoft.com/office/drawing/2014/main" id="{8FCF628E-1F8C-4CFD-9429-64D810632EC7}"/>
              </a:ext>
            </a:extLst>
          </p:cNvPr>
          <p:cNvSpPr>
            <a:spLocks noGrp="1"/>
          </p:cNvSpPr>
          <p:nvPr/>
        </p:nvSpPr>
        <p:spPr>
          <a:xfrm>
            <a:off x="7334250" y="4499610"/>
            <a:ext cx="1428750" cy="291465"/>
          </a:xfrm>
          <a:prstGeom prst="rect">
            <a:avLst/>
          </a:prstGeom>
          <a:solidFill>
            <a:srgbClr val="0B6386"/>
          </a:solidFill>
          <a:ln w="6668">
            <a:solidFill>
              <a:srgbClr val="FFFFFF"/>
            </a:solidFill>
            <a:prstDash val="solid"/>
          </a:ln>
        </p:spPr>
        <p:txBody>
          <a:bodyPr/>
          <a:lstStyle/>
          <a:p>
            <a:endParaRPr lang="en-US"/>
          </a:p>
        </p:txBody>
      </p:sp>
      <p:sp>
        <p:nvSpPr>
          <p:cNvPr id="84" name="Rectangle 83">
            <a:extLst>
              <a:ext uri="{FF2B5EF4-FFF2-40B4-BE49-F238E27FC236}">
                <a16:creationId xmlns:a16="http://schemas.microsoft.com/office/drawing/2014/main" id="{CCEF96A0-912F-4584-9E48-18475BC29BCA}"/>
              </a:ext>
            </a:extLst>
          </p:cNvPr>
          <p:cNvSpPr>
            <a:spLocks noGrp="1"/>
          </p:cNvSpPr>
          <p:nvPr/>
        </p:nvSpPr>
        <p:spPr>
          <a:xfrm>
            <a:off x="7372350" y="4528185"/>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machine 0.7m</a:t>
            </a:r>
          </a:p>
        </p:txBody>
      </p:sp>
      <p:sp>
        <p:nvSpPr>
          <p:cNvPr id="85" name="Rectangle 84">
            <a:extLst>
              <a:ext uri="{FF2B5EF4-FFF2-40B4-BE49-F238E27FC236}">
                <a16:creationId xmlns:a16="http://schemas.microsoft.com/office/drawing/2014/main" id="{C9074DF4-450B-444A-AAD1-5E1685553961}"/>
              </a:ext>
            </a:extLst>
          </p:cNvPr>
          <p:cNvSpPr>
            <a:spLocks noGrp="1"/>
          </p:cNvSpPr>
          <p:nvPr/>
        </p:nvSpPr>
        <p:spPr>
          <a:xfrm>
            <a:off x="7334250" y="4254698"/>
            <a:ext cx="1428750" cy="244912"/>
          </a:xfrm>
          <a:prstGeom prst="rect">
            <a:avLst/>
          </a:prstGeom>
          <a:solidFill>
            <a:srgbClr val="1F7A99"/>
          </a:solidFill>
          <a:ln w="6668">
            <a:solidFill>
              <a:srgbClr val="FFFFFF"/>
            </a:solidFill>
            <a:prstDash val="solid"/>
          </a:ln>
        </p:spPr>
        <p:txBody>
          <a:bodyPr/>
          <a:lstStyle/>
          <a:p>
            <a:endParaRPr lang="en-US"/>
          </a:p>
        </p:txBody>
      </p:sp>
      <p:sp>
        <p:nvSpPr>
          <p:cNvPr id="86" name="Rectangle 85">
            <a:extLst>
              <a:ext uri="{FF2B5EF4-FFF2-40B4-BE49-F238E27FC236}">
                <a16:creationId xmlns:a16="http://schemas.microsoft.com/office/drawing/2014/main" id="{A86A1C7E-DABD-4F57-8891-7D91E0D6D9FC}"/>
              </a:ext>
            </a:extLst>
          </p:cNvPr>
          <p:cNvSpPr>
            <a:spLocks noGrp="1"/>
          </p:cNvSpPr>
          <p:nvPr/>
        </p:nvSpPr>
        <p:spPr>
          <a:xfrm>
            <a:off x="7372350" y="428327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map 0.6m</a:t>
            </a:r>
          </a:p>
        </p:txBody>
      </p:sp>
      <p:sp>
        <p:nvSpPr>
          <p:cNvPr id="87" name="Rectangle 86">
            <a:extLst>
              <a:ext uri="{FF2B5EF4-FFF2-40B4-BE49-F238E27FC236}">
                <a16:creationId xmlns:a16="http://schemas.microsoft.com/office/drawing/2014/main" id="{96C766B4-C784-4EBA-9C7F-35D7A701D742}"/>
              </a:ext>
            </a:extLst>
          </p:cNvPr>
          <p:cNvSpPr>
            <a:spLocks noGrp="1"/>
          </p:cNvSpPr>
          <p:nvPr/>
        </p:nvSpPr>
        <p:spPr>
          <a:xfrm>
            <a:off x="7334250" y="4060388"/>
            <a:ext cx="1428750" cy="194310"/>
          </a:xfrm>
          <a:prstGeom prst="rect">
            <a:avLst/>
          </a:prstGeom>
          <a:solidFill>
            <a:srgbClr val="2D6A2E"/>
          </a:solidFill>
          <a:ln w="6668">
            <a:solidFill>
              <a:srgbClr val="FFFFFF"/>
            </a:solidFill>
            <a:prstDash val="solid"/>
          </a:ln>
        </p:spPr>
        <p:txBody>
          <a:bodyPr/>
          <a:lstStyle/>
          <a:p>
            <a:endParaRPr lang="en-US"/>
          </a:p>
        </p:txBody>
      </p:sp>
      <p:sp>
        <p:nvSpPr>
          <p:cNvPr id="88" name="Rectangle 87">
            <a:extLst>
              <a:ext uri="{FF2B5EF4-FFF2-40B4-BE49-F238E27FC236}">
                <a16:creationId xmlns:a16="http://schemas.microsoft.com/office/drawing/2014/main" id="{B2BE5F3C-3663-4183-8E7C-101C580CBF09}"/>
              </a:ext>
            </a:extLst>
          </p:cNvPr>
          <p:cNvSpPr>
            <a:spLocks noGrp="1"/>
          </p:cNvSpPr>
          <p:nvPr/>
        </p:nvSpPr>
        <p:spPr>
          <a:xfrm>
            <a:off x="7362825" y="4069913"/>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attendant</a:t>
            </a:r>
          </a:p>
        </p:txBody>
      </p:sp>
      <p:sp>
        <p:nvSpPr>
          <p:cNvPr id="89" name="Rectangle 88">
            <a:extLst>
              <a:ext uri="{FF2B5EF4-FFF2-40B4-BE49-F238E27FC236}">
                <a16:creationId xmlns:a16="http://schemas.microsoft.com/office/drawing/2014/main" id="{0BDF4BD8-EBBC-4A93-B786-8E772B5DA414}"/>
              </a:ext>
            </a:extLst>
          </p:cNvPr>
          <p:cNvSpPr>
            <a:spLocks noGrp="1"/>
          </p:cNvSpPr>
          <p:nvPr/>
        </p:nvSpPr>
        <p:spPr>
          <a:xfrm>
            <a:off x="7334250" y="3831788"/>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1.8m</a:t>
            </a:r>
          </a:p>
        </p:txBody>
      </p:sp>
      <p:sp>
        <p:nvSpPr>
          <p:cNvPr id="90" name="Rectangle 89">
            <a:extLst>
              <a:ext uri="{FF2B5EF4-FFF2-40B4-BE49-F238E27FC236}">
                <a16:creationId xmlns:a16="http://schemas.microsoft.com/office/drawing/2014/main" id="{1C008C2A-9725-4D2B-992F-4EEB91218586}"/>
              </a:ext>
            </a:extLst>
          </p:cNvPr>
          <p:cNvSpPr>
            <a:spLocks noGrp="1"/>
          </p:cNvSpPr>
          <p:nvPr/>
        </p:nvSpPr>
        <p:spPr>
          <a:xfrm>
            <a:off x="7334250"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Station</a:t>
            </a:r>
          </a:p>
        </p:txBody>
      </p:sp>
      <p:sp>
        <p:nvSpPr>
          <p:cNvPr id="91" name="Rectangle 90">
            <a:extLst>
              <a:ext uri="{FF2B5EF4-FFF2-40B4-BE49-F238E27FC236}">
                <a16:creationId xmlns:a16="http://schemas.microsoft.com/office/drawing/2014/main" id="{51A0E29A-C429-45BE-B291-35E3060EDFAC}"/>
              </a:ext>
            </a:extLst>
          </p:cNvPr>
          <p:cNvSpPr>
            <a:spLocks noGrp="1"/>
          </p:cNvSpPr>
          <p:nvPr/>
        </p:nvSpPr>
        <p:spPr>
          <a:xfrm>
            <a:off x="7334250"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3 objects</a:t>
            </a:r>
          </a:p>
        </p:txBody>
      </p:sp>
      <p:sp>
        <p:nvSpPr>
          <p:cNvPr id="92" name="Rectangle 91">
            <a:extLst>
              <a:ext uri="{FF2B5EF4-FFF2-40B4-BE49-F238E27FC236}">
                <a16:creationId xmlns:a16="http://schemas.microsoft.com/office/drawing/2014/main" id="{0708443E-9786-4B0E-A322-191B486EEB9F}"/>
              </a:ext>
            </a:extLst>
          </p:cNvPr>
          <p:cNvSpPr>
            <a:spLocks noGrp="1"/>
          </p:cNvSpPr>
          <p:nvPr/>
        </p:nvSpPr>
        <p:spPr>
          <a:xfrm>
            <a:off x="9191625" y="4578548"/>
            <a:ext cx="1428750" cy="212527"/>
          </a:xfrm>
          <a:prstGeom prst="rect">
            <a:avLst/>
          </a:prstGeom>
          <a:solidFill>
            <a:srgbClr val="0B6386"/>
          </a:solidFill>
          <a:ln w="6668">
            <a:solidFill>
              <a:srgbClr val="FFFFFF"/>
            </a:solidFill>
            <a:prstDash val="solid"/>
          </a:ln>
        </p:spPr>
        <p:txBody>
          <a:bodyPr/>
          <a:lstStyle/>
          <a:p>
            <a:endParaRPr lang="en-US"/>
          </a:p>
        </p:txBody>
      </p:sp>
      <p:sp>
        <p:nvSpPr>
          <p:cNvPr id="93" name="Rectangle 92">
            <a:extLst>
              <a:ext uri="{FF2B5EF4-FFF2-40B4-BE49-F238E27FC236}">
                <a16:creationId xmlns:a16="http://schemas.microsoft.com/office/drawing/2014/main" id="{EF1C8E96-ECFA-4B0A-8600-32BFC4857E9D}"/>
              </a:ext>
            </a:extLst>
          </p:cNvPr>
          <p:cNvSpPr>
            <a:spLocks noGrp="1"/>
          </p:cNvSpPr>
          <p:nvPr/>
        </p:nvSpPr>
        <p:spPr>
          <a:xfrm>
            <a:off x="9229725" y="460712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jacket 0.5m</a:t>
            </a:r>
          </a:p>
        </p:txBody>
      </p:sp>
      <p:sp>
        <p:nvSpPr>
          <p:cNvPr id="94" name="Rectangle 93">
            <a:extLst>
              <a:ext uri="{FF2B5EF4-FFF2-40B4-BE49-F238E27FC236}">
                <a16:creationId xmlns:a16="http://schemas.microsoft.com/office/drawing/2014/main" id="{A6CA558C-7C02-4B3C-BECE-82DD800C6CBB}"/>
              </a:ext>
            </a:extLst>
          </p:cNvPr>
          <p:cNvSpPr>
            <a:spLocks noGrp="1"/>
          </p:cNvSpPr>
          <p:nvPr/>
        </p:nvSpPr>
        <p:spPr>
          <a:xfrm>
            <a:off x="9191625" y="4424045"/>
            <a:ext cx="1428750" cy="154503"/>
          </a:xfrm>
          <a:prstGeom prst="rect">
            <a:avLst/>
          </a:prstGeom>
          <a:solidFill>
            <a:srgbClr val="1F7A99"/>
          </a:solidFill>
          <a:ln w="6668">
            <a:solidFill>
              <a:srgbClr val="FFFFFF"/>
            </a:solidFill>
            <a:prstDash val="solid"/>
          </a:ln>
        </p:spPr>
        <p:txBody>
          <a:bodyPr/>
          <a:lstStyle/>
          <a:p>
            <a:endParaRPr lang="en-US"/>
          </a:p>
        </p:txBody>
      </p:sp>
      <p:sp>
        <p:nvSpPr>
          <p:cNvPr id="95" name="Rectangle 94">
            <a:extLst>
              <a:ext uri="{FF2B5EF4-FFF2-40B4-BE49-F238E27FC236}">
                <a16:creationId xmlns:a16="http://schemas.microsoft.com/office/drawing/2014/main" id="{A380C71F-976E-4F86-98F2-5ABA75E55D35}"/>
              </a:ext>
            </a:extLst>
          </p:cNvPr>
          <p:cNvSpPr>
            <a:spLocks noGrp="1"/>
          </p:cNvSpPr>
          <p:nvPr/>
        </p:nvSpPr>
        <p:spPr>
          <a:xfrm>
            <a:off x="9220200" y="4433570"/>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mirror</a:t>
            </a:r>
          </a:p>
        </p:txBody>
      </p:sp>
      <p:sp>
        <p:nvSpPr>
          <p:cNvPr id="96" name="Rectangle 95">
            <a:extLst>
              <a:ext uri="{FF2B5EF4-FFF2-40B4-BE49-F238E27FC236}">
                <a16:creationId xmlns:a16="http://schemas.microsoft.com/office/drawing/2014/main" id="{26FF5F89-EF9D-499F-A828-27ED01E86534}"/>
              </a:ext>
            </a:extLst>
          </p:cNvPr>
          <p:cNvSpPr>
            <a:spLocks noGrp="1"/>
          </p:cNvSpPr>
          <p:nvPr/>
        </p:nvSpPr>
        <p:spPr>
          <a:xfrm>
            <a:off x="9191625" y="4276288"/>
            <a:ext cx="1428750" cy="147757"/>
          </a:xfrm>
          <a:prstGeom prst="rect">
            <a:avLst/>
          </a:prstGeom>
          <a:solidFill>
            <a:srgbClr val="2D6A2E"/>
          </a:solidFill>
          <a:ln w="6668">
            <a:solidFill>
              <a:srgbClr val="FFFFFF"/>
            </a:solidFill>
            <a:prstDash val="solid"/>
          </a:ln>
        </p:spPr>
        <p:txBody>
          <a:bodyPr/>
          <a:lstStyle/>
          <a:p>
            <a:endParaRPr lang="en-US"/>
          </a:p>
        </p:txBody>
      </p:sp>
      <p:sp>
        <p:nvSpPr>
          <p:cNvPr id="97" name="Rectangle 96">
            <a:extLst>
              <a:ext uri="{FF2B5EF4-FFF2-40B4-BE49-F238E27FC236}">
                <a16:creationId xmlns:a16="http://schemas.microsoft.com/office/drawing/2014/main" id="{6248615B-4A2E-4BA3-B96F-6872A3C991B4}"/>
              </a:ext>
            </a:extLst>
          </p:cNvPr>
          <p:cNvSpPr>
            <a:spLocks noGrp="1"/>
          </p:cNvSpPr>
          <p:nvPr/>
        </p:nvSpPr>
        <p:spPr>
          <a:xfrm>
            <a:off x="9220200" y="4285813"/>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hook</a:t>
            </a:r>
          </a:p>
        </p:txBody>
      </p:sp>
      <p:sp>
        <p:nvSpPr>
          <p:cNvPr id="98" name="Rectangle 97">
            <a:extLst>
              <a:ext uri="{FF2B5EF4-FFF2-40B4-BE49-F238E27FC236}">
                <a16:creationId xmlns:a16="http://schemas.microsoft.com/office/drawing/2014/main" id="{02470698-29F1-40AD-B03B-FAEBBD2BB230}"/>
              </a:ext>
            </a:extLst>
          </p:cNvPr>
          <p:cNvSpPr>
            <a:spLocks noGrp="1"/>
          </p:cNvSpPr>
          <p:nvPr/>
        </p:nvSpPr>
        <p:spPr>
          <a:xfrm>
            <a:off x="9191625" y="4047688"/>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1.3m</a:t>
            </a:r>
          </a:p>
        </p:txBody>
      </p:sp>
      <p:sp>
        <p:nvSpPr>
          <p:cNvPr id="99" name="Rectangle 98">
            <a:extLst>
              <a:ext uri="{FF2B5EF4-FFF2-40B4-BE49-F238E27FC236}">
                <a16:creationId xmlns:a16="http://schemas.microsoft.com/office/drawing/2014/main" id="{29D06CA8-5108-4D2E-83A4-BE5F6F408E38}"/>
              </a:ext>
            </a:extLst>
          </p:cNvPr>
          <p:cNvSpPr>
            <a:spLocks noGrp="1"/>
          </p:cNvSpPr>
          <p:nvPr/>
        </p:nvSpPr>
        <p:spPr>
          <a:xfrm>
            <a:off x="919162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Try-on</a:t>
            </a:r>
          </a:p>
        </p:txBody>
      </p:sp>
      <p:sp>
        <p:nvSpPr>
          <p:cNvPr id="100" name="Rectangle 99">
            <a:extLst>
              <a:ext uri="{FF2B5EF4-FFF2-40B4-BE49-F238E27FC236}">
                <a16:creationId xmlns:a16="http://schemas.microsoft.com/office/drawing/2014/main" id="{450098F6-7E2F-4146-8847-494A99F5C72A}"/>
              </a:ext>
            </a:extLst>
          </p:cNvPr>
          <p:cNvSpPr>
            <a:spLocks noGrp="1"/>
          </p:cNvSpPr>
          <p:nvPr/>
        </p:nvSpPr>
        <p:spPr>
          <a:xfrm>
            <a:off x="919162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3 objects</a:t>
            </a:r>
          </a:p>
        </p:txBody>
      </p:sp>
      <p:sp>
        <p:nvSpPr>
          <p:cNvPr id="101" name="Rectangle 100">
            <a:extLst>
              <a:ext uri="{FF2B5EF4-FFF2-40B4-BE49-F238E27FC236}">
                <a16:creationId xmlns:a16="http://schemas.microsoft.com/office/drawing/2014/main" id="{1CCEE173-38EC-435A-9470-66EF822EFF4F}"/>
              </a:ext>
            </a:extLst>
          </p:cNvPr>
          <p:cNvSpPr>
            <a:spLocks noGrp="1"/>
          </p:cNvSpPr>
          <p:nvPr/>
        </p:nvSpPr>
        <p:spPr>
          <a:xfrm>
            <a:off x="1333500" y="5238750"/>
            <a:ext cx="971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667085"/>
                </a:solidFill>
                <a:latin typeface="Aptos"/>
                <a:ea typeface="Aptos"/>
                <a:cs typeface="Aptos"/>
              </a:defRPr>
            </a:pPr>
            <a:r>
              <a:rPr sz="1050" b="0">
                <a:solidFill>
                  <a:srgbClr val="667085"/>
                </a:solidFill>
                <a:latin typeface="Aptos"/>
                <a:ea typeface="Aptos"/>
                <a:cs typeface="Aptos"/>
              </a:rPr>
              <a:t>The app export captures planning time; this chart reconstructs the expensive visual-realization stage from SAM3D output files.</a:t>
            </a:r>
          </a:p>
        </p:txBody>
      </p:sp>
    </p:spTree>
    <p:extLst>
      <p:ext uri="{BB962C8B-B14F-4D97-AF65-F5344CB8AC3E}">
        <p14:creationId xmlns:p14="http://schemas.microsoft.com/office/powerpoint/2010/main" val="117168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90">
            <a:extLst>
              <a:ext uri="{FF2B5EF4-FFF2-40B4-BE49-F238E27FC236}">
                <a16:creationId xmlns:a16="http://schemas.microsoft.com/office/drawing/2014/main" id="{5CDB57CA-EA8C-4AFD-AC51-0A01D4FD79B9}"/>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en-US"/>
          </a:p>
        </p:txBody>
      </p:sp>
      <p:sp>
        <p:nvSpPr>
          <p:cNvPr id="2" name="Oval 1">
            <a:extLst>
              <a:ext uri="{FF2B5EF4-FFF2-40B4-BE49-F238E27FC236}">
                <a16:creationId xmlns:a16="http://schemas.microsoft.com/office/drawing/2014/main" id="{9062F68F-D590-4504-940A-63F5FC2C1515}"/>
              </a:ext>
            </a:extLst>
          </p:cNvPr>
          <p:cNvSpPr>
            <a:spLocks noGrp="1"/>
          </p:cNvSpPr>
          <p:nvPr/>
        </p:nvSpPr>
        <p:spPr>
          <a:xfrm>
            <a:off x="495300" y="466725"/>
            <a:ext cx="552450" cy="552450"/>
          </a:xfrm>
          <a:prstGeom prst="ellipse">
            <a:avLst/>
          </a:prstGeom>
          <a:solidFill>
            <a:srgbClr val="075F80"/>
          </a:solidFill>
          <a:ln w="0">
            <a:solidFill>
              <a:srgbClr val="075F80"/>
            </a:solidFill>
            <a:prstDash val="solid"/>
          </a:ln>
        </p:spPr>
        <p:txBody>
          <a:bodyPr/>
          <a:lstStyle/>
          <a:p>
            <a:endParaRPr lang="en-US"/>
          </a:p>
        </p:txBody>
      </p:sp>
      <p:sp>
        <p:nvSpPr>
          <p:cNvPr id="3" name="Rectangle 2">
            <a:extLst>
              <a:ext uri="{FF2B5EF4-FFF2-40B4-BE49-F238E27FC236}">
                <a16:creationId xmlns:a16="http://schemas.microsoft.com/office/drawing/2014/main" id="{FB4D4406-C70F-48F3-8890-23DCEB2964DB}"/>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Aptos"/>
                <a:ea typeface="Aptos"/>
                <a:cs typeface="Aptos"/>
              </a:defRPr>
            </a:pPr>
            <a:r>
              <a:rPr sz="2250" b="1">
                <a:solidFill>
                  <a:srgbClr val="FFFFFF"/>
                </a:solidFill>
                <a:latin typeface="Aptos"/>
                <a:ea typeface="Aptos"/>
                <a:cs typeface="Aptos"/>
              </a:rPr>
              <a:t>8</a:t>
            </a:r>
          </a:p>
        </p:txBody>
      </p:sp>
      <p:sp>
        <p:nvSpPr>
          <p:cNvPr id="4" name="Rectangle 3">
            <a:extLst>
              <a:ext uri="{FF2B5EF4-FFF2-40B4-BE49-F238E27FC236}">
                <a16:creationId xmlns:a16="http://schemas.microsoft.com/office/drawing/2014/main" id="{547FA418-BFBA-4E6E-9355-3B6292A585A0}"/>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1F2937"/>
                </a:solidFill>
                <a:latin typeface="Georgia"/>
                <a:ea typeface="Georgia"/>
                <a:cs typeface="Georgia"/>
              </a:defRPr>
            </a:pPr>
            <a:r>
              <a:rPr sz="2850" b="1">
                <a:solidFill>
                  <a:srgbClr val="1F2937"/>
                </a:solidFill>
                <a:latin typeface="Georgia"/>
                <a:ea typeface="Georgia"/>
                <a:cs typeface="Georgia"/>
              </a:rPr>
              <a:t>Results: SAM3D realization dominates latency</a:t>
            </a:r>
          </a:p>
        </p:txBody>
      </p:sp>
      <p:sp>
        <p:nvSpPr>
          <p:cNvPr id="5" name="Rectangle 4">
            <a:extLst>
              <a:ext uri="{FF2B5EF4-FFF2-40B4-BE49-F238E27FC236}">
                <a16:creationId xmlns:a16="http://schemas.microsoft.com/office/drawing/2014/main" id="{CD9A95DD-1896-455A-9DB8-7C2F05C6BD87}"/>
              </a:ext>
            </a:extLst>
          </p:cNvPr>
          <p:cNvSpPr>
            <a:spLocks noGrp="1"/>
          </p:cNvSpPr>
          <p:nvPr/>
        </p:nvSpPr>
        <p:spPr>
          <a:xfrm>
            <a:off x="666750" y="1333500"/>
            <a:ext cx="10668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75" b="1">
                <a:solidFill>
                  <a:srgbClr val="1F2937"/>
                </a:solidFill>
                <a:latin typeface="Aptos"/>
                <a:ea typeface="Aptos"/>
                <a:cs typeface="Aptos"/>
              </a:defRPr>
            </a:pPr>
            <a:r>
              <a:rPr sz="1875" b="1">
                <a:solidFill>
                  <a:srgbClr val="1F2937"/>
                </a:solidFill>
                <a:latin typeface="Aptos"/>
                <a:ea typeface="Aptos"/>
                <a:cs typeface="Aptos"/>
              </a:rPr>
              <a:t>SAM3D realization time: minutes, not seconds</a:t>
            </a:r>
          </a:p>
        </p:txBody>
      </p:sp>
      <p:sp>
        <p:nvSpPr>
          <p:cNvPr id="6" name="Rectangle 5">
            <a:extLst>
              <a:ext uri="{FF2B5EF4-FFF2-40B4-BE49-F238E27FC236}">
                <a16:creationId xmlns:a16="http://schemas.microsoft.com/office/drawing/2014/main" id="{DD801C0C-AE41-404B-8B94-F15712D534D3}"/>
              </a:ext>
            </a:extLst>
          </p:cNvPr>
          <p:cNvSpPr>
            <a:spLocks noGrp="1"/>
          </p:cNvSpPr>
          <p:nvPr/>
        </p:nvSpPr>
        <p:spPr>
          <a:xfrm>
            <a:off x="666750" y="1619250"/>
            <a:ext cx="10668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67085"/>
                </a:solidFill>
                <a:latin typeface="Aptos"/>
                <a:ea typeface="Aptos"/>
                <a:cs typeface="Aptos"/>
              </a:defRPr>
            </a:pPr>
            <a:r>
              <a:rPr sz="1125" b="0">
                <a:solidFill>
                  <a:srgbClr val="667085"/>
                </a:solidFill>
                <a:latin typeface="Aptos"/>
                <a:ea typeface="Aptos"/>
                <a:cs typeface="Aptos"/>
              </a:rPr>
              <a:t>Recovered from output timestamps: reference.png → .usda. Labels show each object segment.</a:t>
            </a:r>
          </a:p>
        </p:txBody>
      </p:sp>
      <p:sp>
        <p:nvSpPr>
          <p:cNvPr id="7" name="Rectangle 6">
            <a:extLst>
              <a:ext uri="{FF2B5EF4-FFF2-40B4-BE49-F238E27FC236}">
                <a16:creationId xmlns:a16="http://schemas.microsoft.com/office/drawing/2014/main" id="{EF1492C2-066A-45D6-97A3-27512F015999}"/>
              </a:ext>
            </a:extLst>
          </p:cNvPr>
          <p:cNvSpPr>
            <a:spLocks noGrp="1"/>
          </p:cNvSpPr>
          <p:nvPr/>
        </p:nvSpPr>
        <p:spPr>
          <a:xfrm>
            <a:off x="1333500" y="4791075"/>
            <a:ext cx="9715500" cy="9525"/>
          </a:xfrm>
          <a:prstGeom prst="rect">
            <a:avLst/>
          </a:prstGeom>
          <a:solidFill>
            <a:srgbClr val="D6DEE8"/>
          </a:solidFill>
          <a:ln w="0">
            <a:solidFill>
              <a:srgbClr val="D6DEE8"/>
            </a:solidFill>
            <a:prstDash val="solid"/>
          </a:ln>
        </p:spPr>
        <p:txBody>
          <a:bodyPr/>
          <a:lstStyle/>
          <a:p>
            <a:endParaRPr lang="en-US"/>
          </a:p>
        </p:txBody>
      </p:sp>
      <p:sp>
        <p:nvSpPr>
          <p:cNvPr id="8" name="Rectangle 7">
            <a:extLst>
              <a:ext uri="{FF2B5EF4-FFF2-40B4-BE49-F238E27FC236}">
                <a16:creationId xmlns:a16="http://schemas.microsoft.com/office/drawing/2014/main" id="{A1DBD8E8-D428-412C-9FCB-53FE92B913A6}"/>
              </a:ext>
            </a:extLst>
          </p:cNvPr>
          <p:cNvSpPr>
            <a:spLocks noGrp="1"/>
          </p:cNvSpPr>
          <p:nvPr/>
        </p:nvSpPr>
        <p:spPr>
          <a:xfrm>
            <a:off x="933450" y="4714875"/>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0</a:t>
            </a:r>
          </a:p>
        </p:txBody>
      </p:sp>
      <p:sp>
        <p:nvSpPr>
          <p:cNvPr id="9" name="Rectangle 8">
            <a:extLst>
              <a:ext uri="{FF2B5EF4-FFF2-40B4-BE49-F238E27FC236}">
                <a16:creationId xmlns:a16="http://schemas.microsoft.com/office/drawing/2014/main" id="{127D1648-DA53-4EDD-B102-B0320085EE23}"/>
              </a:ext>
            </a:extLst>
          </p:cNvPr>
          <p:cNvSpPr>
            <a:spLocks noGrp="1"/>
          </p:cNvSpPr>
          <p:nvPr/>
        </p:nvSpPr>
        <p:spPr>
          <a:xfrm>
            <a:off x="1333500" y="3981450"/>
            <a:ext cx="9715500" cy="9525"/>
          </a:xfrm>
          <a:prstGeom prst="rect">
            <a:avLst/>
          </a:prstGeom>
          <a:solidFill>
            <a:srgbClr val="D6DEE8"/>
          </a:solidFill>
          <a:ln w="0">
            <a:solidFill>
              <a:srgbClr val="D6DEE8"/>
            </a:solidFill>
            <a:prstDash val="solid"/>
          </a:ln>
        </p:spPr>
        <p:txBody>
          <a:bodyPr/>
          <a:lstStyle/>
          <a:p>
            <a:endParaRPr lang="en-US"/>
          </a:p>
        </p:txBody>
      </p:sp>
      <p:sp>
        <p:nvSpPr>
          <p:cNvPr id="10" name="Rectangle 9">
            <a:extLst>
              <a:ext uri="{FF2B5EF4-FFF2-40B4-BE49-F238E27FC236}">
                <a16:creationId xmlns:a16="http://schemas.microsoft.com/office/drawing/2014/main" id="{CD4CAB97-5E2B-44B1-BD47-43CCD5D01BEA}"/>
              </a:ext>
            </a:extLst>
          </p:cNvPr>
          <p:cNvSpPr>
            <a:spLocks noGrp="1"/>
          </p:cNvSpPr>
          <p:nvPr/>
        </p:nvSpPr>
        <p:spPr>
          <a:xfrm>
            <a:off x="933450" y="39052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2</a:t>
            </a:r>
          </a:p>
        </p:txBody>
      </p:sp>
      <p:sp>
        <p:nvSpPr>
          <p:cNvPr id="11" name="Rectangle 10">
            <a:extLst>
              <a:ext uri="{FF2B5EF4-FFF2-40B4-BE49-F238E27FC236}">
                <a16:creationId xmlns:a16="http://schemas.microsoft.com/office/drawing/2014/main" id="{A0F70A2D-C5AB-4605-9330-052510461A9E}"/>
              </a:ext>
            </a:extLst>
          </p:cNvPr>
          <p:cNvSpPr>
            <a:spLocks noGrp="1"/>
          </p:cNvSpPr>
          <p:nvPr/>
        </p:nvSpPr>
        <p:spPr>
          <a:xfrm>
            <a:off x="1333500" y="3171825"/>
            <a:ext cx="9715500" cy="9525"/>
          </a:xfrm>
          <a:prstGeom prst="rect">
            <a:avLst/>
          </a:prstGeom>
          <a:solidFill>
            <a:srgbClr val="D6DEE8"/>
          </a:solidFill>
          <a:ln w="0">
            <a:solidFill>
              <a:srgbClr val="D6DEE8"/>
            </a:solidFill>
            <a:prstDash val="solid"/>
          </a:ln>
        </p:spPr>
        <p:txBody>
          <a:bodyPr/>
          <a:lstStyle/>
          <a:p>
            <a:endParaRPr lang="en-US"/>
          </a:p>
        </p:txBody>
      </p:sp>
      <p:sp>
        <p:nvSpPr>
          <p:cNvPr id="12" name="Rectangle 11">
            <a:extLst>
              <a:ext uri="{FF2B5EF4-FFF2-40B4-BE49-F238E27FC236}">
                <a16:creationId xmlns:a16="http://schemas.microsoft.com/office/drawing/2014/main" id="{C6EEF4E2-1C2D-4DBE-8D07-1AC1FF23959C}"/>
              </a:ext>
            </a:extLst>
          </p:cNvPr>
          <p:cNvSpPr>
            <a:spLocks noGrp="1"/>
          </p:cNvSpPr>
          <p:nvPr/>
        </p:nvSpPr>
        <p:spPr>
          <a:xfrm>
            <a:off x="933450" y="3095625"/>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4</a:t>
            </a:r>
          </a:p>
        </p:txBody>
      </p:sp>
      <p:sp>
        <p:nvSpPr>
          <p:cNvPr id="13" name="Rectangle 12">
            <a:extLst>
              <a:ext uri="{FF2B5EF4-FFF2-40B4-BE49-F238E27FC236}">
                <a16:creationId xmlns:a16="http://schemas.microsoft.com/office/drawing/2014/main" id="{38AB1EBC-5682-4243-83F3-79FDD1B782B1}"/>
              </a:ext>
            </a:extLst>
          </p:cNvPr>
          <p:cNvSpPr>
            <a:spLocks noGrp="1"/>
          </p:cNvSpPr>
          <p:nvPr/>
        </p:nvSpPr>
        <p:spPr>
          <a:xfrm>
            <a:off x="1333500" y="2362200"/>
            <a:ext cx="9715500" cy="9525"/>
          </a:xfrm>
          <a:prstGeom prst="rect">
            <a:avLst/>
          </a:prstGeom>
          <a:solidFill>
            <a:srgbClr val="D6DEE8"/>
          </a:solidFill>
          <a:ln w="0">
            <a:solidFill>
              <a:srgbClr val="D6DEE8"/>
            </a:solidFill>
            <a:prstDash val="solid"/>
          </a:ln>
        </p:spPr>
        <p:txBody>
          <a:bodyPr/>
          <a:lstStyle/>
          <a:p>
            <a:endParaRPr lang="en-US"/>
          </a:p>
        </p:txBody>
      </p:sp>
      <p:sp>
        <p:nvSpPr>
          <p:cNvPr id="14" name="Rectangle 13">
            <a:extLst>
              <a:ext uri="{FF2B5EF4-FFF2-40B4-BE49-F238E27FC236}">
                <a16:creationId xmlns:a16="http://schemas.microsoft.com/office/drawing/2014/main" id="{CBE3E720-00A9-43FF-8816-DA9017DB8CD6}"/>
              </a:ext>
            </a:extLst>
          </p:cNvPr>
          <p:cNvSpPr>
            <a:spLocks noGrp="1"/>
          </p:cNvSpPr>
          <p:nvPr/>
        </p:nvSpPr>
        <p:spPr>
          <a:xfrm>
            <a:off x="933450" y="228600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6</a:t>
            </a:r>
          </a:p>
        </p:txBody>
      </p:sp>
      <p:sp>
        <p:nvSpPr>
          <p:cNvPr id="15" name="Rectangle 14">
            <a:extLst>
              <a:ext uri="{FF2B5EF4-FFF2-40B4-BE49-F238E27FC236}">
                <a16:creationId xmlns:a16="http://schemas.microsoft.com/office/drawing/2014/main" id="{8E91D022-B34E-4522-A8F7-AB9856BA52E4}"/>
              </a:ext>
            </a:extLst>
          </p:cNvPr>
          <p:cNvSpPr>
            <a:spLocks noGrp="1"/>
          </p:cNvSpPr>
          <p:nvPr/>
        </p:nvSpPr>
        <p:spPr>
          <a:xfrm>
            <a:off x="762000" y="3481388"/>
            <a:ext cx="419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667085"/>
                </a:solidFill>
                <a:latin typeface="Aptos"/>
                <a:ea typeface="Aptos"/>
                <a:cs typeface="Aptos"/>
              </a:defRPr>
            </a:pPr>
            <a:r>
              <a:rPr sz="900" b="0">
                <a:solidFill>
                  <a:srgbClr val="667085"/>
                </a:solidFill>
                <a:latin typeface="Aptos"/>
                <a:ea typeface="Aptos"/>
                <a:cs typeface="Aptos"/>
              </a:rPr>
              <a:t>minutes</a:t>
            </a:r>
          </a:p>
        </p:txBody>
      </p:sp>
      <p:sp>
        <p:nvSpPr>
          <p:cNvPr id="16" name="Rectangle 15">
            <a:extLst>
              <a:ext uri="{FF2B5EF4-FFF2-40B4-BE49-F238E27FC236}">
                <a16:creationId xmlns:a16="http://schemas.microsoft.com/office/drawing/2014/main" id="{E979D726-39BA-46F1-8BF2-F089254E837F}"/>
              </a:ext>
            </a:extLst>
          </p:cNvPr>
          <p:cNvSpPr>
            <a:spLocks noGrp="1"/>
          </p:cNvSpPr>
          <p:nvPr/>
        </p:nvSpPr>
        <p:spPr>
          <a:xfrm>
            <a:off x="1762125" y="3957836"/>
            <a:ext cx="1428750" cy="833239"/>
          </a:xfrm>
          <a:prstGeom prst="rect">
            <a:avLst/>
          </a:prstGeom>
          <a:solidFill>
            <a:srgbClr val="0B6386"/>
          </a:solidFill>
          <a:ln w="6668">
            <a:solidFill>
              <a:srgbClr val="FFFFFF"/>
            </a:solidFill>
            <a:prstDash val="solid"/>
          </a:ln>
        </p:spPr>
        <p:txBody>
          <a:bodyPr/>
          <a:lstStyle/>
          <a:p>
            <a:endParaRPr lang="en-US"/>
          </a:p>
        </p:txBody>
      </p:sp>
      <p:sp>
        <p:nvSpPr>
          <p:cNvPr id="17" name="Rectangle 16">
            <a:extLst>
              <a:ext uri="{FF2B5EF4-FFF2-40B4-BE49-F238E27FC236}">
                <a16:creationId xmlns:a16="http://schemas.microsoft.com/office/drawing/2014/main" id="{7EFDB998-6DC2-41EE-9008-1E1707C04790}"/>
              </a:ext>
            </a:extLst>
          </p:cNvPr>
          <p:cNvSpPr>
            <a:spLocks noGrp="1"/>
          </p:cNvSpPr>
          <p:nvPr/>
        </p:nvSpPr>
        <p:spPr>
          <a:xfrm>
            <a:off x="1800225" y="398641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counter 2.1m</a:t>
            </a:r>
          </a:p>
        </p:txBody>
      </p:sp>
      <p:sp>
        <p:nvSpPr>
          <p:cNvPr id="18" name="Rectangle 17">
            <a:extLst>
              <a:ext uri="{FF2B5EF4-FFF2-40B4-BE49-F238E27FC236}">
                <a16:creationId xmlns:a16="http://schemas.microsoft.com/office/drawing/2014/main" id="{BE2CD75D-4B7B-408E-8FC0-5DC2F94B7166}"/>
              </a:ext>
            </a:extLst>
          </p:cNvPr>
          <p:cNvSpPr>
            <a:spLocks noGrp="1"/>
          </p:cNvSpPr>
          <p:nvPr/>
        </p:nvSpPr>
        <p:spPr>
          <a:xfrm>
            <a:off x="1762125" y="3462615"/>
            <a:ext cx="1428750" cy="495221"/>
          </a:xfrm>
          <a:prstGeom prst="rect">
            <a:avLst/>
          </a:prstGeom>
          <a:solidFill>
            <a:srgbClr val="1F7A99"/>
          </a:solidFill>
          <a:ln w="6668">
            <a:solidFill>
              <a:srgbClr val="FFFFFF"/>
            </a:solidFill>
            <a:prstDash val="solid"/>
          </a:ln>
        </p:spPr>
        <p:txBody>
          <a:bodyPr/>
          <a:lstStyle/>
          <a:p>
            <a:endParaRPr lang="en-US"/>
          </a:p>
        </p:txBody>
      </p:sp>
      <p:sp>
        <p:nvSpPr>
          <p:cNvPr id="19" name="Rectangle 18">
            <a:extLst>
              <a:ext uri="{FF2B5EF4-FFF2-40B4-BE49-F238E27FC236}">
                <a16:creationId xmlns:a16="http://schemas.microsoft.com/office/drawing/2014/main" id="{65681AEE-ED6E-4548-970C-7796720BBDBB}"/>
              </a:ext>
            </a:extLst>
          </p:cNvPr>
          <p:cNvSpPr>
            <a:spLocks noGrp="1"/>
          </p:cNvSpPr>
          <p:nvPr/>
        </p:nvSpPr>
        <p:spPr>
          <a:xfrm>
            <a:off x="1800225" y="3491190"/>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wallet 1.2m</a:t>
            </a:r>
          </a:p>
        </p:txBody>
      </p:sp>
      <p:sp>
        <p:nvSpPr>
          <p:cNvPr id="20" name="Rectangle 19">
            <a:extLst>
              <a:ext uri="{FF2B5EF4-FFF2-40B4-BE49-F238E27FC236}">
                <a16:creationId xmlns:a16="http://schemas.microsoft.com/office/drawing/2014/main" id="{765DDDBB-118C-4F1C-AA81-65AD9875FBD9}"/>
              </a:ext>
            </a:extLst>
          </p:cNvPr>
          <p:cNvSpPr>
            <a:spLocks noGrp="1"/>
          </p:cNvSpPr>
          <p:nvPr/>
        </p:nvSpPr>
        <p:spPr>
          <a:xfrm>
            <a:off x="1762125" y="3221077"/>
            <a:ext cx="1428750" cy="241538"/>
          </a:xfrm>
          <a:prstGeom prst="rect">
            <a:avLst/>
          </a:prstGeom>
          <a:solidFill>
            <a:srgbClr val="2D6A2E"/>
          </a:solidFill>
          <a:ln w="6668">
            <a:solidFill>
              <a:srgbClr val="FFFFFF"/>
            </a:solidFill>
            <a:prstDash val="solid"/>
          </a:ln>
        </p:spPr>
        <p:txBody>
          <a:bodyPr/>
          <a:lstStyle/>
          <a:p>
            <a:endParaRPr lang="en-US"/>
          </a:p>
        </p:txBody>
      </p:sp>
      <p:sp>
        <p:nvSpPr>
          <p:cNvPr id="21" name="Rectangle 20">
            <a:extLst>
              <a:ext uri="{FF2B5EF4-FFF2-40B4-BE49-F238E27FC236}">
                <a16:creationId xmlns:a16="http://schemas.microsoft.com/office/drawing/2014/main" id="{F848E745-F84E-4852-B3DD-41BE405280C5}"/>
              </a:ext>
            </a:extLst>
          </p:cNvPr>
          <p:cNvSpPr>
            <a:spLocks noGrp="1"/>
          </p:cNvSpPr>
          <p:nvPr/>
        </p:nvSpPr>
        <p:spPr>
          <a:xfrm>
            <a:off x="1800225" y="3249652"/>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basket 0.6m</a:t>
            </a:r>
          </a:p>
        </p:txBody>
      </p:sp>
      <p:sp>
        <p:nvSpPr>
          <p:cNvPr id="22" name="Rectangle 21">
            <a:extLst>
              <a:ext uri="{FF2B5EF4-FFF2-40B4-BE49-F238E27FC236}">
                <a16:creationId xmlns:a16="http://schemas.microsoft.com/office/drawing/2014/main" id="{A7BD0022-22D2-4632-9917-0500C0C86999}"/>
              </a:ext>
            </a:extLst>
          </p:cNvPr>
          <p:cNvSpPr>
            <a:spLocks noGrp="1"/>
          </p:cNvSpPr>
          <p:nvPr/>
        </p:nvSpPr>
        <p:spPr>
          <a:xfrm>
            <a:off x="1762125" y="2999780"/>
            <a:ext cx="1428750" cy="221297"/>
          </a:xfrm>
          <a:prstGeom prst="rect">
            <a:avLst/>
          </a:prstGeom>
          <a:solidFill>
            <a:srgbClr val="C96B19"/>
          </a:solidFill>
          <a:ln w="6668">
            <a:solidFill>
              <a:srgbClr val="FFFFFF"/>
            </a:solidFill>
            <a:prstDash val="solid"/>
          </a:ln>
        </p:spPr>
        <p:txBody>
          <a:bodyPr/>
          <a:lstStyle/>
          <a:p>
            <a:endParaRPr lang="en-US"/>
          </a:p>
        </p:txBody>
      </p:sp>
      <p:sp>
        <p:nvSpPr>
          <p:cNvPr id="23" name="Rectangle 22">
            <a:extLst>
              <a:ext uri="{FF2B5EF4-FFF2-40B4-BE49-F238E27FC236}">
                <a16:creationId xmlns:a16="http://schemas.microsoft.com/office/drawing/2014/main" id="{E22BB093-A43E-4340-B180-10F665AF29EB}"/>
              </a:ext>
            </a:extLst>
          </p:cNvPr>
          <p:cNvSpPr>
            <a:spLocks noGrp="1"/>
          </p:cNvSpPr>
          <p:nvPr/>
        </p:nvSpPr>
        <p:spPr>
          <a:xfrm>
            <a:off x="1800225" y="3028355"/>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cashier 0.5m</a:t>
            </a:r>
          </a:p>
        </p:txBody>
      </p:sp>
      <p:sp>
        <p:nvSpPr>
          <p:cNvPr id="24" name="Rectangle 23">
            <a:extLst>
              <a:ext uri="{FF2B5EF4-FFF2-40B4-BE49-F238E27FC236}">
                <a16:creationId xmlns:a16="http://schemas.microsoft.com/office/drawing/2014/main" id="{C4A15654-BEDC-443E-B529-B11289B3F7F3}"/>
              </a:ext>
            </a:extLst>
          </p:cNvPr>
          <p:cNvSpPr>
            <a:spLocks noGrp="1"/>
          </p:cNvSpPr>
          <p:nvPr/>
        </p:nvSpPr>
        <p:spPr>
          <a:xfrm>
            <a:off x="1762125" y="2777808"/>
            <a:ext cx="1428750" cy="221972"/>
          </a:xfrm>
          <a:prstGeom prst="rect">
            <a:avLst/>
          </a:prstGeom>
          <a:solidFill>
            <a:srgbClr val="748091"/>
          </a:solidFill>
          <a:ln w="6668">
            <a:solidFill>
              <a:srgbClr val="FFFFFF"/>
            </a:solidFill>
            <a:prstDash val="solid"/>
          </a:ln>
        </p:spPr>
        <p:txBody>
          <a:bodyPr/>
          <a:lstStyle/>
          <a:p>
            <a:endParaRPr lang="en-US"/>
          </a:p>
        </p:txBody>
      </p:sp>
      <p:sp>
        <p:nvSpPr>
          <p:cNvPr id="25" name="Rectangle 24">
            <a:extLst>
              <a:ext uri="{FF2B5EF4-FFF2-40B4-BE49-F238E27FC236}">
                <a16:creationId xmlns:a16="http://schemas.microsoft.com/office/drawing/2014/main" id="{BA81062C-F426-4CCE-91C7-E1C9FA798EAC}"/>
              </a:ext>
            </a:extLst>
          </p:cNvPr>
          <p:cNvSpPr>
            <a:spLocks noGrp="1"/>
          </p:cNvSpPr>
          <p:nvPr/>
        </p:nvSpPr>
        <p:spPr>
          <a:xfrm>
            <a:off x="1800225" y="280638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chips 0.5m</a:t>
            </a:r>
          </a:p>
        </p:txBody>
      </p:sp>
      <p:sp>
        <p:nvSpPr>
          <p:cNvPr id="26" name="Rectangle 25">
            <a:extLst>
              <a:ext uri="{FF2B5EF4-FFF2-40B4-BE49-F238E27FC236}">
                <a16:creationId xmlns:a16="http://schemas.microsoft.com/office/drawing/2014/main" id="{E90D2C41-87FF-4304-8743-9F9692A6DE67}"/>
              </a:ext>
            </a:extLst>
          </p:cNvPr>
          <p:cNvSpPr>
            <a:spLocks noGrp="1"/>
          </p:cNvSpPr>
          <p:nvPr/>
        </p:nvSpPr>
        <p:spPr>
          <a:xfrm>
            <a:off x="1762125" y="2577425"/>
            <a:ext cx="1428750" cy="200382"/>
          </a:xfrm>
          <a:prstGeom prst="rect">
            <a:avLst/>
          </a:prstGeom>
          <a:solidFill>
            <a:srgbClr val="9CA3AF"/>
          </a:solidFill>
          <a:ln w="6668">
            <a:solidFill>
              <a:srgbClr val="FFFFFF"/>
            </a:solidFill>
            <a:prstDash val="solid"/>
          </a:ln>
        </p:spPr>
        <p:txBody>
          <a:bodyPr/>
          <a:lstStyle/>
          <a:p>
            <a:endParaRPr lang="en-US"/>
          </a:p>
        </p:txBody>
      </p:sp>
      <p:sp>
        <p:nvSpPr>
          <p:cNvPr id="27" name="Rectangle 26">
            <a:extLst>
              <a:ext uri="{FF2B5EF4-FFF2-40B4-BE49-F238E27FC236}">
                <a16:creationId xmlns:a16="http://schemas.microsoft.com/office/drawing/2014/main" id="{F9E7E01F-F79E-4273-819D-242ED6121C70}"/>
              </a:ext>
            </a:extLst>
          </p:cNvPr>
          <p:cNvSpPr>
            <a:spLocks noGrp="1"/>
          </p:cNvSpPr>
          <p:nvPr/>
        </p:nvSpPr>
        <p:spPr>
          <a:xfrm>
            <a:off x="1790700" y="2586950"/>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terminal</a:t>
            </a:r>
          </a:p>
        </p:txBody>
      </p:sp>
      <p:sp>
        <p:nvSpPr>
          <p:cNvPr id="28" name="Rectangle 27">
            <a:extLst>
              <a:ext uri="{FF2B5EF4-FFF2-40B4-BE49-F238E27FC236}">
                <a16:creationId xmlns:a16="http://schemas.microsoft.com/office/drawing/2014/main" id="{1E4C5B6A-8D9A-4D95-8ADC-22527E38D0E1}"/>
              </a:ext>
            </a:extLst>
          </p:cNvPr>
          <p:cNvSpPr>
            <a:spLocks noGrp="1"/>
          </p:cNvSpPr>
          <p:nvPr/>
        </p:nvSpPr>
        <p:spPr>
          <a:xfrm>
            <a:off x="1762125" y="23812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5.5m</a:t>
            </a:r>
          </a:p>
        </p:txBody>
      </p:sp>
      <p:sp>
        <p:nvSpPr>
          <p:cNvPr id="29" name="Rectangle 28">
            <a:extLst>
              <a:ext uri="{FF2B5EF4-FFF2-40B4-BE49-F238E27FC236}">
                <a16:creationId xmlns:a16="http://schemas.microsoft.com/office/drawing/2014/main" id="{BBC67210-CB05-46CE-98C1-C97731AD897F}"/>
              </a:ext>
            </a:extLst>
          </p:cNvPr>
          <p:cNvSpPr>
            <a:spLocks noGrp="1"/>
          </p:cNvSpPr>
          <p:nvPr/>
        </p:nvSpPr>
        <p:spPr>
          <a:xfrm>
            <a:off x="176212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Convenience</a:t>
            </a:r>
          </a:p>
        </p:txBody>
      </p:sp>
      <p:sp>
        <p:nvSpPr>
          <p:cNvPr id="30" name="Rectangle 29">
            <a:extLst>
              <a:ext uri="{FF2B5EF4-FFF2-40B4-BE49-F238E27FC236}">
                <a16:creationId xmlns:a16="http://schemas.microsoft.com/office/drawing/2014/main" id="{CEC588C7-640E-4350-AA0C-4F40840F838F}"/>
              </a:ext>
            </a:extLst>
          </p:cNvPr>
          <p:cNvSpPr>
            <a:spLocks noGrp="1"/>
          </p:cNvSpPr>
          <p:nvPr/>
        </p:nvSpPr>
        <p:spPr>
          <a:xfrm>
            <a:off x="176212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6 objects</a:t>
            </a:r>
          </a:p>
        </p:txBody>
      </p:sp>
      <p:sp>
        <p:nvSpPr>
          <p:cNvPr id="31" name="Rectangle 30">
            <a:extLst>
              <a:ext uri="{FF2B5EF4-FFF2-40B4-BE49-F238E27FC236}">
                <a16:creationId xmlns:a16="http://schemas.microsoft.com/office/drawing/2014/main" id="{EDA2BE7B-72FB-4B46-B6D0-73458CF89D50}"/>
              </a:ext>
            </a:extLst>
          </p:cNvPr>
          <p:cNvSpPr>
            <a:spLocks noGrp="1"/>
          </p:cNvSpPr>
          <p:nvPr/>
        </p:nvSpPr>
        <p:spPr>
          <a:xfrm>
            <a:off x="3619500" y="4210844"/>
            <a:ext cx="1428750" cy="580231"/>
          </a:xfrm>
          <a:prstGeom prst="rect">
            <a:avLst/>
          </a:prstGeom>
          <a:solidFill>
            <a:srgbClr val="0B6386"/>
          </a:solidFill>
          <a:ln w="6668">
            <a:solidFill>
              <a:srgbClr val="FFFFFF"/>
            </a:solidFill>
            <a:prstDash val="solid"/>
          </a:ln>
        </p:spPr>
        <p:txBody>
          <a:bodyPr/>
          <a:lstStyle/>
          <a:p>
            <a:endParaRPr lang="en-US"/>
          </a:p>
        </p:txBody>
      </p:sp>
      <p:sp>
        <p:nvSpPr>
          <p:cNvPr id="32" name="Rectangle 31">
            <a:extLst>
              <a:ext uri="{FF2B5EF4-FFF2-40B4-BE49-F238E27FC236}">
                <a16:creationId xmlns:a16="http://schemas.microsoft.com/office/drawing/2014/main" id="{D0BA8042-EB4C-427F-ACDA-D8C157E069E9}"/>
              </a:ext>
            </a:extLst>
          </p:cNvPr>
          <p:cNvSpPr>
            <a:spLocks noGrp="1"/>
          </p:cNvSpPr>
          <p:nvPr/>
        </p:nvSpPr>
        <p:spPr>
          <a:xfrm>
            <a:off x="3657600" y="4239419"/>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fruit basket 1.4m</a:t>
            </a:r>
          </a:p>
        </p:txBody>
      </p:sp>
      <p:sp>
        <p:nvSpPr>
          <p:cNvPr id="33" name="Rectangle 32">
            <a:extLst>
              <a:ext uri="{FF2B5EF4-FFF2-40B4-BE49-F238E27FC236}">
                <a16:creationId xmlns:a16="http://schemas.microsoft.com/office/drawing/2014/main" id="{E515B643-134B-471C-85C1-BB632F184465}"/>
              </a:ext>
            </a:extLst>
          </p:cNvPr>
          <p:cNvSpPr>
            <a:spLocks noGrp="1"/>
          </p:cNvSpPr>
          <p:nvPr/>
        </p:nvSpPr>
        <p:spPr>
          <a:xfrm>
            <a:off x="3619500" y="3898463"/>
            <a:ext cx="1428750" cy="312380"/>
          </a:xfrm>
          <a:prstGeom prst="rect">
            <a:avLst/>
          </a:prstGeom>
          <a:solidFill>
            <a:srgbClr val="1F7A99"/>
          </a:solidFill>
          <a:ln w="6668">
            <a:solidFill>
              <a:srgbClr val="FFFFFF"/>
            </a:solidFill>
            <a:prstDash val="solid"/>
          </a:ln>
        </p:spPr>
        <p:txBody>
          <a:bodyPr/>
          <a:lstStyle/>
          <a:p>
            <a:endParaRPr lang="en-US"/>
          </a:p>
        </p:txBody>
      </p:sp>
      <p:sp>
        <p:nvSpPr>
          <p:cNvPr id="34" name="Rectangle 33">
            <a:extLst>
              <a:ext uri="{FF2B5EF4-FFF2-40B4-BE49-F238E27FC236}">
                <a16:creationId xmlns:a16="http://schemas.microsoft.com/office/drawing/2014/main" id="{3B4FA7AD-2813-4095-8E78-B608E9EA65B0}"/>
              </a:ext>
            </a:extLst>
          </p:cNvPr>
          <p:cNvSpPr>
            <a:spLocks noGrp="1"/>
          </p:cNvSpPr>
          <p:nvPr/>
        </p:nvSpPr>
        <p:spPr>
          <a:xfrm>
            <a:off x="3657600" y="3927038"/>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apple 0.8m</a:t>
            </a:r>
          </a:p>
        </p:txBody>
      </p:sp>
      <p:sp>
        <p:nvSpPr>
          <p:cNvPr id="35" name="Rectangle 34">
            <a:extLst>
              <a:ext uri="{FF2B5EF4-FFF2-40B4-BE49-F238E27FC236}">
                <a16:creationId xmlns:a16="http://schemas.microsoft.com/office/drawing/2014/main" id="{3D11D19E-ED92-4185-A487-CED73C554526}"/>
              </a:ext>
            </a:extLst>
          </p:cNvPr>
          <p:cNvSpPr>
            <a:spLocks noGrp="1"/>
          </p:cNvSpPr>
          <p:nvPr/>
        </p:nvSpPr>
        <p:spPr>
          <a:xfrm>
            <a:off x="3619500" y="3612396"/>
            <a:ext cx="1428750" cy="286068"/>
          </a:xfrm>
          <a:prstGeom prst="rect">
            <a:avLst/>
          </a:prstGeom>
          <a:solidFill>
            <a:srgbClr val="2D6A2E"/>
          </a:solidFill>
          <a:ln w="6668">
            <a:solidFill>
              <a:srgbClr val="FFFFFF"/>
            </a:solidFill>
            <a:prstDash val="solid"/>
          </a:ln>
        </p:spPr>
        <p:txBody>
          <a:bodyPr/>
          <a:lstStyle/>
          <a:p>
            <a:endParaRPr lang="en-US"/>
          </a:p>
        </p:txBody>
      </p:sp>
      <p:sp>
        <p:nvSpPr>
          <p:cNvPr id="36" name="Rectangle 35">
            <a:extLst>
              <a:ext uri="{FF2B5EF4-FFF2-40B4-BE49-F238E27FC236}">
                <a16:creationId xmlns:a16="http://schemas.microsoft.com/office/drawing/2014/main" id="{DEAA3326-15C1-42EE-8404-999931C9AFBD}"/>
              </a:ext>
            </a:extLst>
          </p:cNvPr>
          <p:cNvSpPr>
            <a:spLocks noGrp="1"/>
          </p:cNvSpPr>
          <p:nvPr/>
        </p:nvSpPr>
        <p:spPr>
          <a:xfrm>
            <a:off x="3657600" y="364097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reader 0.7m</a:t>
            </a:r>
          </a:p>
        </p:txBody>
      </p:sp>
      <p:sp>
        <p:nvSpPr>
          <p:cNvPr id="37" name="Rectangle 36">
            <a:extLst>
              <a:ext uri="{FF2B5EF4-FFF2-40B4-BE49-F238E27FC236}">
                <a16:creationId xmlns:a16="http://schemas.microsoft.com/office/drawing/2014/main" id="{C4FC18C2-5AB0-492E-AD1C-3EF99F056AF4}"/>
              </a:ext>
            </a:extLst>
          </p:cNvPr>
          <p:cNvSpPr>
            <a:spLocks noGrp="1"/>
          </p:cNvSpPr>
          <p:nvPr/>
        </p:nvSpPr>
        <p:spPr>
          <a:xfrm>
            <a:off x="3619500" y="3390424"/>
            <a:ext cx="1428750" cy="221972"/>
          </a:xfrm>
          <a:prstGeom prst="rect">
            <a:avLst/>
          </a:prstGeom>
          <a:solidFill>
            <a:srgbClr val="C96B19"/>
          </a:solidFill>
          <a:ln w="6668">
            <a:solidFill>
              <a:srgbClr val="FFFFFF"/>
            </a:solidFill>
            <a:prstDash val="solid"/>
          </a:ln>
        </p:spPr>
        <p:txBody>
          <a:bodyPr/>
          <a:lstStyle/>
          <a:p>
            <a:endParaRPr lang="en-US"/>
          </a:p>
        </p:txBody>
      </p:sp>
      <p:sp>
        <p:nvSpPr>
          <p:cNvPr id="38" name="Rectangle 37">
            <a:extLst>
              <a:ext uri="{FF2B5EF4-FFF2-40B4-BE49-F238E27FC236}">
                <a16:creationId xmlns:a16="http://schemas.microsoft.com/office/drawing/2014/main" id="{6818BF40-EE65-492F-AFFF-28B7C75B7BD0}"/>
              </a:ext>
            </a:extLst>
          </p:cNvPr>
          <p:cNvSpPr>
            <a:spLocks noGrp="1"/>
          </p:cNvSpPr>
          <p:nvPr/>
        </p:nvSpPr>
        <p:spPr>
          <a:xfrm>
            <a:off x="3657600" y="3418999"/>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bag 0.5m</a:t>
            </a:r>
          </a:p>
        </p:txBody>
      </p:sp>
      <p:sp>
        <p:nvSpPr>
          <p:cNvPr id="39" name="Rectangle 38">
            <a:extLst>
              <a:ext uri="{FF2B5EF4-FFF2-40B4-BE49-F238E27FC236}">
                <a16:creationId xmlns:a16="http://schemas.microsoft.com/office/drawing/2014/main" id="{F3BDEDB1-0EDD-4FC7-BA39-093E61BF517A}"/>
              </a:ext>
            </a:extLst>
          </p:cNvPr>
          <p:cNvSpPr>
            <a:spLocks noGrp="1"/>
          </p:cNvSpPr>
          <p:nvPr/>
        </p:nvSpPr>
        <p:spPr>
          <a:xfrm>
            <a:off x="3619500" y="3198812"/>
            <a:ext cx="1428750" cy="191611"/>
          </a:xfrm>
          <a:prstGeom prst="rect">
            <a:avLst/>
          </a:prstGeom>
          <a:solidFill>
            <a:srgbClr val="748091"/>
          </a:solidFill>
          <a:ln w="6668">
            <a:solidFill>
              <a:srgbClr val="FFFFFF"/>
            </a:solidFill>
            <a:prstDash val="solid"/>
          </a:ln>
        </p:spPr>
        <p:txBody>
          <a:bodyPr/>
          <a:lstStyle/>
          <a:p>
            <a:endParaRPr lang="en-US"/>
          </a:p>
        </p:txBody>
      </p:sp>
      <p:sp>
        <p:nvSpPr>
          <p:cNvPr id="40" name="Rectangle 39">
            <a:extLst>
              <a:ext uri="{FF2B5EF4-FFF2-40B4-BE49-F238E27FC236}">
                <a16:creationId xmlns:a16="http://schemas.microsoft.com/office/drawing/2014/main" id="{60CA1DA0-B888-4B96-8566-7B4E4C611174}"/>
              </a:ext>
            </a:extLst>
          </p:cNvPr>
          <p:cNvSpPr>
            <a:spLocks noGrp="1"/>
          </p:cNvSpPr>
          <p:nvPr/>
        </p:nvSpPr>
        <p:spPr>
          <a:xfrm>
            <a:off x="3648075" y="3208337"/>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vendor</a:t>
            </a:r>
          </a:p>
        </p:txBody>
      </p:sp>
      <p:sp>
        <p:nvSpPr>
          <p:cNvPr id="41" name="Rectangle 40">
            <a:extLst>
              <a:ext uri="{FF2B5EF4-FFF2-40B4-BE49-F238E27FC236}">
                <a16:creationId xmlns:a16="http://schemas.microsoft.com/office/drawing/2014/main" id="{B9F11872-DAEC-4363-BEB2-4ECA80A32063}"/>
              </a:ext>
            </a:extLst>
          </p:cNvPr>
          <p:cNvSpPr>
            <a:spLocks noGrp="1"/>
          </p:cNvSpPr>
          <p:nvPr/>
        </p:nvSpPr>
        <p:spPr>
          <a:xfrm>
            <a:off x="3619500" y="2970212"/>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3.9m</a:t>
            </a:r>
          </a:p>
        </p:txBody>
      </p:sp>
      <p:sp>
        <p:nvSpPr>
          <p:cNvPr id="42" name="Rectangle 41">
            <a:extLst>
              <a:ext uri="{FF2B5EF4-FFF2-40B4-BE49-F238E27FC236}">
                <a16:creationId xmlns:a16="http://schemas.microsoft.com/office/drawing/2014/main" id="{A820ED19-90B1-4DAC-BE92-4CE9946A9FF1}"/>
              </a:ext>
            </a:extLst>
          </p:cNvPr>
          <p:cNvSpPr>
            <a:spLocks noGrp="1"/>
          </p:cNvSpPr>
          <p:nvPr/>
        </p:nvSpPr>
        <p:spPr>
          <a:xfrm>
            <a:off x="3619500"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Market</a:t>
            </a:r>
          </a:p>
        </p:txBody>
      </p:sp>
      <p:sp>
        <p:nvSpPr>
          <p:cNvPr id="43" name="Rectangle 42">
            <a:extLst>
              <a:ext uri="{FF2B5EF4-FFF2-40B4-BE49-F238E27FC236}">
                <a16:creationId xmlns:a16="http://schemas.microsoft.com/office/drawing/2014/main" id="{795C6804-ECC4-4078-A538-74A9FC2166E8}"/>
              </a:ext>
            </a:extLst>
          </p:cNvPr>
          <p:cNvSpPr>
            <a:spLocks noGrp="1"/>
          </p:cNvSpPr>
          <p:nvPr/>
        </p:nvSpPr>
        <p:spPr>
          <a:xfrm>
            <a:off x="3619500"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5 objects</a:t>
            </a:r>
          </a:p>
        </p:txBody>
      </p:sp>
      <p:sp>
        <p:nvSpPr>
          <p:cNvPr id="44" name="Rectangle 43">
            <a:extLst>
              <a:ext uri="{FF2B5EF4-FFF2-40B4-BE49-F238E27FC236}">
                <a16:creationId xmlns:a16="http://schemas.microsoft.com/office/drawing/2014/main" id="{2134AA5B-4610-493A-A094-E71931885483}"/>
              </a:ext>
            </a:extLst>
          </p:cNvPr>
          <p:cNvSpPr>
            <a:spLocks noGrp="1"/>
          </p:cNvSpPr>
          <p:nvPr/>
        </p:nvSpPr>
        <p:spPr>
          <a:xfrm>
            <a:off x="5476875" y="4389636"/>
            <a:ext cx="1428750" cy="401439"/>
          </a:xfrm>
          <a:prstGeom prst="rect">
            <a:avLst/>
          </a:prstGeom>
          <a:solidFill>
            <a:srgbClr val="0B6386"/>
          </a:solidFill>
          <a:ln w="6668">
            <a:solidFill>
              <a:srgbClr val="FFFFFF"/>
            </a:solidFill>
            <a:prstDash val="solid"/>
          </a:ln>
        </p:spPr>
        <p:txBody>
          <a:bodyPr/>
          <a:lstStyle/>
          <a:p>
            <a:endParaRPr lang="en-US"/>
          </a:p>
        </p:txBody>
      </p:sp>
      <p:sp>
        <p:nvSpPr>
          <p:cNvPr id="45" name="Rectangle 44">
            <a:extLst>
              <a:ext uri="{FF2B5EF4-FFF2-40B4-BE49-F238E27FC236}">
                <a16:creationId xmlns:a16="http://schemas.microsoft.com/office/drawing/2014/main" id="{266BBAD6-B00B-4074-BC8A-F3D4F2476D51}"/>
              </a:ext>
            </a:extLst>
          </p:cNvPr>
          <p:cNvSpPr>
            <a:spLocks noGrp="1"/>
          </p:cNvSpPr>
          <p:nvPr/>
        </p:nvSpPr>
        <p:spPr>
          <a:xfrm>
            <a:off x="5514975" y="4418211"/>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basin 1.0m</a:t>
            </a:r>
          </a:p>
        </p:txBody>
      </p:sp>
      <p:sp>
        <p:nvSpPr>
          <p:cNvPr id="46" name="Rectangle 45">
            <a:extLst>
              <a:ext uri="{FF2B5EF4-FFF2-40B4-BE49-F238E27FC236}">
                <a16:creationId xmlns:a16="http://schemas.microsoft.com/office/drawing/2014/main" id="{6A5B48B6-14C1-4716-88F4-8113DD3E88E2}"/>
              </a:ext>
            </a:extLst>
          </p:cNvPr>
          <p:cNvSpPr>
            <a:spLocks noGrp="1"/>
          </p:cNvSpPr>
          <p:nvPr/>
        </p:nvSpPr>
        <p:spPr>
          <a:xfrm>
            <a:off x="5476875" y="4011811"/>
            <a:ext cx="1428750" cy="377825"/>
          </a:xfrm>
          <a:prstGeom prst="rect">
            <a:avLst/>
          </a:prstGeom>
          <a:solidFill>
            <a:srgbClr val="1F7A99"/>
          </a:solidFill>
          <a:ln w="6668">
            <a:solidFill>
              <a:srgbClr val="FFFFFF"/>
            </a:solidFill>
            <a:prstDash val="solid"/>
          </a:ln>
        </p:spPr>
        <p:txBody>
          <a:bodyPr/>
          <a:lstStyle/>
          <a:p>
            <a:endParaRPr lang="en-US"/>
          </a:p>
        </p:txBody>
      </p:sp>
      <p:sp>
        <p:nvSpPr>
          <p:cNvPr id="47" name="Rectangle 46">
            <a:extLst>
              <a:ext uri="{FF2B5EF4-FFF2-40B4-BE49-F238E27FC236}">
                <a16:creationId xmlns:a16="http://schemas.microsoft.com/office/drawing/2014/main" id="{6378B3AA-9FE0-49BC-874C-5BA5CF636DD1}"/>
              </a:ext>
            </a:extLst>
          </p:cNvPr>
          <p:cNvSpPr>
            <a:spLocks noGrp="1"/>
          </p:cNvSpPr>
          <p:nvPr/>
        </p:nvSpPr>
        <p:spPr>
          <a:xfrm>
            <a:off x="5514975" y="4040386"/>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box 0.9m</a:t>
            </a:r>
          </a:p>
        </p:txBody>
      </p:sp>
      <p:sp>
        <p:nvSpPr>
          <p:cNvPr id="48" name="Rectangle 47">
            <a:extLst>
              <a:ext uri="{FF2B5EF4-FFF2-40B4-BE49-F238E27FC236}">
                <a16:creationId xmlns:a16="http://schemas.microsoft.com/office/drawing/2014/main" id="{D10305CC-C68B-4867-BDC6-572CD0D58911}"/>
              </a:ext>
            </a:extLst>
          </p:cNvPr>
          <p:cNvSpPr>
            <a:spLocks noGrp="1"/>
          </p:cNvSpPr>
          <p:nvPr/>
        </p:nvSpPr>
        <p:spPr>
          <a:xfrm>
            <a:off x="5476875" y="3823573"/>
            <a:ext cx="1428750" cy="188238"/>
          </a:xfrm>
          <a:prstGeom prst="rect">
            <a:avLst/>
          </a:prstGeom>
          <a:solidFill>
            <a:srgbClr val="2D6A2E"/>
          </a:solidFill>
          <a:ln w="6668">
            <a:solidFill>
              <a:srgbClr val="FFFFFF"/>
            </a:solidFill>
            <a:prstDash val="solid"/>
          </a:ln>
        </p:spPr>
        <p:txBody>
          <a:bodyPr/>
          <a:lstStyle/>
          <a:p>
            <a:endParaRPr lang="en-US"/>
          </a:p>
        </p:txBody>
      </p:sp>
      <p:sp>
        <p:nvSpPr>
          <p:cNvPr id="49" name="Rectangle 48">
            <a:extLst>
              <a:ext uri="{FF2B5EF4-FFF2-40B4-BE49-F238E27FC236}">
                <a16:creationId xmlns:a16="http://schemas.microsoft.com/office/drawing/2014/main" id="{C700B2EA-B5CA-4B22-BA92-B7D1F2D0A0F4}"/>
              </a:ext>
            </a:extLst>
          </p:cNvPr>
          <p:cNvSpPr>
            <a:spLocks noGrp="1"/>
          </p:cNvSpPr>
          <p:nvPr/>
        </p:nvSpPr>
        <p:spPr>
          <a:xfrm>
            <a:off x="5505450" y="3833098"/>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tray</a:t>
            </a:r>
          </a:p>
        </p:txBody>
      </p:sp>
      <p:sp>
        <p:nvSpPr>
          <p:cNvPr id="50" name="Rectangle 49">
            <a:extLst>
              <a:ext uri="{FF2B5EF4-FFF2-40B4-BE49-F238E27FC236}">
                <a16:creationId xmlns:a16="http://schemas.microsoft.com/office/drawing/2014/main" id="{48F33197-F0ED-4451-8CAE-F406F2622573}"/>
              </a:ext>
            </a:extLst>
          </p:cNvPr>
          <p:cNvSpPr>
            <a:spLocks noGrp="1"/>
          </p:cNvSpPr>
          <p:nvPr/>
        </p:nvSpPr>
        <p:spPr>
          <a:xfrm>
            <a:off x="5476875" y="3665696"/>
            <a:ext cx="1428750" cy="157877"/>
          </a:xfrm>
          <a:prstGeom prst="rect">
            <a:avLst/>
          </a:prstGeom>
          <a:solidFill>
            <a:srgbClr val="C96B19"/>
          </a:solidFill>
          <a:ln w="6668">
            <a:solidFill>
              <a:srgbClr val="FFFFFF"/>
            </a:solidFill>
            <a:prstDash val="solid"/>
          </a:ln>
        </p:spPr>
        <p:txBody>
          <a:bodyPr/>
          <a:lstStyle/>
          <a:p>
            <a:endParaRPr lang="en-US"/>
          </a:p>
        </p:txBody>
      </p:sp>
      <p:sp>
        <p:nvSpPr>
          <p:cNvPr id="51" name="Rectangle 50">
            <a:extLst>
              <a:ext uri="{FF2B5EF4-FFF2-40B4-BE49-F238E27FC236}">
                <a16:creationId xmlns:a16="http://schemas.microsoft.com/office/drawing/2014/main" id="{4D0DFFB0-5588-4F1E-9071-FDDBD813A6F7}"/>
              </a:ext>
            </a:extLst>
          </p:cNvPr>
          <p:cNvSpPr>
            <a:spLocks noGrp="1"/>
          </p:cNvSpPr>
          <p:nvPr/>
        </p:nvSpPr>
        <p:spPr>
          <a:xfrm>
            <a:off x="5505450" y="3675221"/>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ladle</a:t>
            </a:r>
          </a:p>
        </p:txBody>
      </p:sp>
      <p:sp>
        <p:nvSpPr>
          <p:cNvPr id="52" name="Rectangle 51">
            <a:extLst>
              <a:ext uri="{FF2B5EF4-FFF2-40B4-BE49-F238E27FC236}">
                <a16:creationId xmlns:a16="http://schemas.microsoft.com/office/drawing/2014/main" id="{B4B049F8-C56D-4204-A1D6-3425662EEE5D}"/>
              </a:ext>
            </a:extLst>
          </p:cNvPr>
          <p:cNvSpPr>
            <a:spLocks noGrp="1"/>
          </p:cNvSpPr>
          <p:nvPr/>
        </p:nvSpPr>
        <p:spPr>
          <a:xfrm>
            <a:off x="5476875" y="3437096"/>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2.8m</a:t>
            </a:r>
          </a:p>
        </p:txBody>
      </p:sp>
      <p:sp>
        <p:nvSpPr>
          <p:cNvPr id="53" name="Rectangle 52">
            <a:extLst>
              <a:ext uri="{FF2B5EF4-FFF2-40B4-BE49-F238E27FC236}">
                <a16:creationId xmlns:a16="http://schemas.microsoft.com/office/drawing/2014/main" id="{604FADCD-8E62-4D60-9178-7324991C43E7}"/>
              </a:ext>
            </a:extLst>
          </p:cNvPr>
          <p:cNvSpPr>
            <a:spLocks noGrp="1"/>
          </p:cNvSpPr>
          <p:nvPr/>
        </p:nvSpPr>
        <p:spPr>
          <a:xfrm>
            <a:off x="547687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Shrine</a:t>
            </a:r>
          </a:p>
        </p:txBody>
      </p:sp>
      <p:sp>
        <p:nvSpPr>
          <p:cNvPr id="54" name="Rectangle 53">
            <a:extLst>
              <a:ext uri="{FF2B5EF4-FFF2-40B4-BE49-F238E27FC236}">
                <a16:creationId xmlns:a16="http://schemas.microsoft.com/office/drawing/2014/main" id="{CDF03F65-4F4B-4CA4-9ECE-360A9A67393D}"/>
              </a:ext>
            </a:extLst>
          </p:cNvPr>
          <p:cNvSpPr>
            <a:spLocks noGrp="1"/>
          </p:cNvSpPr>
          <p:nvPr/>
        </p:nvSpPr>
        <p:spPr>
          <a:xfrm>
            <a:off x="547687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4 objects</a:t>
            </a:r>
          </a:p>
        </p:txBody>
      </p:sp>
      <p:sp>
        <p:nvSpPr>
          <p:cNvPr id="55" name="Rectangle 54">
            <a:extLst>
              <a:ext uri="{FF2B5EF4-FFF2-40B4-BE49-F238E27FC236}">
                <a16:creationId xmlns:a16="http://schemas.microsoft.com/office/drawing/2014/main" id="{C3043338-A5DC-4878-A25F-57D4B3C7F6D9}"/>
              </a:ext>
            </a:extLst>
          </p:cNvPr>
          <p:cNvSpPr>
            <a:spLocks noGrp="1"/>
          </p:cNvSpPr>
          <p:nvPr/>
        </p:nvSpPr>
        <p:spPr>
          <a:xfrm>
            <a:off x="7334250" y="4499610"/>
            <a:ext cx="1428750" cy="291465"/>
          </a:xfrm>
          <a:prstGeom prst="rect">
            <a:avLst/>
          </a:prstGeom>
          <a:solidFill>
            <a:srgbClr val="0B6386"/>
          </a:solidFill>
          <a:ln w="6668">
            <a:solidFill>
              <a:srgbClr val="FFFFFF"/>
            </a:solidFill>
            <a:prstDash val="solid"/>
          </a:ln>
        </p:spPr>
        <p:txBody>
          <a:bodyPr/>
          <a:lstStyle/>
          <a:p>
            <a:endParaRPr lang="en-US"/>
          </a:p>
        </p:txBody>
      </p:sp>
      <p:sp>
        <p:nvSpPr>
          <p:cNvPr id="56" name="Rectangle 55">
            <a:extLst>
              <a:ext uri="{FF2B5EF4-FFF2-40B4-BE49-F238E27FC236}">
                <a16:creationId xmlns:a16="http://schemas.microsoft.com/office/drawing/2014/main" id="{773C1130-5580-447B-BC5D-E0A9E2C6DFD0}"/>
              </a:ext>
            </a:extLst>
          </p:cNvPr>
          <p:cNvSpPr>
            <a:spLocks noGrp="1"/>
          </p:cNvSpPr>
          <p:nvPr/>
        </p:nvSpPr>
        <p:spPr>
          <a:xfrm>
            <a:off x="7372350" y="4528185"/>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machine 0.7m</a:t>
            </a:r>
          </a:p>
        </p:txBody>
      </p:sp>
      <p:sp>
        <p:nvSpPr>
          <p:cNvPr id="57" name="Rectangle 56">
            <a:extLst>
              <a:ext uri="{FF2B5EF4-FFF2-40B4-BE49-F238E27FC236}">
                <a16:creationId xmlns:a16="http://schemas.microsoft.com/office/drawing/2014/main" id="{5E011D08-1988-4772-B99A-C76D4C6B39A7}"/>
              </a:ext>
            </a:extLst>
          </p:cNvPr>
          <p:cNvSpPr>
            <a:spLocks noGrp="1"/>
          </p:cNvSpPr>
          <p:nvPr/>
        </p:nvSpPr>
        <p:spPr>
          <a:xfrm>
            <a:off x="7334250" y="4254698"/>
            <a:ext cx="1428750" cy="244912"/>
          </a:xfrm>
          <a:prstGeom prst="rect">
            <a:avLst/>
          </a:prstGeom>
          <a:solidFill>
            <a:srgbClr val="1F7A99"/>
          </a:solidFill>
          <a:ln w="6668">
            <a:solidFill>
              <a:srgbClr val="FFFFFF"/>
            </a:solidFill>
            <a:prstDash val="solid"/>
          </a:ln>
        </p:spPr>
        <p:txBody>
          <a:bodyPr/>
          <a:lstStyle/>
          <a:p>
            <a:endParaRPr lang="en-US"/>
          </a:p>
        </p:txBody>
      </p:sp>
      <p:sp>
        <p:nvSpPr>
          <p:cNvPr id="58" name="Rectangle 57">
            <a:extLst>
              <a:ext uri="{FF2B5EF4-FFF2-40B4-BE49-F238E27FC236}">
                <a16:creationId xmlns:a16="http://schemas.microsoft.com/office/drawing/2014/main" id="{FBAF7C23-9CFA-4F00-BDFE-16CD5881E51B}"/>
              </a:ext>
            </a:extLst>
          </p:cNvPr>
          <p:cNvSpPr>
            <a:spLocks noGrp="1"/>
          </p:cNvSpPr>
          <p:nvPr/>
        </p:nvSpPr>
        <p:spPr>
          <a:xfrm>
            <a:off x="7372350" y="428327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map 0.6m</a:t>
            </a:r>
          </a:p>
        </p:txBody>
      </p:sp>
      <p:sp>
        <p:nvSpPr>
          <p:cNvPr id="59" name="Rectangle 58">
            <a:extLst>
              <a:ext uri="{FF2B5EF4-FFF2-40B4-BE49-F238E27FC236}">
                <a16:creationId xmlns:a16="http://schemas.microsoft.com/office/drawing/2014/main" id="{14CFA395-37CE-4EF9-8B77-10BBABE7D19D}"/>
              </a:ext>
            </a:extLst>
          </p:cNvPr>
          <p:cNvSpPr>
            <a:spLocks noGrp="1"/>
          </p:cNvSpPr>
          <p:nvPr/>
        </p:nvSpPr>
        <p:spPr>
          <a:xfrm>
            <a:off x="7334250" y="4060388"/>
            <a:ext cx="1428750" cy="194310"/>
          </a:xfrm>
          <a:prstGeom prst="rect">
            <a:avLst/>
          </a:prstGeom>
          <a:solidFill>
            <a:srgbClr val="2D6A2E"/>
          </a:solidFill>
          <a:ln w="6668">
            <a:solidFill>
              <a:srgbClr val="FFFFFF"/>
            </a:solidFill>
            <a:prstDash val="solid"/>
          </a:ln>
        </p:spPr>
        <p:txBody>
          <a:bodyPr/>
          <a:lstStyle/>
          <a:p>
            <a:endParaRPr lang="en-US"/>
          </a:p>
        </p:txBody>
      </p:sp>
      <p:sp>
        <p:nvSpPr>
          <p:cNvPr id="60" name="Rectangle 59">
            <a:extLst>
              <a:ext uri="{FF2B5EF4-FFF2-40B4-BE49-F238E27FC236}">
                <a16:creationId xmlns:a16="http://schemas.microsoft.com/office/drawing/2014/main" id="{6C89B003-5745-47B2-A1F4-C95A3232C54F}"/>
              </a:ext>
            </a:extLst>
          </p:cNvPr>
          <p:cNvSpPr>
            <a:spLocks noGrp="1"/>
          </p:cNvSpPr>
          <p:nvPr/>
        </p:nvSpPr>
        <p:spPr>
          <a:xfrm>
            <a:off x="7362825" y="4069913"/>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attendant</a:t>
            </a:r>
          </a:p>
        </p:txBody>
      </p:sp>
      <p:sp>
        <p:nvSpPr>
          <p:cNvPr id="61" name="Rectangle 60">
            <a:extLst>
              <a:ext uri="{FF2B5EF4-FFF2-40B4-BE49-F238E27FC236}">
                <a16:creationId xmlns:a16="http://schemas.microsoft.com/office/drawing/2014/main" id="{78626ECC-6BBE-439E-BAB3-3D740BBC7278}"/>
              </a:ext>
            </a:extLst>
          </p:cNvPr>
          <p:cNvSpPr>
            <a:spLocks noGrp="1"/>
          </p:cNvSpPr>
          <p:nvPr/>
        </p:nvSpPr>
        <p:spPr>
          <a:xfrm>
            <a:off x="7334250" y="3831788"/>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1.8m</a:t>
            </a:r>
          </a:p>
        </p:txBody>
      </p:sp>
      <p:sp>
        <p:nvSpPr>
          <p:cNvPr id="62" name="Rectangle 61">
            <a:extLst>
              <a:ext uri="{FF2B5EF4-FFF2-40B4-BE49-F238E27FC236}">
                <a16:creationId xmlns:a16="http://schemas.microsoft.com/office/drawing/2014/main" id="{3D1D5A1C-6C43-4365-B313-CB495A1DCACA}"/>
              </a:ext>
            </a:extLst>
          </p:cNvPr>
          <p:cNvSpPr>
            <a:spLocks noGrp="1"/>
          </p:cNvSpPr>
          <p:nvPr/>
        </p:nvSpPr>
        <p:spPr>
          <a:xfrm>
            <a:off x="7334250"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Station</a:t>
            </a:r>
          </a:p>
        </p:txBody>
      </p:sp>
      <p:sp>
        <p:nvSpPr>
          <p:cNvPr id="63" name="Rectangle 62">
            <a:extLst>
              <a:ext uri="{FF2B5EF4-FFF2-40B4-BE49-F238E27FC236}">
                <a16:creationId xmlns:a16="http://schemas.microsoft.com/office/drawing/2014/main" id="{8BA4A796-5A64-4D35-9B44-7E92C69DC1A0}"/>
              </a:ext>
            </a:extLst>
          </p:cNvPr>
          <p:cNvSpPr>
            <a:spLocks noGrp="1"/>
          </p:cNvSpPr>
          <p:nvPr/>
        </p:nvSpPr>
        <p:spPr>
          <a:xfrm>
            <a:off x="7334250"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3 objects</a:t>
            </a:r>
          </a:p>
        </p:txBody>
      </p:sp>
      <p:sp>
        <p:nvSpPr>
          <p:cNvPr id="64" name="Rectangle 63">
            <a:extLst>
              <a:ext uri="{FF2B5EF4-FFF2-40B4-BE49-F238E27FC236}">
                <a16:creationId xmlns:a16="http://schemas.microsoft.com/office/drawing/2014/main" id="{2A0AACD8-C11A-4718-A910-02BC2BE2E274}"/>
              </a:ext>
            </a:extLst>
          </p:cNvPr>
          <p:cNvSpPr>
            <a:spLocks noGrp="1"/>
          </p:cNvSpPr>
          <p:nvPr/>
        </p:nvSpPr>
        <p:spPr>
          <a:xfrm>
            <a:off x="9191625" y="4578548"/>
            <a:ext cx="1428750" cy="212527"/>
          </a:xfrm>
          <a:prstGeom prst="rect">
            <a:avLst/>
          </a:prstGeom>
          <a:solidFill>
            <a:srgbClr val="0B6386"/>
          </a:solidFill>
          <a:ln w="6668">
            <a:solidFill>
              <a:srgbClr val="FFFFFF"/>
            </a:solidFill>
            <a:prstDash val="solid"/>
          </a:ln>
        </p:spPr>
        <p:txBody>
          <a:bodyPr/>
          <a:lstStyle/>
          <a:p>
            <a:endParaRPr lang="en-US"/>
          </a:p>
        </p:txBody>
      </p:sp>
      <p:sp>
        <p:nvSpPr>
          <p:cNvPr id="65" name="Rectangle 64">
            <a:extLst>
              <a:ext uri="{FF2B5EF4-FFF2-40B4-BE49-F238E27FC236}">
                <a16:creationId xmlns:a16="http://schemas.microsoft.com/office/drawing/2014/main" id="{DD409338-8420-4AE0-8ED4-9EBF73BB8C17}"/>
              </a:ext>
            </a:extLst>
          </p:cNvPr>
          <p:cNvSpPr>
            <a:spLocks noGrp="1"/>
          </p:cNvSpPr>
          <p:nvPr/>
        </p:nvSpPr>
        <p:spPr>
          <a:xfrm>
            <a:off x="9229725" y="4607123"/>
            <a:ext cx="1352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FFFFFF"/>
                </a:solidFill>
                <a:latin typeface="Aptos"/>
                <a:ea typeface="Aptos"/>
                <a:cs typeface="Aptos"/>
              </a:defRPr>
            </a:pPr>
            <a:r>
              <a:rPr sz="788" b="1">
                <a:solidFill>
                  <a:srgbClr val="FFFFFF"/>
                </a:solidFill>
                <a:latin typeface="Aptos"/>
                <a:ea typeface="Aptos"/>
                <a:cs typeface="Aptos"/>
              </a:rPr>
              <a:t>jacket 0.5m</a:t>
            </a:r>
          </a:p>
        </p:txBody>
      </p:sp>
      <p:sp>
        <p:nvSpPr>
          <p:cNvPr id="66" name="Rectangle 65">
            <a:extLst>
              <a:ext uri="{FF2B5EF4-FFF2-40B4-BE49-F238E27FC236}">
                <a16:creationId xmlns:a16="http://schemas.microsoft.com/office/drawing/2014/main" id="{E5E6E462-AAD9-4CA4-86E6-1B42E2444144}"/>
              </a:ext>
            </a:extLst>
          </p:cNvPr>
          <p:cNvSpPr>
            <a:spLocks noGrp="1"/>
          </p:cNvSpPr>
          <p:nvPr/>
        </p:nvSpPr>
        <p:spPr>
          <a:xfrm>
            <a:off x="9191625" y="4424045"/>
            <a:ext cx="1428750" cy="154503"/>
          </a:xfrm>
          <a:prstGeom prst="rect">
            <a:avLst/>
          </a:prstGeom>
          <a:solidFill>
            <a:srgbClr val="1F7A99"/>
          </a:solidFill>
          <a:ln w="6668">
            <a:solidFill>
              <a:srgbClr val="FFFFFF"/>
            </a:solidFill>
            <a:prstDash val="solid"/>
          </a:ln>
        </p:spPr>
        <p:txBody>
          <a:bodyPr/>
          <a:lstStyle/>
          <a:p>
            <a:endParaRPr lang="en-US"/>
          </a:p>
        </p:txBody>
      </p:sp>
      <p:sp>
        <p:nvSpPr>
          <p:cNvPr id="67" name="Rectangle 66">
            <a:extLst>
              <a:ext uri="{FF2B5EF4-FFF2-40B4-BE49-F238E27FC236}">
                <a16:creationId xmlns:a16="http://schemas.microsoft.com/office/drawing/2014/main" id="{3AF454C1-8BA3-4FA2-92FA-8EE4E9084BE9}"/>
              </a:ext>
            </a:extLst>
          </p:cNvPr>
          <p:cNvSpPr>
            <a:spLocks noGrp="1"/>
          </p:cNvSpPr>
          <p:nvPr/>
        </p:nvSpPr>
        <p:spPr>
          <a:xfrm>
            <a:off x="9220200" y="4433570"/>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mirror</a:t>
            </a:r>
          </a:p>
        </p:txBody>
      </p:sp>
      <p:sp>
        <p:nvSpPr>
          <p:cNvPr id="68" name="Rectangle 67">
            <a:extLst>
              <a:ext uri="{FF2B5EF4-FFF2-40B4-BE49-F238E27FC236}">
                <a16:creationId xmlns:a16="http://schemas.microsoft.com/office/drawing/2014/main" id="{ED615634-A80E-40D4-914A-ACC931694FDC}"/>
              </a:ext>
            </a:extLst>
          </p:cNvPr>
          <p:cNvSpPr>
            <a:spLocks noGrp="1"/>
          </p:cNvSpPr>
          <p:nvPr/>
        </p:nvSpPr>
        <p:spPr>
          <a:xfrm>
            <a:off x="9191625" y="4276288"/>
            <a:ext cx="1428750" cy="147757"/>
          </a:xfrm>
          <a:prstGeom prst="rect">
            <a:avLst/>
          </a:prstGeom>
          <a:solidFill>
            <a:srgbClr val="2D6A2E"/>
          </a:solidFill>
          <a:ln w="6668">
            <a:solidFill>
              <a:srgbClr val="FFFFFF"/>
            </a:solidFill>
            <a:prstDash val="solid"/>
          </a:ln>
        </p:spPr>
        <p:txBody>
          <a:bodyPr/>
          <a:lstStyle/>
          <a:p>
            <a:endParaRPr lang="en-US"/>
          </a:p>
        </p:txBody>
      </p:sp>
      <p:sp>
        <p:nvSpPr>
          <p:cNvPr id="69" name="Rectangle 68">
            <a:extLst>
              <a:ext uri="{FF2B5EF4-FFF2-40B4-BE49-F238E27FC236}">
                <a16:creationId xmlns:a16="http://schemas.microsoft.com/office/drawing/2014/main" id="{DDE75C43-66B8-4B1F-91BC-D0794A44D4C5}"/>
              </a:ext>
            </a:extLst>
          </p:cNvPr>
          <p:cNvSpPr>
            <a:spLocks noGrp="1"/>
          </p:cNvSpPr>
          <p:nvPr/>
        </p:nvSpPr>
        <p:spPr>
          <a:xfrm>
            <a:off x="9220200" y="4285813"/>
            <a:ext cx="13716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FFFFFF"/>
                </a:solidFill>
                <a:latin typeface="Aptos"/>
                <a:ea typeface="Aptos"/>
                <a:cs typeface="Aptos"/>
              </a:defRPr>
            </a:pPr>
            <a:r>
              <a:rPr sz="675" b="1">
                <a:solidFill>
                  <a:srgbClr val="FFFFFF"/>
                </a:solidFill>
                <a:latin typeface="Aptos"/>
                <a:ea typeface="Aptos"/>
                <a:cs typeface="Aptos"/>
              </a:rPr>
              <a:t>hook</a:t>
            </a:r>
          </a:p>
        </p:txBody>
      </p:sp>
      <p:sp>
        <p:nvSpPr>
          <p:cNvPr id="70" name="Rectangle 69">
            <a:extLst>
              <a:ext uri="{FF2B5EF4-FFF2-40B4-BE49-F238E27FC236}">
                <a16:creationId xmlns:a16="http://schemas.microsoft.com/office/drawing/2014/main" id="{E18BD8DB-3AC0-4152-A590-6F396AC26E1B}"/>
              </a:ext>
            </a:extLst>
          </p:cNvPr>
          <p:cNvSpPr>
            <a:spLocks noGrp="1"/>
          </p:cNvSpPr>
          <p:nvPr/>
        </p:nvSpPr>
        <p:spPr>
          <a:xfrm>
            <a:off x="9191625" y="4047688"/>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1F2937"/>
                </a:solidFill>
                <a:latin typeface="Aptos"/>
                <a:ea typeface="Aptos"/>
                <a:cs typeface="Aptos"/>
              </a:defRPr>
            </a:pPr>
            <a:r>
              <a:rPr sz="1050" b="1">
                <a:solidFill>
                  <a:srgbClr val="1F2937"/>
                </a:solidFill>
                <a:latin typeface="Aptos"/>
                <a:ea typeface="Aptos"/>
                <a:cs typeface="Aptos"/>
              </a:rPr>
              <a:t>1.3m</a:t>
            </a:r>
          </a:p>
        </p:txBody>
      </p:sp>
      <p:sp>
        <p:nvSpPr>
          <p:cNvPr id="71" name="Rectangle 70">
            <a:extLst>
              <a:ext uri="{FF2B5EF4-FFF2-40B4-BE49-F238E27FC236}">
                <a16:creationId xmlns:a16="http://schemas.microsoft.com/office/drawing/2014/main" id="{F67D3FE9-1712-42F3-B747-4313D06A27C4}"/>
              </a:ext>
            </a:extLst>
          </p:cNvPr>
          <p:cNvSpPr>
            <a:spLocks noGrp="1"/>
          </p:cNvSpPr>
          <p:nvPr/>
        </p:nvSpPr>
        <p:spPr>
          <a:xfrm>
            <a:off x="9191625" y="490537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75" b="1">
                <a:solidFill>
                  <a:srgbClr val="374151"/>
                </a:solidFill>
                <a:latin typeface="Aptos"/>
                <a:ea typeface="Aptos"/>
                <a:cs typeface="Aptos"/>
              </a:defRPr>
            </a:pPr>
            <a:r>
              <a:rPr sz="975" b="1">
                <a:solidFill>
                  <a:srgbClr val="374151"/>
                </a:solidFill>
                <a:latin typeface="Aptos"/>
                <a:ea typeface="Aptos"/>
                <a:cs typeface="Aptos"/>
              </a:rPr>
              <a:t>Try-on</a:t>
            </a:r>
          </a:p>
        </p:txBody>
      </p:sp>
      <p:sp>
        <p:nvSpPr>
          <p:cNvPr id="72" name="Rectangle 71">
            <a:extLst>
              <a:ext uri="{FF2B5EF4-FFF2-40B4-BE49-F238E27FC236}">
                <a16:creationId xmlns:a16="http://schemas.microsoft.com/office/drawing/2014/main" id="{1746D35B-451F-43CF-A000-F99EC056BF8C}"/>
              </a:ext>
            </a:extLst>
          </p:cNvPr>
          <p:cNvSpPr>
            <a:spLocks noGrp="1"/>
          </p:cNvSpPr>
          <p:nvPr/>
        </p:nvSpPr>
        <p:spPr>
          <a:xfrm>
            <a:off x="9191625" y="5086350"/>
            <a:ext cx="1428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667085"/>
                </a:solidFill>
                <a:latin typeface="Aptos"/>
                <a:ea typeface="Aptos"/>
                <a:cs typeface="Aptos"/>
              </a:defRPr>
            </a:pPr>
            <a:r>
              <a:rPr sz="825" b="0">
                <a:solidFill>
                  <a:srgbClr val="667085"/>
                </a:solidFill>
                <a:latin typeface="Aptos"/>
                <a:ea typeface="Aptos"/>
                <a:cs typeface="Aptos"/>
              </a:rPr>
              <a:t>3 objects</a:t>
            </a:r>
          </a:p>
        </p:txBody>
      </p:sp>
      <p:sp>
        <p:nvSpPr>
          <p:cNvPr id="73" name="Rectangle 72">
            <a:extLst>
              <a:ext uri="{FF2B5EF4-FFF2-40B4-BE49-F238E27FC236}">
                <a16:creationId xmlns:a16="http://schemas.microsoft.com/office/drawing/2014/main" id="{A1A8F00F-FB6F-426A-A8F8-0D2F028C7D6E}"/>
              </a:ext>
            </a:extLst>
          </p:cNvPr>
          <p:cNvSpPr>
            <a:spLocks noGrp="1"/>
          </p:cNvSpPr>
          <p:nvPr/>
        </p:nvSpPr>
        <p:spPr>
          <a:xfrm>
            <a:off x="1333500" y="5238750"/>
            <a:ext cx="9715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667085"/>
                </a:solidFill>
                <a:latin typeface="Aptos"/>
                <a:ea typeface="Aptos"/>
                <a:cs typeface="Aptos"/>
              </a:defRPr>
            </a:pPr>
            <a:r>
              <a:rPr sz="1050" b="0">
                <a:solidFill>
                  <a:srgbClr val="667085"/>
                </a:solidFill>
                <a:latin typeface="Aptos"/>
                <a:ea typeface="Aptos"/>
                <a:cs typeface="Aptos"/>
              </a:rPr>
              <a:t>The app export captures planning time; this chart reconstructs the expensive visual-realization stage from SAM3D output files.</a:t>
            </a:r>
          </a:p>
        </p:txBody>
      </p:sp>
      <p:sp>
        <p:nvSpPr>
          <p:cNvPr id="74" name="Rectangle 73">
            <a:extLst>
              <a:ext uri="{FF2B5EF4-FFF2-40B4-BE49-F238E27FC236}">
                <a16:creationId xmlns:a16="http://schemas.microsoft.com/office/drawing/2014/main" id="{42E20AD2-2719-43D6-849E-F7765D64F3D8}"/>
              </a:ext>
            </a:extLst>
          </p:cNvPr>
          <p:cNvSpPr>
            <a:spLocks noGrp="1"/>
          </p:cNvSpPr>
          <p:nvPr/>
        </p:nvSpPr>
        <p:spPr>
          <a:xfrm>
            <a:off x="666750" y="5905500"/>
            <a:ext cx="10287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0">
                <a:solidFill>
                  <a:srgbClr val="374151"/>
                </a:solidFill>
                <a:latin typeface="Aptos"/>
                <a:ea typeface="Aptos"/>
                <a:cs typeface="Aptos"/>
              </a:defRPr>
            </a:pPr>
            <a:r>
              <a:rPr sz="1575" b="0">
                <a:solidFill>
                  <a:srgbClr val="374151"/>
                </a:solidFill>
                <a:latin typeface="Aptos"/>
                <a:ea typeface="Aptos"/>
                <a:cs typeface="Aptos"/>
              </a:rPr>
              <a:t>Planning was fast (median 9.5s in app logs). The visual path was the systems bottleneck: multi-object scenes required minutes because each object was reconstructed and exported separately.</a:t>
            </a:r>
          </a:p>
        </p:txBody>
      </p:sp>
      <p:sp>
        <p:nvSpPr>
          <p:cNvPr id="75" name="Oval 74">
            <a:extLst>
              <a:ext uri="{FF2B5EF4-FFF2-40B4-BE49-F238E27FC236}">
                <a16:creationId xmlns:a16="http://schemas.microsoft.com/office/drawing/2014/main" id="{257B01FF-940B-4875-B0D5-0C1B4AAD7C48}"/>
              </a:ext>
            </a:extLst>
          </p:cNvPr>
          <p:cNvSpPr>
            <a:spLocks noGrp="1"/>
          </p:cNvSpPr>
          <p:nvPr/>
        </p:nvSpPr>
        <p:spPr>
          <a:xfrm>
            <a:off x="495300" y="466725"/>
            <a:ext cx="552450" cy="552450"/>
          </a:xfrm>
          <a:prstGeom prst="ellipse">
            <a:avLst/>
          </a:prstGeom>
          <a:solidFill>
            <a:srgbClr val="1988A7"/>
          </a:solidFill>
          <a:ln w="0">
            <a:solidFill>
              <a:srgbClr val="1988A7"/>
            </a:solidFill>
            <a:prstDash val="solid"/>
          </a:ln>
        </p:spPr>
        <p:txBody>
          <a:bodyPr/>
          <a:lstStyle/>
          <a:p>
            <a:endParaRPr lang="en-US"/>
          </a:p>
        </p:txBody>
      </p:sp>
      <p:sp>
        <p:nvSpPr>
          <p:cNvPr id="76" name="Rectangle 75">
            <a:extLst>
              <a:ext uri="{FF2B5EF4-FFF2-40B4-BE49-F238E27FC236}">
                <a16:creationId xmlns:a16="http://schemas.microsoft.com/office/drawing/2014/main" id="{8BF58113-DF5E-408D-ACD6-1ABD2CDDBEB4}"/>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Aptos"/>
                <a:ea typeface="Aptos"/>
                <a:cs typeface="Aptos"/>
              </a:defRPr>
            </a:pPr>
            <a:r>
              <a:rPr sz="2250" b="1">
                <a:solidFill>
                  <a:srgbClr val="FFFFFF"/>
                </a:solidFill>
                <a:latin typeface="Aptos"/>
                <a:ea typeface="Aptos"/>
                <a:cs typeface="Aptos"/>
              </a:rPr>
              <a:t>9</a:t>
            </a:r>
          </a:p>
        </p:txBody>
      </p:sp>
      <p:sp>
        <p:nvSpPr>
          <p:cNvPr id="77" name="Rectangle 76">
            <a:extLst>
              <a:ext uri="{FF2B5EF4-FFF2-40B4-BE49-F238E27FC236}">
                <a16:creationId xmlns:a16="http://schemas.microsoft.com/office/drawing/2014/main" id="{9512DFF7-1B7E-465E-A89B-2AEC0B9E2E86}"/>
              </a:ext>
            </a:extLst>
          </p:cNvPr>
          <p:cNvSpPr>
            <a:spLocks noGrp="1"/>
          </p:cNvSpPr>
          <p:nvPr/>
        </p:nvSpPr>
        <p:spPr>
          <a:xfrm>
            <a:off x="77002" y="8096"/>
            <a:ext cx="12192000" cy="6858000"/>
          </a:xfrm>
          <a:prstGeom prst="rect">
            <a:avLst/>
          </a:prstGeom>
          <a:solidFill>
            <a:srgbClr val="25306A"/>
          </a:solidFill>
          <a:ln w="0">
            <a:solidFill>
              <a:srgbClr val="25306A"/>
            </a:solidFill>
            <a:prstDash val="solid"/>
          </a:ln>
        </p:spPr>
        <p:txBody>
          <a:bodyPr/>
          <a:lstStyle/>
          <a:p>
            <a:endParaRPr lang="en-US"/>
          </a:p>
        </p:txBody>
      </p:sp>
      <p:sp>
        <p:nvSpPr>
          <p:cNvPr id="78" name="Oval 77">
            <a:extLst>
              <a:ext uri="{FF2B5EF4-FFF2-40B4-BE49-F238E27FC236}">
                <a16:creationId xmlns:a16="http://schemas.microsoft.com/office/drawing/2014/main" id="{A9FC4B65-89CF-46EE-849F-2A05A89E1BF8}"/>
              </a:ext>
            </a:extLst>
          </p:cNvPr>
          <p:cNvSpPr>
            <a:spLocks noGrp="1"/>
          </p:cNvSpPr>
          <p:nvPr/>
        </p:nvSpPr>
        <p:spPr>
          <a:xfrm>
            <a:off x="495300" y="466725"/>
            <a:ext cx="552450" cy="552450"/>
          </a:xfrm>
          <a:prstGeom prst="ellipse">
            <a:avLst/>
          </a:prstGeom>
          <a:solidFill>
            <a:srgbClr val="1988A7"/>
          </a:solidFill>
          <a:ln w="0">
            <a:solidFill>
              <a:srgbClr val="1988A7"/>
            </a:solidFill>
            <a:prstDash val="solid"/>
          </a:ln>
        </p:spPr>
        <p:txBody>
          <a:bodyPr/>
          <a:lstStyle/>
          <a:p>
            <a:endParaRPr lang="en-US"/>
          </a:p>
        </p:txBody>
      </p:sp>
      <p:sp>
        <p:nvSpPr>
          <p:cNvPr id="79" name="Rectangle 78">
            <a:extLst>
              <a:ext uri="{FF2B5EF4-FFF2-40B4-BE49-F238E27FC236}">
                <a16:creationId xmlns:a16="http://schemas.microsoft.com/office/drawing/2014/main" id="{C1106E35-C8E8-4589-A015-42E1549D0608}"/>
              </a:ext>
            </a:extLst>
          </p:cNvPr>
          <p:cNvSpPr>
            <a:spLocks noGrp="1"/>
          </p:cNvSpPr>
          <p:nvPr/>
        </p:nvSpPr>
        <p:spPr>
          <a:xfrm>
            <a:off x="495300" y="533400"/>
            <a:ext cx="5524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250" b="1">
                <a:solidFill>
                  <a:srgbClr val="FFFFFF"/>
                </a:solidFill>
                <a:latin typeface="Aptos"/>
                <a:ea typeface="Aptos"/>
                <a:cs typeface="Aptos"/>
              </a:defRPr>
            </a:pPr>
            <a:r>
              <a:rPr sz="2250" b="1">
                <a:solidFill>
                  <a:srgbClr val="FFFFFF"/>
                </a:solidFill>
                <a:latin typeface="Aptos"/>
                <a:ea typeface="Aptos"/>
                <a:cs typeface="Aptos"/>
              </a:rPr>
              <a:t>9</a:t>
            </a:r>
          </a:p>
        </p:txBody>
      </p:sp>
      <p:sp>
        <p:nvSpPr>
          <p:cNvPr id="80" name="Rectangle 79">
            <a:extLst>
              <a:ext uri="{FF2B5EF4-FFF2-40B4-BE49-F238E27FC236}">
                <a16:creationId xmlns:a16="http://schemas.microsoft.com/office/drawing/2014/main" id="{4CC62F49-E45A-4397-89FF-EF64D97ED840}"/>
              </a:ext>
            </a:extLst>
          </p:cNvPr>
          <p:cNvSpPr>
            <a:spLocks noGrp="1"/>
          </p:cNvSpPr>
          <p:nvPr/>
        </p:nvSpPr>
        <p:spPr>
          <a:xfrm>
            <a:off x="1238250" y="552450"/>
            <a:ext cx="10191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850" b="1">
                <a:solidFill>
                  <a:srgbClr val="FFFFFF"/>
                </a:solidFill>
                <a:latin typeface="Georgia"/>
                <a:ea typeface="Georgia"/>
                <a:cs typeface="Georgia"/>
              </a:defRPr>
            </a:pPr>
            <a:r>
              <a:rPr sz="2850" b="1">
                <a:solidFill>
                  <a:srgbClr val="FFFFFF"/>
                </a:solidFill>
                <a:latin typeface="Georgia"/>
                <a:ea typeface="Georgia"/>
                <a:cs typeface="Georgia"/>
              </a:rPr>
              <a:t>Achieved vs. intended — and what’s next</a:t>
            </a:r>
          </a:p>
        </p:txBody>
      </p:sp>
      <p:sp>
        <p:nvSpPr>
          <p:cNvPr id="81" name="Rectangle 80">
            <a:extLst>
              <a:ext uri="{FF2B5EF4-FFF2-40B4-BE49-F238E27FC236}">
                <a16:creationId xmlns:a16="http://schemas.microsoft.com/office/drawing/2014/main" id="{C3FCDCC6-D9A2-49F0-B236-840849A0EAFC}"/>
              </a:ext>
            </a:extLst>
          </p:cNvPr>
          <p:cNvSpPr>
            <a:spLocks noGrp="1"/>
          </p:cNvSpPr>
          <p:nvPr/>
        </p:nvSpPr>
        <p:spPr>
          <a:xfrm>
            <a:off x="542925" y="1428750"/>
            <a:ext cx="106680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650" b="0">
                <a:solidFill>
                  <a:srgbClr val="DBEAFE"/>
                </a:solidFill>
                <a:latin typeface="Aptos"/>
                <a:ea typeface="Aptos"/>
                <a:cs typeface="Aptos"/>
              </a:defRPr>
            </a:pPr>
            <a:r>
              <a:rPr sz="1650" b="0" dirty="0">
                <a:solidFill>
                  <a:srgbClr val="DBEAFE"/>
                </a:solidFill>
                <a:latin typeface="Aptos"/>
                <a:ea typeface="Aptos"/>
                <a:cs typeface="Aptos"/>
              </a:rPr>
              <a:t>We set out to generate runnable spatial roleplay scenes on Vision Pro. The pipeline closes end-to-end, but the evaluation shows exactly where it stops feeling like the intended roleplay.</a:t>
            </a:r>
          </a:p>
        </p:txBody>
      </p:sp>
      <p:sp>
        <p:nvSpPr>
          <p:cNvPr id="82" name="Rectangle 81">
            <a:extLst>
              <a:ext uri="{FF2B5EF4-FFF2-40B4-BE49-F238E27FC236}">
                <a16:creationId xmlns:a16="http://schemas.microsoft.com/office/drawing/2014/main" id="{4FB8EC7F-8466-400E-9939-BD2F33917B8C}"/>
              </a:ext>
            </a:extLst>
          </p:cNvPr>
          <p:cNvSpPr>
            <a:spLocks noGrp="1"/>
          </p:cNvSpPr>
          <p:nvPr/>
        </p:nvSpPr>
        <p:spPr>
          <a:xfrm>
            <a:off x="542925" y="2457450"/>
            <a:ext cx="11077575" cy="971550"/>
          </a:xfrm>
          <a:prstGeom prst="rect">
            <a:avLst/>
          </a:prstGeom>
          <a:solidFill>
            <a:srgbClr val="303A78"/>
          </a:solidFill>
          <a:ln w="9525">
            <a:solidFill>
              <a:srgbClr val="1789AC"/>
            </a:solidFill>
            <a:prstDash val="solid"/>
          </a:ln>
        </p:spPr>
        <p:txBody>
          <a:bodyPr/>
          <a:lstStyle/>
          <a:p>
            <a:endParaRPr lang="en-US"/>
          </a:p>
        </p:txBody>
      </p:sp>
      <p:sp>
        <p:nvSpPr>
          <p:cNvPr id="83" name="Rectangle 82">
            <a:extLst>
              <a:ext uri="{FF2B5EF4-FFF2-40B4-BE49-F238E27FC236}">
                <a16:creationId xmlns:a16="http://schemas.microsoft.com/office/drawing/2014/main" id="{D69772B2-E61C-4A68-96EF-2BCEFA53ECDD}"/>
              </a:ext>
            </a:extLst>
          </p:cNvPr>
          <p:cNvSpPr>
            <a:spLocks noGrp="1"/>
          </p:cNvSpPr>
          <p:nvPr/>
        </p:nvSpPr>
        <p:spPr>
          <a:xfrm>
            <a:off x="771525" y="26289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a:solidFill>
                  <a:srgbClr val="FFFFFF"/>
                </a:solidFill>
                <a:latin typeface="Aptos"/>
                <a:ea typeface="Aptos"/>
                <a:cs typeface="Aptos"/>
              </a:rPr>
              <a:t>What worked</a:t>
            </a:r>
          </a:p>
        </p:txBody>
      </p:sp>
      <p:sp>
        <p:nvSpPr>
          <p:cNvPr id="84" name="Rectangle 83">
            <a:extLst>
              <a:ext uri="{FF2B5EF4-FFF2-40B4-BE49-F238E27FC236}">
                <a16:creationId xmlns:a16="http://schemas.microsoft.com/office/drawing/2014/main" id="{5E67AFCB-E285-4D80-A4C7-0FD8A94A0954}"/>
              </a:ext>
            </a:extLst>
          </p:cNvPr>
          <p:cNvSpPr>
            <a:spLocks noGrp="1"/>
          </p:cNvSpPr>
          <p:nvPr/>
        </p:nvSpPr>
        <p:spPr>
          <a:xfrm>
            <a:off x="771525" y="29527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38" b="0">
                <a:solidFill>
                  <a:srgbClr val="D9E2FF"/>
                </a:solidFill>
                <a:latin typeface="Aptos"/>
                <a:ea typeface="Aptos"/>
                <a:cs typeface="Aptos"/>
              </a:defRPr>
            </a:pPr>
            <a:r>
              <a:rPr sz="1238" b="0">
                <a:solidFill>
                  <a:srgbClr val="D9E2FF"/>
                </a:solidFill>
                <a:latin typeface="Aptos"/>
                <a:ea typeface="Aptos"/>
                <a:cs typeface="Aptos"/>
              </a:rPr>
              <a:t>Scenario cards usually became valid typed plans: 40/43 generated tasks were faithful or acceptable compromises. LLM planning was not the main bottleneck.</a:t>
            </a:r>
          </a:p>
        </p:txBody>
      </p:sp>
      <p:sp>
        <p:nvSpPr>
          <p:cNvPr id="85" name="Rectangle 84">
            <a:extLst>
              <a:ext uri="{FF2B5EF4-FFF2-40B4-BE49-F238E27FC236}">
                <a16:creationId xmlns:a16="http://schemas.microsoft.com/office/drawing/2014/main" id="{F938606F-F28A-442D-9B5E-B06A524A51C2}"/>
              </a:ext>
            </a:extLst>
          </p:cNvPr>
          <p:cNvSpPr>
            <a:spLocks noGrp="1"/>
          </p:cNvSpPr>
          <p:nvPr/>
        </p:nvSpPr>
        <p:spPr>
          <a:xfrm>
            <a:off x="542925" y="3676650"/>
            <a:ext cx="11077575" cy="971550"/>
          </a:xfrm>
          <a:prstGeom prst="rect">
            <a:avLst/>
          </a:prstGeom>
          <a:solidFill>
            <a:srgbClr val="303A78"/>
          </a:solidFill>
          <a:ln w="9525">
            <a:solidFill>
              <a:srgbClr val="1789AC"/>
            </a:solidFill>
            <a:prstDash val="solid"/>
          </a:ln>
        </p:spPr>
        <p:txBody>
          <a:bodyPr/>
          <a:lstStyle/>
          <a:p>
            <a:endParaRPr lang="en-US"/>
          </a:p>
        </p:txBody>
      </p:sp>
      <p:sp>
        <p:nvSpPr>
          <p:cNvPr id="86" name="Rectangle 85">
            <a:extLst>
              <a:ext uri="{FF2B5EF4-FFF2-40B4-BE49-F238E27FC236}">
                <a16:creationId xmlns:a16="http://schemas.microsoft.com/office/drawing/2014/main" id="{113871C1-3DF9-4609-920D-2784B822B704}"/>
              </a:ext>
            </a:extLst>
          </p:cNvPr>
          <p:cNvSpPr>
            <a:spLocks noGrp="1"/>
          </p:cNvSpPr>
          <p:nvPr/>
        </p:nvSpPr>
        <p:spPr>
          <a:xfrm>
            <a:off x="771525" y="38481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sz="1500" b="1" dirty="0">
                <a:solidFill>
                  <a:srgbClr val="FFFFFF"/>
                </a:solidFill>
                <a:latin typeface="Aptos"/>
                <a:ea typeface="Aptos"/>
                <a:cs typeface="Aptos"/>
              </a:rPr>
              <a:t>What </a:t>
            </a:r>
            <a:r>
              <a:rPr lang="en-US" sz="1500" b="1" dirty="0">
                <a:solidFill>
                  <a:srgbClr val="FFFFFF"/>
                </a:solidFill>
                <a:latin typeface="Aptos"/>
                <a:ea typeface="Aptos"/>
                <a:cs typeface="Aptos"/>
              </a:rPr>
              <a:t>didn’t</a:t>
            </a:r>
            <a:endParaRPr sz="1500" b="1" dirty="0">
              <a:solidFill>
                <a:srgbClr val="FFFFFF"/>
              </a:solidFill>
              <a:latin typeface="Aptos"/>
              <a:ea typeface="Aptos"/>
              <a:cs typeface="Aptos"/>
            </a:endParaRPr>
          </a:p>
        </p:txBody>
      </p:sp>
      <p:sp>
        <p:nvSpPr>
          <p:cNvPr id="87" name="Rectangle 86">
            <a:extLst>
              <a:ext uri="{FF2B5EF4-FFF2-40B4-BE49-F238E27FC236}">
                <a16:creationId xmlns:a16="http://schemas.microsoft.com/office/drawing/2014/main" id="{9E10A981-88EC-47A3-8981-48BE619FFE04}"/>
              </a:ext>
            </a:extLst>
          </p:cNvPr>
          <p:cNvSpPr>
            <a:spLocks noGrp="1"/>
          </p:cNvSpPr>
          <p:nvPr/>
        </p:nvSpPr>
        <p:spPr>
          <a:xfrm>
            <a:off x="771525" y="41719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38" b="0">
                <a:solidFill>
                  <a:srgbClr val="D9E2FF"/>
                </a:solidFill>
                <a:latin typeface="Aptos"/>
                <a:ea typeface="Aptos"/>
                <a:cs typeface="Aptos"/>
              </a:defRPr>
            </a:pPr>
            <a:r>
              <a:rPr sz="1238" b="0" dirty="0">
                <a:solidFill>
                  <a:srgbClr val="D9E2FF"/>
                </a:solidFill>
                <a:latin typeface="Aptos"/>
                <a:ea typeface="Aptos"/>
                <a:cs typeface="Aptos"/>
              </a:rPr>
              <a:t>visual/spatial cues were often partial, and task completion depended on brittle affordance</a:t>
            </a:r>
            <a:r>
              <a:rPr lang="en-US" sz="1238" b="0" dirty="0">
                <a:solidFill>
                  <a:srgbClr val="D9E2FF"/>
                </a:solidFill>
                <a:latin typeface="Aptos"/>
                <a:ea typeface="Aptos"/>
                <a:cs typeface="Aptos"/>
              </a:rPr>
              <a:t>s from a small primitive set</a:t>
            </a:r>
            <a:r>
              <a:rPr sz="1238" b="0" dirty="0">
                <a:solidFill>
                  <a:srgbClr val="D9E2FF"/>
                </a:solidFill>
                <a:latin typeface="Aptos"/>
                <a:ea typeface="Aptos"/>
                <a:cs typeface="Aptos"/>
              </a:rPr>
              <a:t>.</a:t>
            </a:r>
          </a:p>
        </p:txBody>
      </p:sp>
      <p:sp>
        <p:nvSpPr>
          <p:cNvPr id="88" name="Rectangle 87">
            <a:extLst>
              <a:ext uri="{FF2B5EF4-FFF2-40B4-BE49-F238E27FC236}">
                <a16:creationId xmlns:a16="http://schemas.microsoft.com/office/drawing/2014/main" id="{0B5C0DB1-7723-4D86-9406-801ECECF282D}"/>
              </a:ext>
            </a:extLst>
          </p:cNvPr>
          <p:cNvSpPr>
            <a:spLocks noGrp="1"/>
          </p:cNvSpPr>
          <p:nvPr/>
        </p:nvSpPr>
        <p:spPr>
          <a:xfrm>
            <a:off x="542925" y="4895850"/>
            <a:ext cx="11077575" cy="1428750"/>
          </a:xfrm>
          <a:prstGeom prst="rect">
            <a:avLst/>
          </a:prstGeom>
          <a:solidFill>
            <a:srgbClr val="303A78"/>
          </a:solidFill>
          <a:ln w="9525">
            <a:solidFill>
              <a:srgbClr val="1789AC"/>
            </a:solidFill>
            <a:prstDash val="solid"/>
          </a:ln>
        </p:spPr>
        <p:txBody>
          <a:bodyPr/>
          <a:lstStyle/>
          <a:p>
            <a:endParaRPr lang="en-US"/>
          </a:p>
        </p:txBody>
      </p:sp>
      <p:sp>
        <p:nvSpPr>
          <p:cNvPr id="89" name="Rectangle 88">
            <a:extLst>
              <a:ext uri="{FF2B5EF4-FFF2-40B4-BE49-F238E27FC236}">
                <a16:creationId xmlns:a16="http://schemas.microsoft.com/office/drawing/2014/main" id="{671ED2CD-270B-4528-B7C1-1238011C0229}"/>
              </a:ext>
            </a:extLst>
          </p:cNvPr>
          <p:cNvSpPr>
            <a:spLocks noGrp="1"/>
          </p:cNvSpPr>
          <p:nvPr/>
        </p:nvSpPr>
        <p:spPr>
          <a:xfrm>
            <a:off x="771525" y="5067300"/>
            <a:ext cx="2857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FFFFFF"/>
                </a:solidFill>
                <a:latin typeface="Aptos"/>
                <a:ea typeface="Aptos"/>
                <a:cs typeface="Aptos"/>
              </a:defRPr>
            </a:pPr>
            <a:r>
              <a:rPr lang="en-US" sz="1500" b="1" dirty="0">
                <a:solidFill>
                  <a:srgbClr val="FFFFFF"/>
                </a:solidFill>
                <a:latin typeface="Aptos"/>
                <a:ea typeface="Aptos"/>
                <a:cs typeface="Aptos"/>
              </a:rPr>
              <a:t>Future work</a:t>
            </a:r>
            <a:endParaRPr sz="1500" b="1" dirty="0">
              <a:solidFill>
                <a:srgbClr val="FFFFFF"/>
              </a:solidFill>
              <a:latin typeface="Aptos"/>
              <a:ea typeface="Aptos"/>
              <a:cs typeface="Aptos"/>
            </a:endParaRPr>
          </a:p>
        </p:txBody>
      </p:sp>
      <p:sp>
        <p:nvSpPr>
          <p:cNvPr id="90" name="Rectangle 89">
            <a:extLst>
              <a:ext uri="{FF2B5EF4-FFF2-40B4-BE49-F238E27FC236}">
                <a16:creationId xmlns:a16="http://schemas.microsoft.com/office/drawing/2014/main" id="{50A152BE-A2B6-4830-86CC-F2123AF0AD91}"/>
              </a:ext>
            </a:extLst>
          </p:cNvPr>
          <p:cNvSpPr>
            <a:spLocks noGrp="1"/>
          </p:cNvSpPr>
          <p:nvPr/>
        </p:nvSpPr>
        <p:spPr>
          <a:xfrm>
            <a:off x="771525" y="5391150"/>
            <a:ext cx="10334625" cy="361950"/>
          </a:xfrm>
          <a:prstGeom prst="rect">
            <a:avLst/>
          </a:prstGeom>
          <a:solidFill>
            <a:srgbClr val="000000">
              <a:alpha val="0"/>
            </a:srgbClr>
          </a:solidFill>
          <a:ln w="0">
            <a:solidFill>
              <a:srgbClr val="000000">
                <a:alpha val="0"/>
              </a:srgbClr>
            </a:solidFill>
            <a:prstDash val="solid"/>
          </a:ln>
        </p:spPr>
        <p:txBody>
          <a:bodyPr lIns="0" tIns="0" rIns="0" bIns="0" anchor="t"/>
          <a:lstStyle/>
          <a:p>
            <a:pPr marL="285750" indent="-285750" algn="l">
              <a:buFont typeface="Arial" panose="020B0604020202020204" pitchFamily="34" charset="0"/>
              <a:buChar char="•"/>
              <a:defRPr sz="1238" b="0">
                <a:solidFill>
                  <a:srgbClr val="D9E2FF"/>
                </a:solidFill>
                <a:latin typeface="Aptos"/>
                <a:ea typeface="Aptos"/>
                <a:cs typeface="Aptos"/>
              </a:defRPr>
            </a:pPr>
            <a:r>
              <a:rPr lang="en-US" sz="1238" b="0" dirty="0">
                <a:solidFill>
                  <a:srgbClr val="D9E2FF"/>
                </a:solidFill>
                <a:latin typeface="Aptos"/>
                <a:ea typeface="Aptos"/>
                <a:cs typeface="Aptos"/>
              </a:rPr>
              <a:t>Improved planner that does better at </a:t>
            </a:r>
            <a:r>
              <a:rPr lang="en-US" sz="1238" dirty="0">
                <a:solidFill>
                  <a:srgbClr val="D9E2FF"/>
                </a:solidFill>
                <a:latin typeface="Aptos"/>
                <a:ea typeface="Aptos"/>
                <a:cs typeface="Aptos"/>
              </a:rPr>
              <a:t>inventing ways to represent the interactions in the available primitives. </a:t>
            </a:r>
          </a:p>
          <a:p>
            <a:pPr marL="285750" indent="-285750" algn="l">
              <a:buFont typeface="Arial" panose="020B0604020202020204" pitchFamily="34" charset="0"/>
              <a:buChar char="•"/>
              <a:defRPr sz="1238" b="0">
                <a:solidFill>
                  <a:srgbClr val="D9E2FF"/>
                </a:solidFill>
                <a:latin typeface="Aptos"/>
                <a:ea typeface="Aptos"/>
                <a:cs typeface="Aptos"/>
              </a:defRPr>
            </a:pPr>
            <a:r>
              <a:rPr sz="1238" b="0" dirty="0">
                <a:solidFill>
                  <a:srgbClr val="D9E2FF"/>
                </a:solidFill>
                <a:latin typeface="Aptos"/>
                <a:ea typeface="Aptos"/>
                <a:cs typeface="Aptos"/>
              </a:rPr>
              <a:t>Better layout</a:t>
            </a:r>
            <a:r>
              <a:rPr lang="en-US" sz="1238" b="0" dirty="0">
                <a:solidFill>
                  <a:srgbClr val="D9E2FF"/>
                </a:solidFill>
                <a:latin typeface="Aptos"/>
                <a:ea typeface="Aptos"/>
                <a:cs typeface="Aptos"/>
              </a:rPr>
              <a:t> algorithm (possibly via better metadata / pose labeling with VLM)</a:t>
            </a:r>
            <a:endParaRPr lang="en-US" sz="1238" dirty="0">
              <a:solidFill>
                <a:srgbClr val="D9E2FF"/>
              </a:solidFill>
              <a:latin typeface="Aptos"/>
              <a:ea typeface="Aptos"/>
              <a:cs typeface="Aptos"/>
            </a:endParaRPr>
          </a:p>
          <a:p>
            <a:pPr marL="285750" indent="-285750" algn="l">
              <a:buFont typeface="Arial" panose="020B0604020202020204" pitchFamily="34" charset="0"/>
              <a:buChar char="•"/>
              <a:defRPr sz="1238" b="0">
                <a:solidFill>
                  <a:srgbClr val="D9E2FF"/>
                </a:solidFill>
                <a:latin typeface="Aptos"/>
                <a:ea typeface="Aptos"/>
                <a:cs typeface="Aptos"/>
              </a:defRPr>
            </a:pPr>
            <a:r>
              <a:rPr lang="en-US" sz="1238" dirty="0">
                <a:solidFill>
                  <a:srgbClr val="D9E2FF"/>
                </a:solidFill>
                <a:latin typeface="Aptos"/>
                <a:ea typeface="Aptos"/>
                <a:cs typeface="Aptos"/>
              </a:rPr>
              <a:t>R</a:t>
            </a:r>
            <a:r>
              <a:rPr sz="1238" b="0" dirty="0">
                <a:solidFill>
                  <a:srgbClr val="D9E2FF"/>
                </a:solidFill>
                <a:latin typeface="Aptos"/>
                <a:ea typeface="Aptos"/>
                <a:cs typeface="Aptos"/>
              </a:rPr>
              <a:t>icher gesture primitives</a:t>
            </a:r>
            <a:r>
              <a:rPr lang="en-US" sz="1238" b="0" dirty="0">
                <a:solidFill>
                  <a:srgbClr val="D9E2FF"/>
                </a:solidFill>
                <a:latin typeface="Aptos"/>
                <a:ea typeface="Aptos"/>
                <a:cs typeface="Aptos"/>
              </a:rPr>
              <a:t>, improved asset generation quality and transfer</a:t>
            </a:r>
            <a:r>
              <a:rPr sz="1238" b="0" dirty="0">
                <a:solidFill>
                  <a:srgbClr val="D9E2FF"/>
                </a:solidFill>
                <a:latin typeface="Aptos"/>
                <a:ea typeface="Aptos"/>
                <a:cs typeface="Aptos"/>
              </a:rPr>
              <a:t>.</a:t>
            </a:r>
          </a:p>
        </p:txBody>
      </p:sp>
    </p:spTree>
    <p:extLst>
      <p:ext uri="{BB962C8B-B14F-4D97-AF65-F5344CB8AC3E}">
        <p14:creationId xmlns:p14="http://schemas.microsoft.com/office/powerpoint/2010/main" val="211093799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4451</Words>
  <Application>Microsoft Macintosh PowerPoint</Application>
  <DocSecurity>0</DocSecurity>
  <PresentationFormat>Widescreen</PresentationFormat>
  <Paragraphs>380</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Mono</vt:lpstr>
      <vt:lpstr>Arial</vt:lpstr>
      <vt:lpstr>Calibri</vt:lpstr>
      <vt:lpstr>Georgia</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Danilo Symonette</cp:lastModifiedBy>
  <cp:revision>2</cp:revision>
  <dcterms:created xsi:type="dcterms:W3CDTF">2026-06-03T21:17:56Z</dcterms:created>
  <dcterms:modified xsi:type="dcterms:W3CDTF">2026-06-03T23:43:34Z</dcterms:modified>
</cp:coreProperties>
</file>